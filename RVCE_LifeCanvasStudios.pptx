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Arimo Bold" charset="1" panose="020B0704020202020204"/>
      <p:regular r:id="rId17"/>
    </p:embeddedFont>
    <p:embeddedFont>
      <p:font typeface="Calibri (MS) Bold" charset="1" panose="020F0702030404030204"/>
      <p:regular r:id="rId18"/>
    </p:embeddedFont>
    <p:embeddedFont>
      <p:font typeface="Calibri (MS)" charset="1" panose="020F0502020204030204"/>
      <p:regular r:id="rId19"/>
    </p:embeddedFont>
    <p:embeddedFont>
      <p:font typeface="Calibri (MS) Italics" charset="1" panose="020F05020202040A0204"/>
      <p:regular r:id="rId20"/>
    </p:embeddedFont>
    <p:embeddedFont>
      <p:font typeface="Horizon" charset="1" panose="02000500000000000000"/>
      <p:regular r:id="rId21"/>
    </p:embeddedFont>
    <p:embeddedFont>
      <p:font typeface="Canva Sans" charset="1" panose="020B0503030501040103"/>
      <p:regular r:id="rId22"/>
    </p:embeddedFont>
    <p:embeddedFont>
      <p:font typeface="Canva Sans Bold" charset="1" panose="020B0803030501040103"/>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13.svg" Type="http://schemas.openxmlformats.org/officeDocument/2006/relationships/image"/><Relationship Id="rId12" Target="../media/image14.png" Type="http://schemas.openxmlformats.org/officeDocument/2006/relationships/image"/><Relationship Id="rId13" Target="../media/image15.svg" Type="http://schemas.openxmlformats.org/officeDocument/2006/relationships/image"/><Relationship Id="rId14" Target="../media/image16.png" Type="http://schemas.openxmlformats.org/officeDocument/2006/relationships/image"/><Relationship Id="rId15" Target="../media/image17.png" Type="http://schemas.openxmlformats.org/officeDocument/2006/relationships/image"/><Relationship Id="rId2" Target="../media/image4.jpeg" Type="http://schemas.openxmlformats.org/officeDocument/2006/relationships/image"/><Relationship Id="rId3" Target="../media/image5.jpe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 Id="rId7" Target="../media/image9.pn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png" Type="http://schemas.openxmlformats.org/officeDocument/2006/relationships/image"/><Relationship Id="rId11" Target="../media/image4.jpeg" Type="http://schemas.openxmlformats.org/officeDocument/2006/relationships/image"/><Relationship Id="rId2" Target="../media/image18.jpeg" Type="http://schemas.openxmlformats.org/officeDocument/2006/relationships/image"/><Relationship Id="rId3" Target="../media/image19.png" Type="http://schemas.openxmlformats.org/officeDocument/2006/relationships/image"/><Relationship Id="rId4" Target="../media/image20.png" Type="http://schemas.openxmlformats.org/officeDocument/2006/relationships/image"/><Relationship Id="rId5" Target="../media/image21.png" Type="http://schemas.openxmlformats.org/officeDocument/2006/relationships/image"/><Relationship Id="rId6" Target="../media/image22.png" Type="http://schemas.openxmlformats.org/officeDocument/2006/relationships/image"/><Relationship Id="rId7" Target="../media/image23.png" Type="http://schemas.openxmlformats.org/officeDocument/2006/relationships/image"/><Relationship Id="rId8" Target="../media/image24.png" Type="http://schemas.openxmlformats.org/officeDocument/2006/relationships/image"/><Relationship Id="rId9" Target="../media/image2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jpeg" Type="http://schemas.openxmlformats.org/officeDocument/2006/relationships/image"/><Relationship Id="rId3" Target="../media/image27.png" Type="http://schemas.openxmlformats.org/officeDocument/2006/relationships/image"/><Relationship Id="rId4" Target="../media/image4.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4.png" Type="http://schemas.openxmlformats.org/officeDocument/2006/relationships/image"/><Relationship Id="rId11" Target="../media/image35.png" Type="http://schemas.openxmlformats.org/officeDocument/2006/relationships/image"/><Relationship Id="rId12" Target="../media/image36.png" Type="http://schemas.openxmlformats.org/officeDocument/2006/relationships/image"/><Relationship Id="rId13" Target="../media/image37.png" Type="http://schemas.openxmlformats.org/officeDocument/2006/relationships/image"/><Relationship Id="rId14" Target="../media/image38.png" Type="http://schemas.openxmlformats.org/officeDocument/2006/relationships/image"/><Relationship Id="rId2" Target="../media/image18.jpeg" Type="http://schemas.openxmlformats.org/officeDocument/2006/relationships/image"/><Relationship Id="rId3" Target="../media/image4.jpeg" Type="http://schemas.openxmlformats.org/officeDocument/2006/relationships/image"/><Relationship Id="rId4" Target="../media/image28.png" Type="http://schemas.openxmlformats.org/officeDocument/2006/relationships/image"/><Relationship Id="rId5" Target="../media/image29.png" Type="http://schemas.openxmlformats.org/officeDocument/2006/relationships/image"/><Relationship Id="rId6" Target="../media/image30.png" Type="http://schemas.openxmlformats.org/officeDocument/2006/relationships/image"/><Relationship Id="rId7" Target="../media/image31.png" Type="http://schemas.openxmlformats.org/officeDocument/2006/relationships/image"/><Relationship Id="rId8" Target="../media/image32.png" Type="http://schemas.openxmlformats.org/officeDocument/2006/relationships/image"/><Relationship Id="rId9" Target="../media/image3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jpeg" Type="http://schemas.openxmlformats.org/officeDocument/2006/relationships/image"/><Relationship Id="rId3" Target="../media/image39.png" Type="http://schemas.openxmlformats.org/officeDocument/2006/relationships/image"/><Relationship Id="rId4" Target="../media/image40.png" Type="http://schemas.openxmlformats.org/officeDocument/2006/relationships/image"/><Relationship Id="rId5" Target="../media/image41.png" Type="http://schemas.openxmlformats.org/officeDocument/2006/relationships/image"/><Relationship Id="rId6" Target="../embeddings/oleObject1.bin" Type="http://schemas.openxmlformats.org/officeDocument/2006/relationships/oleObject"/><Relationship Id="rId7" Target="../media/image4.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jpeg" Type="http://schemas.openxmlformats.org/officeDocument/2006/relationships/image"/><Relationship Id="rId3" Target="../media/image42.png" Type="http://schemas.openxmlformats.org/officeDocument/2006/relationships/image"/><Relationship Id="rId4" Target="../media/image4.jpeg" Type="http://schemas.openxmlformats.org/officeDocument/2006/relationships/image"/><Relationship Id="rId5" Target="../media/image4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jpeg" Type="http://schemas.openxmlformats.org/officeDocument/2006/relationships/image"/><Relationship Id="rId3" Target="../media/image4.jpeg" Type="http://schemas.openxmlformats.org/officeDocument/2006/relationships/image"/><Relationship Id="rId4" Target="../media/image44.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jpeg" Type="http://schemas.openxmlformats.org/officeDocument/2006/relationships/image"/><Relationship Id="rId3" Target="../media/image4.jpeg" Type="http://schemas.openxmlformats.org/officeDocument/2006/relationships/image"/><Relationship Id="rId4" Target="../media/image45.png" Type="http://schemas.openxmlformats.org/officeDocument/2006/relationships/image"/><Relationship Id="rId5" Target="../media/image4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jpeg" Type="http://schemas.openxmlformats.org/officeDocument/2006/relationships/image"/><Relationship Id="rId3" Target="https://github.com/Shreya5619/Pulse" TargetMode="External" Type="http://schemas.openxmlformats.org/officeDocument/2006/relationships/hyperlink"/><Relationship Id="rId4" Target="https://github.com/Shreya5619/Pulse/blob/main/Video%20Project%203.mp4" TargetMode="External" Type="http://schemas.openxmlformats.org/officeDocument/2006/relationships/hyperlink"/><Relationship Id="rId5" Target="../media/image4.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jpeg" Type="http://schemas.openxmlformats.org/officeDocument/2006/relationships/image"/><Relationship Id="rId3" Target="../media/image4.jpeg" Type="http://schemas.openxmlformats.org/officeDocument/2006/relationships/image"/><Relationship Id="rId4" Target="../media/image47.png" Type="http://schemas.openxmlformats.org/officeDocument/2006/relationships/image"/><Relationship Id="rId5" Target="../media/image48.png" Type="http://schemas.openxmlformats.org/officeDocument/2006/relationships/image"/><Relationship Id="rId6" Target="../media/image4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058811" y="2429694"/>
            <a:ext cx="6632019" cy="8457352"/>
            <a:chOff x="0" y="0"/>
            <a:chExt cx="8842692" cy="11276470"/>
          </a:xfrm>
        </p:grpSpPr>
        <p:sp>
          <p:nvSpPr>
            <p:cNvPr name="Freeform 3" id="3"/>
            <p:cNvSpPr/>
            <p:nvPr/>
          </p:nvSpPr>
          <p:spPr>
            <a:xfrm flipH="false" flipV="false" rot="0">
              <a:off x="0" y="0"/>
              <a:ext cx="8842756" cy="11276457"/>
            </a:xfrm>
            <a:custGeom>
              <a:avLst/>
              <a:gdLst/>
              <a:ahLst/>
              <a:cxnLst/>
              <a:rect r="r" b="b" t="t" l="l"/>
              <a:pathLst>
                <a:path h="11276457" w="8842756">
                  <a:moveTo>
                    <a:pt x="0" y="0"/>
                  </a:moveTo>
                  <a:lnTo>
                    <a:pt x="8842756" y="0"/>
                  </a:lnTo>
                  <a:lnTo>
                    <a:pt x="8842756" y="11276457"/>
                  </a:lnTo>
                  <a:lnTo>
                    <a:pt x="0" y="11276457"/>
                  </a:lnTo>
                  <a:lnTo>
                    <a:pt x="0" y="0"/>
                  </a:lnTo>
                  <a:close/>
                </a:path>
              </a:pathLst>
            </a:custGeom>
            <a:blipFill>
              <a:blip r:embed="rId2"/>
              <a:stretch>
                <a:fillRect l="-121174" t="-19865" r="-122915" b="-81606"/>
              </a:stretch>
            </a:blipFill>
          </p:spPr>
        </p:sp>
      </p:grpSp>
      <p:sp>
        <p:nvSpPr>
          <p:cNvPr name="TextBox 4" id="4"/>
          <p:cNvSpPr txBox="true"/>
          <p:nvPr/>
        </p:nvSpPr>
        <p:spPr>
          <a:xfrm rot="0">
            <a:off x="91440" y="933364"/>
            <a:ext cx="3090996" cy="527771"/>
          </a:xfrm>
          <a:prstGeom prst="rect">
            <a:avLst/>
          </a:prstGeom>
        </p:spPr>
        <p:txBody>
          <a:bodyPr anchor="t" rtlCol="false" tIns="0" lIns="0" bIns="0" rIns="0">
            <a:spAutoFit/>
          </a:bodyPr>
          <a:lstStyle/>
          <a:p>
            <a:pPr algn="ctr">
              <a:lnSpc>
                <a:spcPts val="3600"/>
              </a:lnSpc>
            </a:pPr>
            <a:r>
              <a:rPr lang="en-US" sz="3000" b="true">
                <a:solidFill>
                  <a:srgbClr val="000000"/>
                </a:solidFill>
                <a:latin typeface="Arimo Bold"/>
                <a:ea typeface="Arimo Bold"/>
                <a:cs typeface="Arimo Bold"/>
                <a:sym typeface="Arimo Bold"/>
              </a:rPr>
              <a:t>CLASH OF THE</a:t>
            </a:r>
          </a:p>
        </p:txBody>
      </p:sp>
      <p:sp>
        <p:nvSpPr>
          <p:cNvPr name="TextBox 5" id="5"/>
          <p:cNvSpPr txBox="true"/>
          <p:nvPr/>
        </p:nvSpPr>
        <p:spPr>
          <a:xfrm rot="0">
            <a:off x="3026602" y="739173"/>
            <a:ext cx="2953864" cy="906628"/>
          </a:xfrm>
          <a:prstGeom prst="rect">
            <a:avLst/>
          </a:prstGeom>
        </p:spPr>
        <p:txBody>
          <a:bodyPr anchor="t" rtlCol="false" tIns="0" lIns="0" bIns="0" rIns="0">
            <a:spAutoFit/>
          </a:bodyPr>
          <a:lstStyle/>
          <a:p>
            <a:pPr algn="ctr">
              <a:lnSpc>
                <a:spcPts val="6480"/>
              </a:lnSpc>
            </a:pPr>
            <a:r>
              <a:rPr lang="en-US" sz="5400" b="true">
                <a:solidFill>
                  <a:srgbClr val="E81B25"/>
                </a:solidFill>
                <a:latin typeface="Arimo Bold"/>
                <a:ea typeface="Arimo Bold"/>
                <a:cs typeface="Arimo Bold"/>
                <a:sym typeface="Arimo Bold"/>
              </a:rPr>
              <a:t>CLAWS</a:t>
            </a:r>
          </a:p>
        </p:txBody>
      </p:sp>
      <p:sp>
        <p:nvSpPr>
          <p:cNvPr name="TextBox 6" id="6"/>
          <p:cNvSpPr txBox="true"/>
          <p:nvPr/>
        </p:nvSpPr>
        <p:spPr>
          <a:xfrm rot="0">
            <a:off x="1337105" y="3573606"/>
            <a:ext cx="8578585" cy="6534150"/>
          </a:xfrm>
          <a:prstGeom prst="rect">
            <a:avLst/>
          </a:prstGeom>
        </p:spPr>
        <p:txBody>
          <a:bodyPr anchor="t" rtlCol="false" tIns="0" lIns="0" bIns="0" rIns="0">
            <a:spAutoFit/>
          </a:bodyPr>
          <a:lstStyle/>
          <a:p>
            <a:pPr algn="ctr">
              <a:lnSpc>
                <a:spcPts val="5732"/>
              </a:lnSpc>
            </a:pPr>
            <a:r>
              <a:rPr lang="en-US" sz="4776" b="true">
                <a:solidFill>
                  <a:srgbClr val="E81B25"/>
                </a:solidFill>
                <a:latin typeface="Arimo Bold"/>
                <a:ea typeface="Arimo Bold"/>
                <a:cs typeface="Arimo Bold"/>
                <a:sym typeface="Arimo Bold"/>
              </a:rPr>
              <a:t>RVCE</a:t>
            </a:r>
            <a:r>
              <a:rPr lang="en-US" sz="4776" b="true">
                <a:solidFill>
                  <a:srgbClr val="E81B25"/>
                </a:solidFill>
                <a:latin typeface="Arimo Bold"/>
                <a:ea typeface="Arimo Bold"/>
                <a:cs typeface="Arimo Bold"/>
                <a:sym typeface="Arimo Bold"/>
              </a:rPr>
              <a:t>_LIFECANVAS STUDIOS</a:t>
            </a:r>
          </a:p>
          <a:p>
            <a:pPr algn="ctr">
              <a:lnSpc>
                <a:spcPts val="5732"/>
              </a:lnSpc>
            </a:pPr>
            <a:r>
              <a:rPr lang="en-US" b="true" sz="4776">
                <a:gradFill>
                  <a:gsLst>
                    <a:gs pos="0">
                      <a:srgbClr val="5170FF">
                        <a:alpha val="100000"/>
                      </a:srgbClr>
                    </a:gs>
                    <a:gs pos="100000">
                      <a:srgbClr val="FF66C4">
                        <a:alpha val="100000"/>
                      </a:srgbClr>
                    </a:gs>
                  </a:gsLst>
                  <a:lin ang="0"/>
                </a:gradFill>
                <a:latin typeface="Arimo Bold"/>
                <a:ea typeface="Arimo Bold"/>
                <a:cs typeface="Arimo Bold"/>
                <a:sym typeface="Arimo Bold"/>
              </a:rPr>
              <a:t>PULSE</a:t>
            </a:r>
          </a:p>
          <a:p>
            <a:pPr algn="ctr">
              <a:lnSpc>
                <a:spcPts val="5732"/>
              </a:lnSpc>
            </a:pPr>
            <a:r>
              <a:rPr lang="en-US" sz="4776" b="true">
                <a:solidFill>
                  <a:srgbClr val="207DC1"/>
                </a:solidFill>
                <a:latin typeface="Arimo Bold"/>
                <a:ea typeface="Arimo Bold"/>
                <a:cs typeface="Arimo Bold"/>
                <a:sym typeface="Arimo Bold"/>
              </a:rPr>
              <a:t>Predictive User-Life Syncronization Engine</a:t>
            </a:r>
          </a:p>
          <a:p>
            <a:pPr algn="ctr">
              <a:lnSpc>
                <a:spcPts val="5732"/>
              </a:lnSpc>
            </a:pPr>
            <a:r>
              <a:rPr lang="en-US" sz="4776" b="true">
                <a:solidFill>
                  <a:srgbClr val="E81B25"/>
                </a:solidFill>
                <a:latin typeface="Arimo Bold"/>
                <a:ea typeface="Arimo Bold"/>
                <a:cs typeface="Arimo Bold"/>
                <a:sym typeface="Arimo Bold"/>
              </a:rPr>
              <a:t>Theme 2: Daily Utility</a:t>
            </a:r>
          </a:p>
          <a:p>
            <a:pPr algn="ctr">
              <a:lnSpc>
                <a:spcPts val="5732"/>
              </a:lnSpc>
            </a:pPr>
            <a:r>
              <a:rPr lang="en-US" sz="4776" b="true">
                <a:solidFill>
                  <a:srgbClr val="44546A"/>
                </a:solidFill>
                <a:latin typeface="Arimo Bold"/>
                <a:ea typeface="Arimo Bold"/>
                <a:cs typeface="Arimo Bold"/>
                <a:sym typeface="Arimo Bold"/>
              </a:rPr>
              <a:t>Shreya Prasad </a:t>
            </a:r>
          </a:p>
          <a:p>
            <a:pPr algn="ctr">
              <a:lnSpc>
                <a:spcPts val="5732"/>
              </a:lnSpc>
            </a:pPr>
            <a:r>
              <a:rPr lang="en-US" sz="4776" b="true">
                <a:solidFill>
                  <a:srgbClr val="44546A"/>
                </a:solidFill>
                <a:latin typeface="Arimo Bold"/>
                <a:ea typeface="Arimo Bold"/>
                <a:cs typeface="Arimo Bold"/>
                <a:sym typeface="Arimo Bold"/>
              </a:rPr>
              <a:t>Sachethan Inchal</a:t>
            </a:r>
          </a:p>
          <a:p>
            <a:pPr algn="ctr">
              <a:lnSpc>
                <a:spcPts val="5732"/>
              </a:lnSpc>
            </a:pPr>
          </a:p>
        </p:txBody>
      </p:sp>
      <p:grpSp>
        <p:nvGrpSpPr>
          <p:cNvPr name="Group 7" id="7"/>
          <p:cNvGrpSpPr/>
          <p:nvPr/>
        </p:nvGrpSpPr>
        <p:grpSpPr>
          <a:xfrm rot="0">
            <a:off x="206035" y="70123"/>
            <a:ext cx="1461592" cy="958567"/>
            <a:chOff x="0" y="0"/>
            <a:chExt cx="1948790" cy="1278090"/>
          </a:xfrm>
        </p:grpSpPr>
        <p:sp>
          <p:nvSpPr>
            <p:cNvPr name="Freeform 8" id="8"/>
            <p:cNvSpPr/>
            <p:nvPr/>
          </p:nvSpPr>
          <p:spPr>
            <a:xfrm flipH="false" flipV="false" rot="0">
              <a:off x="0" y="0"/>
              <a:ext cx="1948815" cy="1278128"/>
            </a:xfrm>
            <a:custGeom>
              <a:avLst/>
              <a:gdLst/>
              <a:ahLst/>
              <a:cxnLst/>
              <a:rect r="r" b="b" t="t" l="l"/>
              <a:pathLst>
                <a:path h="1278128" w="1948815">
                  <a:moveTo>
                    <a:pt x="0" y="0"/>
                  </a:moveTo>
                  <a:lnTo>
                    <a:pt x="1948815" y="0"/>
                  </a:lnTo>
                  <a:lnTo>
                    <a:pt x="1948815" y="1278128"/>
                  </a:lnTo>
                  <a:lnTo>
                    <a:pt x="0" y="1278128"/>
                  </a:lnTo>
                  <a:lnTo>
                    <a:pt x="0" y="0"/>
                  </a:lnTo>
                  <a:close/>
                </a:path>
              </a:pathLst>
            </a:custGeom>
            <a:blipFill>
              <a:blip r:embed="rId3"/>
              <a:stretch>
                <a:fillRect l="0" t="-109" r="1" b="-107"/>
              </a:stretch>
            </a:blipFill>
          </p:spPr>
        </p:sp>
      </p:grpSp>
      <p:sp>
        <p:nvSpPr>
          <p:cNvPr name="TextBox 9" id="9"/>
          <p:cNvSpPr txBox="true"/>
          <p:nvPr/>
        </p:nvSpPr>
        <p:spPr>
          <a:xfrm rot="0">
            <a:off x="1618164" y="262547"/>
            <a:ext cx="4518484" cy="428625"/>
          </a:xfrm>
          <a:prstGeom prst="rect">
            <a:avLst/>
          </a:prstGeom>
        </p:spPr>
        <p:txBody>
          <a:bodyPr anchor="t" rtlCol="false" tIns="0" lIns="0" bIns="0" rIns="0">
            <a:spAutoFit/>
          </a:bodyPr>
          <a:lstStyle/>
          <a:p>
            <a:pPr algn="ctr">
              <a:lnSpc>
                <a:spcPts val="3240"/>
              </a:lnSpc>
            </a:pPr>
            <a:r>
              <a:rPr lang="en-US" sz="2700" b="true">
                <a:solidFill>
                  <a:srgbClr val="000000"/>
                </a:solidFill>
                <a:latin typeface="Arimo Bold"/>
                <a:ea typeface="Arimo Bold"/>
                <a:cs typeface="Arimo Bold"/>
                <a:sym typeface="Arimo Bold"/>
              </a:rPr>
              <a:t>| Tech Management, SRI-B</a:t>
            </a:r>
          </a:p>
        </p:txBody>
      </p:sp>
      <p:sp>
        <p:nvSpPr>
          <p:cNvPr name="Freeform 10" id="10"/>
          <p:cNvSpPr/>
          <p:nvPr/>
        </p:nvSpPr>
        <p:spPr>
          <a:xfrm flipH="false" flipV="false" rot="0">
            <a:off x="685149" y="5656285"/>
            <a:ext cx="1303913" cy="1760628"/>
          </a:xfrm>
          <a:custGeom>
            <a:avLst/>
            <a:gdLst/>
            <a:ahLst/>
            <a:cxnLst/>
            <a:rect r="r" b="b" t="t" l="l"/>
            <a:pathLst>
              <a:path h="1760628" w="1303913">
                <a:moveTo>
                  <a:pt x="0" y="0"/>
                </a:moveTo>
                <a:lnTo>
                  <a:pt x="1303912" y="0"/>
                </a:lnTo>
                <a:lnTo>
                  <a:pt x="1303912" y="1760628"/>
                </a:lnTo>
                <a:lnTo>
                  <a:pt x="0" y="1760628"/>
                </a:lnTo>
                <a:lnTo>
                  <a:pt x="0" y="0"/>
                </a:lnTo>
                <a:close/>
              </a:path>
            </a:pathLst>
          </a:custGeom>
          <a:blipFill>
            <a:blip r:embed="rId4"/>
            <a:stretch>
              <a:fillRect l="-55514" t="-9717" r="-48449" b="-41336"/>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7050" cy="147066"/>
            <a:chOff x="0" y="0"/>
            <a:chExt cx="24409400" cy="196088"/>
          </a:xfrm>
        </p:grpSpPr>
        <p:sp>
          <p:nvSpPr>
            <p:cNvPr name="Freeform 3" id="3"/>
            <p:cNvSpPr/>
            <p:nvPr/>
          </p:nvSpPr>
          <p:spPr>
            <a:xfrm flipH="false" flipV="false" rot="0">
              <a:off x="12700" y="12700"/>
              <a:ext cx="24384000" cy="170688"/>
            </a:xfrm>
            <a:custGeom>
              <a:avLst/>
              <a:gdLst/>
              <a:ahLst/>
              <a:cxnLst/>
              <a:rect r="r" b="b" t="t" l="l"/>
              <a:pathLst>
                <a:path h="170688" w="24384000">
                  <a:moveTo>
                    <a:pt x="0" y="0"/>
                  </a:moveTo>
                  <a:lnTo>
                    <a:pt x="24384000" y="0"/>
                  </a:lnTo>
                  <a:lnTo>
                    <a:pt x="24384000" y="170688"/>
                  </a:lnTo>
                  <a:lnTo>
                    <a:pt x="0" y="170688"/>
                  </a:lnTo>
                  <a:close/>
                </a:path>
              </a:pathLst>
            </a:custGeom>
            <a:solidFill>
              <a:srgbClr val="00B4D8"/>
            </a:solidFill>
          </p:spPr>
        </p:sp>
        <p:sp>
          <p:nvSpPr>
            <p:cNvPr name="Freeform 4" id="4"/>
            <p:cNvSpPr/>
            <p:nvPr/>
          </p:nvSpPr>
          <p:spPr>
            <a:xfrm flipH="false" flipV="false" rot="0">
              <a:off x="0" y="0"/>
              <a:ext cx="24409400" cy="196088"/>
            </a:xfrm>
            <a:custGeom>
              <a:avLst/>
              <a:gdLst/>
              <a:ahLst/>
              <a:cxnLst/>
              <a:rect r="r" b="b" t="t" l="l"/>
              <a:pathLst>
                <a:path h="196088" w="24409400">
                  <a:moveTo>
                    <a:pt x="12700" y="0"/>
                  </a:moveTo>
                  <a:lnTo>
                    <a:pt x="24396700" y="0"/>
                  </a:lnTo>
                  <a:cubicBezTo>
                    <a:pt x="24403686" y="0"/>
                    <a:pt x="24409400" y="5715"/>
                    <a:pt x="24409400" y="12700"/>
                  </a:cubicBezTo>
                  <a:lnTo>
                    <a:pt x="24409400" y="183388"/>
                  </a:lnTo>
                  <a:cubicBezTo>
                    <a:pt x="24409400" y="190373"/>
                    <a:pt x="24403686" y="196088"/>
                    <a:pt x="24396700" y="196088"/>
                  </a:cubicBezTo>
                  <a:lnTo>
                    <a:pt x="12700" y="196088"/>
                  </a:lnTo>
                  <a:cubicBezTo>
                    <a:pt x="5715" y="196088"/>
                    <a:pt x="0" y="190373"/>
                    <a:pt x="0" y="183388"/>
                  </a:cubicBezTo>
                  <a:lnTo>
                    <a:pt x="0" y="12700"/>
                  </a:lnTo>
                  <a:cubicBezTo>
                    <a:pt x="0" y="5715"/>
                    <a:pt x="5715" y="0"/>
                    <a:pt x="12700" y="0"/>
                  </a:cubicBezTo>
                  <a:moveTo>
                    <a:pt x="12700" y="25400"/>
                  </a:moveTo>
                  <a:lnTo>
                    <a:pt x="12700" y="12700"/>
                  </a:lnTo>
                  <a:lnTo>
                    <a:pt x="25400" y="12700"/>
                  </a:lnTo>
                  <a:lnTo>
                    <a:pt x="25400" y="183388"/>
                  </a:lnTo>
                  <a:lnTo>
                    <a:pt x="12700" y="183388"/>
                  </a:lnTo>
                  <a:lnTo>
                    <a:pt x="12700" y="170688"/>
                  </a:lnTo>
                  <a:lnTo>
                    <a:pt x="24396700" y="170688"/>
                  </a:lnTo>
                  <a:lnTo>
                    <a:pt x="24396700" y="183388"/>
                  </a:lnTo>
                  <a:lnTo>
                    <a:pt x="24384000" y="183388"/>
                  </a:lnTo>
                  <a:lnTo>
                    <a:pt x="24384000" y="12700"/>
                  </a:lnTo>
                  <a:lnTo>
                    <a:pt x="24396700" y="12700"/>
                  </a:lnTo>
                  <a:lnTo>
                    <a:pt x="24396700" y="25400"/>
                  </a:lnTo>
                  <a:lnTo>
                    <a:pt x="12700" y="25400"/>
                  </a:lnTo>
                  <a:close/>
                </a:path>
              </a:pathLst>
            </a:custGeom>
            <a:solidFill>
              <a:srgbClr val="00B4D8"/>
            </a:solidFill>
          </p:spPr>
        </p:sp>
      </p:grpSp>
      <p:grpSp>
        <p:nvGrpSpPr>
          <p:cNvPr name="Group 5" id="5"/>
          <p:cNvGrpSpPr/>
          <p:nvPr/>
        </p:nvGrpSpPr>
        <p:grpSpPr>
          <a:xfrm rot="0">
            <a:off x="914400" y="329184"/>
            <a:ext cx="2926080" cy="512064"/>
            <a:chOff x="0" y="0"/>
            <a:chExt cx="3901440" cy="682752"/>
          </a:xfrm>
        </p:grpSpPr>
        <p:sp>
          <p:nvSpPr>
            <p:cNvPr name="Freeform 6" id="6"/>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2">
                <a:alphaModFix amt="0"/>
              </a:blip>
              <a:stretch>
                <a:fillRect l="-30433" t="-718402" r="-33200" b="-116648"/>
              </a:stretch>
            </a:blipFill>
          </p:spPr>
        </p:sp>
        <p:sp>
          <p:nvSpPr>
            <p:cNvPr name="TextBox 7" id="7"/>
            <p:cNvSpPr txBox="true"/>
            <p:nvPr/>
          </p:nvSpPr>
          <p:spPr>
            <a:xfrm>
              <a:off x="0" y="-38100"/>
              <a:ext cx="3901440" cy="720852"/>
            </a:xfrm>
            <a:prstGeom prst="rect">
              <a:avLst/>
            </a:prstGeom>
          </p:spPr>
          <p:txBody>
            <a:bodyPr anchor="ctr" rtlCol="false" tIns="0" lIns="0" bIns="0" rIns="0"/>
            <a:lstStyle/>
            <a:p>
              <a:pPr algn="ctr">
                <a:lnSpc>
                  <a:spcPts val="1800"/>
                </a:lnSpc>
              </a:pPr>
            </a:p>
          </p:txBody>
        </p:sp>
      </p:grpSp>
      <p:grpSp>
        <p:nvGrpSpPr>
          <p:cNvPr name="Group 8" id="8"/>
          <p:cNvGrpSpPr/>
          <p:nvPr/>
        </p:nvGrpSpPr>
        <p:grpSpPr>
          <a:xfrm rot="0">
            <a:off x="904875" y="319659"/>
            <a:ext cx="2945130" cy="531114"/>
            <a:chOff x="0" y="0"/>
            <a:chExt cx="3926840" cy="708152"/>
          </a:xfrm>
        </p:grpSpPr>
        <p:sp>
          <p:nvSpPr>
            <p:cNvPr name="Freeform 9" id="9"/>
            <p:cNvSpPr/>
            <p:nvPr/>
          </p:nvSpPr>
          <p:spPr>
            <a:xfrm flipH="false" flipV="false" rot="0">
              <a:off x="12700" y="1270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2"/>
              <a:stretch>
                <a:fillRect l="-30433" t="-718402" r="-33200" b="-116648"/>
              </a:stretch>
            </a:blipFill>
          </p:spPr>
        </p:sp>
        <p:sp>
          <p:nvSpPr>
            <p:cNvPr name="Freeform 10" id="10"/>
            <p:cNvSpPr/>
            <p:nvPr/>
          </p:nvSpPr>
          <p:spPr>
            <a:xfrm flipH="false" flipV="false" rot="0">
              <a:off x="0" y="0"/>
              <a:ext cx="3926840" cy="708152"/>
            </a:xfrm>
            <a:custGeom>
              <a:avLst/>
              <a:gdLst/>
              <a:ahLst/>
              <a:cxnLst/>
              <a:rect r="r" b="b" t="t" l="l"/>
              <a:pathLst>
                <a:path h="708152" w="3926840">
                  <a:moveTo>
                    <a:pt x="12700" y="0"/>
                  </a:moveTo>
                  <a:lnTo>
                    <a:pt x="3914140" y="0"/>
                  </a:lnTo>
                  <a:cubicBezTo>
                    <a:pt x="3921125" y="0"/>
                    <a:pt x="3926840" y="5715"/>
                    <a:pt x="3926840" y="12700"/>
                  </a:cubicBezTo>
                  <a:lnTo>
                    <a:pt x="3926840" y="695452"/>
                  </a:lnTo>
                  <a:cubicBezTo>
                    <a:pt x="3926840" y="702437"/>
                    <a:pt x="3921125" y="708152"/>
                    <a:pt x="3914140" y="708152"/>
                  </a:cubicBezTo>
                  <a:lnTo>
                    <a:pt x="12700" y="708152"/>
                  </a:lnTo>
                  <a:cubicBezTo>
                    <a:pt x="5715" y="708152"/>
                    <a:pt x="0" y="702437"/>
                    <a:pt x="0" y="695452"/>
                  </a:cubicBezTo>
                  <a:lnTo>
                    <a:pt x="0" y="12700"/>
                  </a:lnTo>
                  <a:cubicBezTo>
                    <a:pt x="0" y="5715"/>
                    <a:pt x="5715" y="0"/>
                    <a:pt x="12700" y="0"/>
                  </a:cubicBezTo>
                  <a:moveTo>
                    <a:pt x="12700" y="25400"/>
                  </a:moveTo>
                  <a:lnTo>
                    <a:pt x="12700" y="12700"/>
                  </a:lnTo>
                  <a:lnTo>
                    <a:pt x="25400" y="12700"/>
                  </a:lnTo>
                  <a:lnTo>
                    <a:pt x="25400" y="695452"/>
                  </a:lnTo>
                  <a:lnTo>
                    <a:pt x="12700" y="695452"/>
                  </a:lnTo>
                  <a:lnTo>
                    <a:pt x="12700" y="682752"/>
                  </a:lnTo>
                  <a:lnTo>
                    <a:pt x="3914140" y="682752"/>
                  </a:lnTo>
                  <a:lnTo>
                    <a:pt x="3914140" y="695452"/>
                  </a:lnTo>
                  <a:lnTo>
                    <a:pt x="3901440" y="695452"/>
                  </a:lnTo>
                  <a:lnTo>
                    <a:pt x="3901440" y="12700"/>
                  </a:lnTo>
                  <a:lnTo>
                    <a:pt x="3914140" y="12700"/>
                  </a:lnTo>
                  <a:lnTo>
                    <a:pt x="3914140" y="25400"/>
                  </a:lnTo>
                  <a:lnTo>
                    <a:pt x="12700" y="25400"/>
                  </a:lnTo>
                  <a:close/>
                </a:path>
              </a:pathLst>
            </a:custGeom>
            <a:solidFill>
              <a:srgbClr val="0077A8"/>
            </a:solidFill>
          </p:spPr>
        </p:sp>
      </p:grpSp>
      <p:grpSp>
        <p:nvGrpSpPr>
          <p:cNvPr name="Group 11" id="11"/>
          <p:cNvGrpSpPr/>
          <p:nvPr/>
        </p:nvGrpSpPr>
        <p:grpSpPr>
          <a:xfrm rot="0">
            <a:off x="914400" y="1005840"/>
            <a:ext cx="16459200" cy="1280160"/>
            <a:chOff x="0" y="0"/>
            <a:chExt cx="21945600" cy="1706880"/>
          </a:xfrm>
        </p:grpSpPr>
        <p:sp>
          <p:nvSpPr>
            <p:cNvPr name="Freeform 12" id="12"/>
            <p:cNvSpPr/>
            <p:nvPr/>
          </p:nvSpPr>
          <p:spPr>
            <a:xfrm flipH="false" flipV="false" rot="0">
              <a:off x="0" y="0"/>
              <a:ext cx="21945600" cy="1706880"/>
            </a:xfrm>
            <a:custGeom>
              <a:avLst/>
              <a:gdLst/>
              <a:ahLst/>
              <a:cxnLst/>
              <a:rect r="r" b="b" t="t" l="l"/>
              <a:pathLst>
                <a:path h="1706880" w="21945600">
                  <a:moveTo>
                    <a:pt x="0" y="0"/>
                  </a:moveTo>
                  <a:lnTo>
                    <a:pt x="21945600" y="0"/>
                  </a:lnTo>
                  <a:lnTo>
                    <a:pt x="21945600" y="1706880"/>
                  </a:lnTo>
                  <a:lnTo>
                    <a:pt x="0" y="1706880"/>
                  </a:lnTo>
                  <a:close/>
                </a:path>
              </a:pathLst>
            </a:custGeom>
            <a:blipFill>
              <a:blip r:embed="rId3">
                <a:alphaModFix amt="0"/>
              </a:blip>
              <a:stretch>
                <a:fillRect l="0" t="-592857" r="0" b="-592857"/>
              </a:stretch>
            </a:blipFill>
          </p:spPr>
        </p:sp>
        <p:sp>
          <p:nvSpPr>
            <p:cNvPr name="TextBox 13" id="13"/>
            <p:cNvSpPr txBox="true"/>
            <p:nvPr/>
          </p:nvSpPr>
          <p:spPr>
            <a:xfrm>
              <a:off x="0" y="-123825"/>
              <a:ext cx="21945600" cy="1830705"/>
            </a:xfrm>
            <a:prstGeom prst="rect">
              <a:avLst/>
            </a:prstGeom>
          </p:spPr>
          <p:txBody>
            <a:bodyPr anchor="ctr" rtlCol="false" tIns="0" lIns="0" bIns="0" rIns="0"/>
            <a:lstStyle/>
            <a:p>
              <a:pPr algn="l">
                <a:lnSpc>
                  <a:spcPts val="7680"/>
                </a:lnSpc>
              </a:pPr>
              <a:r>
                <a:rPr lang="en-US" sz="6400" b="true">
                  <a:solidFill>
                    <a:srgbClr val="000000"/>
                  </a:solidFill>
                  <a:latin typeface="Calibri (MS) Bold"/>
                  <a:ea typeface="Calibri (MS) Bold"/>
                  <a:cs typeface="Calibri (MS) Bold"/>
                  <a:sym typeface="Calibri (MS) Bold"/>
                </a:rPr>
                <a:t>Problem Statement</a:t>
              </a:r>
            </a:p>
          </p:txBody>
        </p:sp>
      </p:grpSp>
      <p:grpSp>
        <p:nvGrpSpPr>
          <p:cNvPr name="Group 14" id="14"/>
          <p:cNvGrpSpPr/>
          <p:nvPr/>
        </p:nvGrpSpPr>
        <p:grpSpPr>
          <a:xfrm rot="0">
            <a:off x="8837268" y="841248"/>
            <a:ext cx="9481398" cy="2517002"/>
            <a:chOff x="0" y="0"/>
            <a:chExt cx="12641864" cy="3356003"/>
          </a:xfrm>
        </p:grpSpPr>
        <p:sp>
          <p:nvSpPr>
            <p:cNvPr name="Freeform 15" id="15"/>
            <p:cNvSpPr/>
            <p:nvPr/>
          </p:nvSpPr>
          <p:spPr>
            <a:xfrm flipH="false" flipV="false" rot="0">
              <a:off x="0" y="0"/>
              <a:ext cx="12641864" cy="3356003"/>
            </a:xfrm>
            <a:custGeom>
              <a:avLst/>
              <a:gdLst/>
              <a:ahLst/>
              <a:cxnLst/>
              <a:rect r="r" b="b" t="t" l="l"/>
              <a:pathLst>
                <a:path h="3356003" w="12641864">
                  <a:moveTo>
                    <a:pt x="0" y="0"/>
                  </a:moveTo>
                  <a:lnTo>
                    <a:pt x="12641864" y="0"/>
                  </a:lnTo>
                  <a:lnTo>
                    <a:pt x="12641864" y="3356003"/>
                  </a:lnTo>
                  <a:lnTo>
                    <a:pt x="0" y="3356003"/>
                  </a:lnTo>
                  <a:lnTo>
                    <a:pt x="0" y="0"/>
                  </a:lnTo>
                  <a:close/>
                </a:path>
              </a:pathLst>
            </a:custGeom>
            <a:blipFill>
              <a:blip r:embed="rId4"/>
              <a:stretch>
                <a:fillRect l="0" t="0" r="0" b="-3365"/>
              </a:stretch>
            </a:blipFill>
          </p:spPr>
        </p:sp>
        <p:sp>
          <p:nvSpPr>
            <p:cNvPr name="TextBox 16" id="16"/>
            <p:cNvSpPr txBox="true"/>
            <p:nvPr/>
          </p:nvSpPr>
          <p:spPr>
            <a:xfrm rot="0">
              <a:off x="87701" y="1138960"/>
              <a:ext cx="1146589" cy="444500"/>
            </a:xfrm>
            <a:prstGeom prst="rect">
              <a:avLst/>
            </a:prstGeom>
          </p:spPr>
          <p:txBody>
            <a:bodyPr anchor="t" rtlCol="false" tIns="0" lIns="0" bIns="0" rIns="0">
              <a:spAutoFit/>
            </a:bodyPr>
            <a:lstStyle/>
            <a:p>
              <a:pPr algn="l" marL="431804" indent="-215902" lvl="1">
                <a:lnSpc>
                  <a:spcPts val="2400"/>
                </a:lnSpc>
                <a:buFont typeface="Arial"/>
                <a:buChar char="•"/>
              </a:pPr>
            </a:p>
          </p:txBody>
        </p:sp>
        <p:sp>
          <p:nvSpPr>
            <p:cNvPr name="TextBox 17" id="17"/>
            <p:cNvSpPr txBox="true"/>
            <p:nvPr/>
          </p:nvSpPr>
          <p:spPr>
            <a:xfrm rot="0">
              <a:off x="87701" y="2209356"/>
              <a:ext cx="1146589" cy="444500"/>
            </a:xfrm>
            <a:prstGeom prst="rect">
              <a:avLst/>
            </a:prstGeom>
          </p:spPr>
          <p:txBody>
            <a:bodyPr anchor="t" rtlCol="false" tIns="0" lIns="0" bIns="0" rIns="0">
              <a:spAutoFit/>
            </a:bodyPr>
            <a:lstStyle/>
            <a:p>
              <a:pPr algn="l" marL="431804" indent="-215902" lvl="1">
                <a:lnSpc>
                  <a:spcPts val="2400"/>
                </a:lnSpc>
                <a:buFont typeface="Arial"/>
                <a:buChar char="•"/>
              </a:pPr>
            </a:p>
          </p:txBody>
        </p:sp>
      </p:grpSp>
      <p:grpSp>
        <p:nvGrpSpPr>
          <p:cNvPr name="Group 18" id="18"/>
          <p:cNvGrpSpPr/>
          <p:nvPr/>
        </p:nvGrpSpPr>
        <p:grpSpPr>
          <a:xfrm rot="0">
            <a:off x="8761914" y="3358250"/>
            <a:ext cx="9632105" cy="2473874"/>
            <a:chOff x="0" y="0"/>
            <a:chExt cx="12842807" cy="3298498"/>
          </a:xfrm>
        </p:grpSpPr>
        <p:sp>
          <p:nvSpPr>
            <p:cNvPr name="Freeform 19" id="19"/>
            <p:cNvSpPr/>
            <p:nvPr/>
          </p:nvSpPr>
          <p:spPr>
            <a:xfrm flipH="false" flipV="false" rot="0">
              <a:off x="0" y="0"/>
              <a:ext cx="12842807" cy="3298498"/>
            </a:xfrm>
            <a:custGeom>
              <a:avLst/>
              <a:gdLst/>
              <a:ahLst/>
              <a:cxnLst/>
              <a:rect r="r" b="b" t="t" l="l"/>
              <a:pathLst>
                <a:path h="3298498" w="12842807">
                  <a:moveTo>
                    <a:pt x="0" y="0"/>
                  </a:moveTo>
                  <a:lnTo>
                    <a:pt x="12842807" y="0"/>
                  </a:lnTo>
                  <a:lnTo>
                    <a:pt x="12842807" y="3298498"/>
                  </a:lnTo>
                  <a:lnTo>
                    <a:pt x="0" y="3298498"/>
                  </a:lnTo>
                  <a:lnTo>
                    <a:pt x="0" y="0"/>
                  </a:lnTo>
                  <a:close/>
                </a:path>
              </a:pathLst>
            </a:custGeom>
            <a:blipFill>
              <a:blip r:embed="rId5"/>
              <a:stretch>
                <a:fillRect l="0" t="-4556" r="0" b="-2282"/>
              </a:stretch>
            </a:blipFill>
          </p:spPr>
        </p:sp>
        <p:sp>
          <p:nvSpPr>
            <p:cNvPr name="TextBox 20" id="20"/>
            <p:cNvSpPr txBox="true"/>
            <p:nvPr/>
          </p:nvSpPr>
          <p:spPr>
            <a:xfrm rot="0">
              <a:off x="202017" y="1844855"/>
              <a:ext cx="1146589" cy="444500"/>
            </a:xfrm>
            <a:prstGeom prst="rect">
              <a:avLst/>
            </a:prstGeom>
          </p:spPr>
          <p:txBody>
            <a:bodyPr anchor="t" rtlCol="false" tIns="0" lIns="0" bIns="0" rIns="0">
              <a:spAutoFit/>
            </a:bodyPr>
            <a:lstStyle/>
            <a:p>
              <a:pPr algn="l" marL="431804" indent="-215902" lvl="1">
                <a:lnSpc>
                  <a:spcPts val="2400"/>
                </a:lnSpc>
                <a:buFont typeface="Arial"/>
                <a:buChar char="•"/>
              </a:pPr>
            </a:p>
          </p:txBody>
        </p:sp>
        <p:sp>
          <p:nvSpPr>
            <p:cNvPr name="TextBox 21" id="21"/>
            <p:cNvSpPr txBox="true"/>
            <p:nvPr/>
          </p:nvSpPr>
          <p:spPr>
            <a:xfrm rot="0">
              <a:off x="202017" y="1020543"/>
              <a:ext cx="1146589" cy="444500"/>
            </a:xfrm>
            <a:prstGeom prst="rect">
              <a:avLst/>
            </a:prstGeom>
          </p:spPr>
          <p:txBody>
            <a:bodyPr anchor="t" rtlCol="false" tIns="0" lIns="0" bIns="0" rIns="0">
              <a:spAutoFit/>
            </a:bodyPr>
            <a:lstStyle/>
            <a:p>
              <a:pPr algn="l" marL="431804" indent="-215902" lvl="1">
                <a:lnSpc>
                  <a:spcPts val="2400"/>
                </a:lnSpc>
                <a:buFont typeface="Arial"/>
                <a:buChar char="•"/>
              </a:pPr>
            </a:p>
          </p:txBody>
        </p:sp>
      </p:grpSp>
      <p:grpSp>
        <p:nvGrpSpPr>
          <p:cNvPr name="Group 22" id="22"/>
          <p:cNvGrpSpPr/>
          <p:nvPr/>
        </p:nvGrpSpPr>
        <p:grpSpPr>
          <a:xfrm rot="0">
            <a:off x="-956919" y="5786293"/>
            <a:ext cx="18733256" cy="2234077"/>
            <a:chOff x="0" y="0"/>
            <a:chExt cx="24977675" cy="2978770"/>
          </a:xfrm>
        </p:grpSpPr>
        <p:sp>
          <p:nvSpPr>
            <p:cNvPr name="Freeform 23" id="23"/>
            <p:cNvSpPr/>
            <p:nvPr/>
          </p:nvSpPr>
          <p:spPr>
            <a:xfrm flipH="false" flipV="false" rot="0">
              <a:off x="13401273" y="0"/>
              <a:ext cx="11576402" cy="2978770"/>
            </a:xfrm>
            <a:custGeom>
              <a:avLst/>
              <a:gdLst/>
              <a:ahLst/>
              <a:cxnLst/>
              <a:rect r="r" b="b" t="t" l="l"/>
              <a:pathLst>
                <a:path h="2978770" w="11576402">
                  <a:moveTo>
                    <a:pt x="0" y="0"/>
                  </a:moveTo>
                  <a:lnTo>
                    <a:pt x="11576402" y="0"/>
                  </a:lnTo>
                  <a:lnTo>
                    <a:pt x="11576402" y="2978770"/>
                  </a:lnTo>
                  <a:lnTo>
                    <a:pt x="0" y="2978770"/>
                  </a:lnTo>
                  <a:lnTo>
                    <a:pt x="0" y="0"/>
                  </a:lnTo>
                  <a:close/>
                </a:path>
              </a:pathLst>
            </a:custGeom>
            <a:blipFill>
              <a:blip r:embed="rId6"/>
              <a:stretch>
                <a:fillRect l="0" t="-5107" r="-981" b="-2579"/>
              </a:stretch>
            </a:blipFill>
          </p:spPr>
        </p:sp>
        <p:sp>
          <p:nvSpPr>
            <p:cNvPr name="TextBox 24" id="24"/>
            <p:cNvSpPr txBox="true"/>
            <p:nvPr/>
          </p:nvSpPr>
          <p:spPr>
            <a:xfrm rot="0">
              <a:off x="0" y="1773307"/>
              <a:ext cx="1146589" cy="444500"/>
            </a:xfrm>
            <a:prstGeom prst="rect">
              <a:avLst/>
            </a:prstGeom>
          </p:spPr>
          <p:txBody>
            <a:bodyPr anchor="t" rtlCol="false" tIns="0" lIns="0" bIns="0" rIns="0">
              <a:spAutoFit/>
            </a:bodyPr>
            <a:lstStyle/>
            <a:p>
              <a:pPr algn="l" marL="431804" indent="-215902" lvl="1">
                <a:lnSpc>
                  <a:spcPts val="2400"/>
                </a:lnSpc>
                <a:buFont typeface="Arial"/>
                <a:buChar char="•"/>
              </a:pPr>
            </a:p>
          </p:txBody>
        </p:sp>
        <p:sp>
          <p:nvSpPr>
            <p:cNvPr name="TextBox 25" id="25"/>
            <p:cNvSpPr txBox="true"/>
            <p:nvPr/>
          </p:nvSpPr>
          <p:spPr>
            <a:xfrm rot="0">
              <a:off x="0" y="2534270"/>
              <a:ext cx="1146589" cy="444500"/>
            </a:xfrm>
            <a:prstGeom prst="rect">
              <a:avLst/>
            </a:prstGeom>
          </p:spPr>
          <p:txBody>
            <a:bodyPr anchor="t" rtlCol="false" tIns="0" lIns="0" bIns="0" rIns="0">
              <a:spAutoFit/>
            </a:bodyPr>
            <a:lstStyle/>
            <a:p>
              <a:pPr algn="l" marL="431804" indent="-215902" lvl="1">
                <a:lnSpc>
                  <a:spcPts val="2400"/>
                </a:lnSpc>
                <a:buFont typeface="Arial"/>
                <a:buChar char="•"/>
              </a:pPr>
            </a:p>
          </p:txBody>
        </p:sp>
      </p:grpSp>
      <p:sp>
        <p:nvSpPr>
          <p:cNvPr name="Freeform 26" id="26"/>
          <p:cNvSpPr/>
          <p:nvPr/>
        </p:nvSpPr>
        <p:spPr>
          <a:xfrm flipH="false" flipV="false" rot="0">
            <a:off x="8943287" y="7981995"/>
            <a:ext cx="9450732" cy="2273267"/>
          </a:xfrm>
          <a:custGeom>
            <a:avLst/>
            <a:gdLst/>
            <a:ahLst/>
            <a:cxnLst/>
            <a:rect r="r" b="b" t="t" l="l"/>
            <a:pathLst>
              <a:path h="2273267" w="9450732">
                <a:moveTo>
                  <a:pt x="0" y="0"/>
                </a:moveTo>
                <a:lnTo>
                  <a:pt x="9450733" y="0"/>
                </a:lnTo>
                <a:lnTo>
                  <a:pt x="9450733" y="2273267"/>
                </a:lnTo>
                <a:lnTo>
                  <a:pt x="0" y="2273267"/>
                </a:lnTo>
                <a:lnTo>
                  <a:pt x="0" y="0"/>
                </a:lnTo>
                <a:close/>
              </a:path>
            </a:pathLst>
          </a:custGeom>
          <a:blipFill>
            <a:blip r:embed="rId7"/>
            <a:stretch>
              <a:fillRect l="0" t="-5897" r="0" b="-4128"/>
            </a:stretch>
          </a:blipFill>
        </p:spPr>
      </p:sp>
      <p:sp>
        <p:nvSpPr>
          <p:cNvPr name="TextBox 27" id="27"/>
          <p:cNvSpPr txBox="true"/>
          <p:nvPr/>
        </p:nvSpPr>
        <p:spPr>
          <a:xfrm rot="0">
            <a:off x="390540" y="7639095"/>
            <a:ext cx="859942" cy="342900"/>
          </a:xfrm>
          <a:prstGeom prst="rect">
            <a:avLst/>
          </a:prstGeom>
        </p:spPr>
        <p:txBody>
          <a:bodyPr anchor="t" rtlCol="false" tIns="0" lIns="0" bIns="0" rIns="0">
            <a:spAutoFit/>
          </a:bodyPr>
          <a:lstStyle/>
          <a:p>
            <a:pPr algn="l">
              <a:lnSpc>
                <a:spcPts val="2400"/>
              </a:lnSpc>
            </a:pPr>
          </a:p>
        </p:txBody>
      </p:sp>
      <p:sp>
        <p:nvSpPr>
          <p:cNvPr name="TextBox 28" id="28"/>
          <p:cNvSpPr txBox="true"/>
          <p:nvPr/>
        </p:nvSpPr>
        <p:spPr>
          <a:xfrm rot="0">
            <a:off x="390540" y="8230424"/>
            <a:ext cx="859942" cy="342900"/>
          </a:xfrm>
          <a:prstGeom prst="rect">
            <a:avLst/>
          </a:prstGeom>
        </p:spPr>
        <p:txBody>
          <a:bodyPr anchor="t" rtlCol="false" tIns="0" lIns="0" bIns="0" rIns="0">
            <a:spAutoFit/>
          </a:bodyPr>
          <a:lstStyle/>
          <a:p>
            <a:pPr algn="l">
              <a:lnSpc>
                <a:spcPts val="2400"/>
              </a:lnSpc>
            </a:pPr>
          </a:p>
        </p:txBody>
      </p:sp>
      <p:sp>
        <p:nvSpPr>
          <p:cNvPr name="Freeform 29" id="29"/>
          <p:cNvSpPr/>
          <p:nvPr/>
        </p:nvSpPr>
        <p:spPr>
          <a:xfrm flipH="false" flipV="false" rot="0">
            <a:off x="242642" y="2811265"/>
            <a:ext cx="5869455" cy="2689278"/>
          </a:xfrm>
          <a:custGeom>
            <a:avLst/>
            <a:gdLst/>
            <a:ahLst/>
            <a:cxnLst/>
            <a:rect r="r" b="b" t="t" l="l"/>
            <a:pathLst>
              <a:path h="2689278" w="5869455">
                <a:moveTo>
                  <a:pt x="0" y="0"/>
                </a:moveTo>
                <a:lnTo>
                  <a:pt x="5869455" y="0"/>
                </a:lnTo>
                <a:lnTo>
                  <a:pt x="5869455" y="2689278"/>
                </a:lnTo>
                <a:lnTo>
                  <a:pt x="0" y="2689278"/>
                </a:lnTo>
                <a:lnTo>
                  <a:pt x="0" y="0"/>
                </a:lnTo>
                <a:close/>
              </a:path>
            </a:pathLst>
          </a:custGeom>
          <a:blipFill>
            <a:blip r:embed="rId8">
              <a:alphaModFix amt="55000"/>
              <a:extLst>
                <a:ext uri="{96DAC541-7B7A-43D3-8B79-37D633B846F1}">
                  <asvg:svgBlip xmlns:asvg="http://schemas.microsoft.com/office/drawing/2016/SVG/main" r:embed="rId9"/>
                </a:ext>
              </a:extLst>
            </a:blip>
            <a:stretch>
              <a:fillRect l="0" t="0" r="0" b="0"/>
            </a:stretch>
          </a:blipFill>
        </p:spPr>
      </p:sp>
      <p:sp>
        <p:nvSpPr>
          <p:cNvPr name="TextBox 30" id="30"/>
          <p:cNvSpPr txBox="true"/>
          <p:nvPr/>
        </p:nvSpPr>
        <p:spPr>
          <a:xfrm rot="0">
            <a:off x="1329414" y="3890337"/>
            <a:ext cx="3825182" cy="1371600"/>
          </a:xfrm>
          <a:prstGeom prst="rect">
            <a:avLst/>
          </a:prstGeom>
        </p:spPr>
        <p:txBody>
          <a:bodyPr anchor="t" rtlCol="false" tIns="0" lIns="0" bIns="0" rIns="0">
            <a:spAutoFit/>
          </a:bodyPr>
          <a:lstStyle/>
          <a:p>
            <a:pPr algn="ctr">
              <a:lnSpc>
                <a:spcPts val="2160"/>
              </a:lnSpc>
            </a:pPr>
            <a:r>
              <a:rPr lang="en-US" b="true" sz="1800">
                <a:solidFill>
                  <a:srgbClr val="000000"/>
                </a:solidFill>
                <a:latin typeface="Calibri (MS) Bold"/>
                <a:ea typeface="Calibri (MS) Bold"/>
                <a:cs typeface="Calibri (MS) Bold"/>
                <a:sym typeface="Calibri (MS) Bold"/>
              </a:rPr>
              <a:t>23 Minutes &amp; 15 Sec</a:t>
            </a:r>
            <a:r>
              <a:rPr lang="en-US" b="true" sz="1800">
                <a:solidFill>
                  <a:srgbClr val="000000"/>
                </a:solidFill>
                <a:latin typeface="Calibri (MS) Bold"/>
                <a:ea typeface="Calibri (MS) Bold"/>
                <a:cs typeface="Calibri (MS) Bold"/>
                <a:sym typeface="Calibri (MS) Bold"/>
              </a:rPr>
              <a:t>onds:</a:t>
            </a:r>
            <a:r>
              <a:rPr lang="en-US" sz="1800">
                <a:solidFill>
                  <a:srgbClr val="000000"/>
                </a:solidFill>
                <a:latin typeface="Calibri (MS)"/>
                <a:ea typeface="Calibri (MS)"/>
                <a:cs typeface="Calibri (MS)"/>
                <a:sym typeface="Calibri (MS)"/>
              </a:rPr>
              <a:t> The average time it takes to regain deep focus after one digital interruption (UC Irvine Study).</a:t>
            </a:r>
          </a:p>
          <a:p>
            <a:pPr algn="ctr">
              <a:lnSpc>
                <a:spcPts val="2160"/>
              </a:lnSpc>
            </a:pPr>
          </a:p>
        </p:txBody>
      </p:sp>
      <p:sp>
        <p:nvSpPr>
          <p:cNvPr name="Freeform 31" id="31"/>
          <p:cNvSpPr/>
          <p:nvPr/>
        </p:nvSpPr>
        <p:spPr>
          <a:xfrm flipH="false" flipV="false" rot="0">
            <a:off x="1158242" y="7191971"/>
            <a:ext cx="5364476" cy="2457905"/>
          </a:xfrm>
          <a:custGeom>
            <a:avLst/>
            <a:gdLst/>
            <a:ahLst/>
            <a:cxnLst/>
            <a:rect r="r" b="b" t="t" l="l"/>
            <a:pathLst>
              <a:path h="2457905" w="5364476">
                <a:moveTo>
                  <a:pt x="0" y="0"/>
                </a:moveTo>
                <a:lnTo>
                  <a:pt x="5364476" y="0"/>
                </a:lnTo>
                <a:lnTo>
                  <a:pt x="5364476" y="2457905"/>
                </a:lnTo>
                <a:lnTo>
                  <a:pt x="0" y="2457905"/>
                </a:lnTo>
                <a:lnTo>
                  <a:pt x="0" y="0"/>
                </a:lnTo>
                <a:close/>
              </a:path>
            </a:pathLst>
          </a:custGeom>
          <a:blipFill>
            <a:blip r:embed="rId10">
              <a:alphaModFix amt="26000"/>
              <a:extLst>
                <a:ext uri="{96DAC541-7B7A-43D3-8B79-37D633B846F1}">
                  <asvg:svgBlip xmlns:asvg="http://schemas.microsoft.com/office/drawing/2016/SVG/main" r:embed="rId11"/>
                </a:ext>
              </a:extLst>
            </a:blip>
            <a:stretch>
              <a:fillRect l="0" t="0" r="0" b="0"/>
            </a:stretch>
          </a:blipFill>
        </p:spPr>
      </p:sp>
      <p:sp>
        <p:nvSpPr>
          <p:cNvPr name="Freeform 32" id="32"/>
          <p:cNvSpPr/>
          <p:nvPr/>
        </p:nvSpPr>
        <p:spPr>
          <a:xfrm flipH="false" flipV="false" rot="0">
            <a:off x="3610239" y="4802050"/>
            <a:ext cx="5151675" cy="2360404"/>
          </a:xfrm>
          <a:custGeom>
            <a:avLst/>
            <a:gdLst/>
            <a:ahLst/>
            <a:cxnLst/>
            <a:rect r="r" b="b" t="t" l="l"/>
            <a:pathLst>
              <a:path h="2360404" w="5151675">
                <a:moveTo>
                  <a:pt x="0" y="0"/>
                </a:moveTo>
                <a:lnTo>
                  <a:pt x="5151675" y="0"/>
                </a:lnTo>
                <a:lnTo>
                  <a:pt x="5151675" y="2360404"/>
                </a:lnTo>
                <a:lnTo>
                  <a:pt x="0" y="2360404"/>
                </a:lnTo>
                <a:lnTo>
                  <a:pt x="0" y="0"/>
                </a:lnTo>
                <a:close/>
              </a:path>
            </a:pathLst>
          </a:custGeom>
          <a:blipFill>
            <a:blip r:embed="rId12">
              <a:alphaModFix amt="54000"/>
              <a:extLst>
                <a:ext uri="{96DAC541-7B7A-43D3-8B79-37D633B846F1}">
                  <asvg:svgBlip xmlns:asvg="http://schemas.microsoft.com/office/drawing/2016/SVG/main" r:embed="rId13"/>
                </a:ext>
              </a:extLst>
            </a:blip>
            <a:stretch>
              <a:fillRect l="0" t="0" r="0" b="0"/>
            </a:stretch>
          </a:blipFill>
        </p:spPr>
      </p:sp>
      <p:sp>
        <p:nvSpPr>
          <p:cNvPr name="Freeform 33" id="33"/>
          <p:cNvSpPr/>
          <p:nvPr/>
        </p:nvSpPr>
        <p:spPr>
          <a:xfrm flipH="false" flipV="false" rot="0">
            <a:off x="5554869" y="2099749"/>
            <a:ext cx="2691733" cy="1655416"/>
          </a:xfrm>
          <a:custGeom>
            <a:avLst/>
            <a:gdLst/>
            <a:ahLst/>
            <a:cxnLst/>
            <a:rect r="r" b="b" t="t" l="l"/>
            <a:pathLst>
              <a:path h="1655416" w="2691733">
                <a:moveTo>
                  <a:pt x="0" y="0"/>
                </a:moveTo>
                <a:lnTo>
                  <a:pt x="2691733" y="0"/>
                </a:lnTo>
                <a:lnTo>
                  <a:pt x="2691733" y="1655416"/>
                </a:lnTo>
                <a:lnTo>
                  <a:pt x="0" y="1655416"/>
                </a:lnTo>
                <a:lnTo>
                  <a:pt x="0" y="0"/>
                </a:lnTo>
                <a:close/>
              </a:path>
            </a:pathLst>
          </a:custGeom>
          <a:blipFill>
            <a:blip r:embed="rId14"/>
            <a:stretch>
              <a:fillRect l="0" t="0" r="0" b="0"/>
            </a:stretch>
          </a:blipFill>
        </p:spPr>
      </p:sp>
      <p:sp>
        <p:nvSpPr>
          <p:cNvPr name="Freeform 34" id="34"/>
          <p:cNvSpPr/>
          <p:nvPr/>
        </p:nvSpPr>
        <p:spPr>
          <a:xfrm flipH="false" flipV="false" rot="0">
            <a:off x="-92028" y="5681518"/>
            <a:ext cx="2012857" cy="2012857"/>
          </a:xfrm>
          <a:custGeom>
            <a:avLst/>
            <a:gdLst/>
            <a:ahLst/>
            <a:cxnLst/>
            <a:rect r="r" b="b" t="t" l="l"/>
            <a:pathLst>
              <a:path h="2012857" w="2012857">
                <a:moveTo>
                  <a:pt x="0" y="0"/>
                </a:moveTo>
                <a:lnTo>
                  <a:pt x="2012856" y="0"/>
                </a:lnTo>
                <a:lnTo>
                  <a:pt x="2012856" y="2012856"/>
                </a:lnTo>
                <a:lnTo>
                  <a:pt x="0" y="2012856"/>
                </a:lnTo>
                <a:lnTo>
                  <a:pt x="0" y="0"/>
                </a:lnTo>
                <a:close/>
              </a:path>
            </a:pathLst>
          </a:custGeom>
          <a:blipFill>
            <a:blip r:embed="rId15"/>
            <a:stretch>
              <a:fillRect l="0" t="0" r="0" b="0"/>
            </a:stretch>
          </a:blipFill>
        </p:spPr>
      </p:sp>
      <p:sp>
        <p:nvSpPr>
          <p:cNvPr name="TextBox 35" id="35"/>
          <p:cNvSpPr txBox="true"/>
          <p:nvPr/>
        </p:nvSpPr>
        <p:spPr>
          <a:xfrm rot="0">
            <a:off x="2128110" y="8172770"/>
            <a:ext cx="3443791" cy="1104900"/>
          </a:xfrm>
          <a:prstGeom prst="rect">
            <a:avLst/>
          </a:prstGeom>
        </p:spPr>
        <p:txBody>
          <a:bodyPr anchor="t" rtlCol="false" tIns="0" lIns="0" bIns="0" rIns="0">
            <a:spAutoFit/>
          </a:bodyPr>
          <a:lstStyle/>
          <a:p>
            <a:pPr algn="ctr">
              <a:lnSpc>
                <a:spcPts val="2160"/>
              </a:lnSpc>
            </a:pPr>
            <a:r>
              <a:rPr lang="en-US" b="true" sz="1800">
                <a:solidFill>
                  <a:srgbClr val="000000"/>
                </a:solidFill>
                <a:latin typeface="Calibri (MS) Bold"/>
                <a:ea typeface="Calibri (MS) Bold"/>
                <a:cs typeface="Calibri (MS) Bold"/>
                <a:sym typeface="Calibri (MS) Bold"/>
              </a:rPr>
              <a:t>40%</a:t>
            </a:r>
            <a:r>
              <a:rPr lang="en-US" b="true" sz="1800">
                <a:solidFill>
                  <a:srgbClr val="000000"/>
                </a:solidFill>
                <a:latin typeface="Calibri (MS) Bold"/>
                <a:ea typeface="Calibri (MS) Bold"/>
                <a:cs typeface="Calibri (MS) Bold"/>
                <a:sym typeface="Calibri (MS) Bold"/>
              </a:rPr>
              <a:t> "Friction Rate"</a:t>
            </a:r>
            <a:r>
              <a:rPr lang="en-US" b="true" sz="1800">
                <a:solidFill>
                  <a:srgbClr val="000000"/>
                </a:solidFill>
                <a:latin typeface="Calibri (MS) Bold"/>
                <a:ea typeface="Calibri (MS) Bold"/>
                <a:cs typeface="Calibri (MS) Bold"/>
                <a:sym typeface="Calibri (MS) Bold"/>
              </a:rPr>
              <a:t>:</a:t>
            </a:r>
            <a:r>
              <a:rPr lang="en-US" sz="1800">
                <a:solidFill>
                  <a:srgbClr val="000000"/>
                </a:solidFill>
                <a:latin typeface="Calibri (MS)"/>
                <a:ea typeface="Calibri (MS)"/>
                <a:cs typeface="Calibri (MS)"/>
                <a:sym typeface="Calibri (MS)"/>
              </a:rPr>
              <a:t> The probability of task failure when context (traffic/battery) deviates from the plan.</a:t>
            </a:r>
          </a:p>
        </p:txBody>
      </p:sp>
      <p:sp>
        <p:nvSpPr>
          <p:cNvPr name="TextBox 36" id="36"/>
          <p:cNvSpPr txBox="true"/>
          <p:nvPr/>
        </p:nvSpPr>
        <p:spPr>
          <a:xfrm rot="0">
            <a:off x="4213872" y="5782654"/>
            <a:ext cx="3796450" cy="1104900"/>
          </a:xfrm>
          <a:prstGeom prst="rect">
            <a:avLst/>
          </a:prstGeom>
        </p:spPr>
        <p:txBody>
          <a:bodyPr anchor="t" rtlCol="false" tIns="0" lIns="0" bIns="0" rIns="0">
            <a:spAutoFit/>
          </a:bodyPr>
          <a:lstStyle/>
          <a:p>
            <a:pPr algn="ctr">
              <a:lnSpc>
                <a:spcPts val="2160"/>
              </a:lnSpc>
            </a:pPr>
            <a:r>
              <a:rPr lang="en-US" b="true" sz="1800">
                <a:solidFill>
                  <a:srgbClr val="000000"/>
                </a:solidFill>
                <a:latin typeface="Calibri (MS) Bold"/>
                <a:ea typeface="Calibri (MS) Bold"/>
                <a:cs typeface="Calibri (MS) Bold"/>
                <a:sym typeface="Calibri (MS) Bold"/>
              </a:rPr>
              <a:t>150+</a:t>
            </a:r>
            <a:r>
              <a:rPr lang="en-US" b="true" sz="1800">
                <a:solidFill>
                  <a:srgbClr val="000000"/>
                </a:solidFill>
                <a:latin typeface="Calibri (MS) Bold"/>
                <a:ea typeface="Calibri (MS) Bold"/>
                <a:cs typeface="Calibri (MS) Bold"/>
                <a:sym typeface="Calibri (MS) Bold"/>
              </a:rPr>
              <a:t> Times: </a:t>
            </a:r>
            <a:r>
              <a:rPr lang="en-US" sz="1800">
                <a:solidFill>
                  <a:srgbClr val="000000"/>
                </a:solidFill>
                <a:latin typeface="Calibri (MS)"/>
                <a:ea typeface="Calibri (MS)"/>
                <a:cs typeface="Calibri (MS)"/>
                <a:sym typeface="Calibri (MS)"/>
              </a:rPr>
              <a:t>How </a:t>
            </a:r>
            <a:r>
              <a:rPr lang="en-US" sz="1800">
                <a:solidFill>
                  <a:srgbClr val="000000"/>
                </a:solidFill>
                <a:latin typeface="Calibri (MS)"/>
                <a:ea typeface="Calibri (MS)"/>
                <a:cs typeface="Calibri (MS)"/>
                <a:sym typeface="Calibri (MS)"/>
              </a:rPr>
              <a:t>often the average user checks their phone daily, mostly subconsciously.</a:t>
            </a:r>
          </a:p>
          <a:p>
            <a:pPr algn="ctr">
              <a:lnSpc>
                <a:spcPts val="2160"/>
              </a:lnSpc>
            </a:pPr>
          </a:p>
        </p:txBody>
      </p:sp>
      <p:sp>
        <p:nvSpPr>
          <p:cNvPr name="TextBox 37" id="37"/>
          <p:cNvSpPr txBox="true"/>
          <p:nvPr/>
        </p:nvSpPr>
        <p:spPr>
          <a:xfrm rot="0">
            <a:off x="9144000" y="6457995"/>
            <a:ext cx="431800" cy="342900"/>
          </a:xfrm>
          <a:prstGeom prst="rect">
            <a:avLst/>
          </a:prstGeom>
        </p:spPr>
        <p:txBody>
          <a:bodyPr anchor="t" rtlCol="false" tIns="0" lIns="0" bIns="0" rIns="0">
            <a:spAutoFit/>
          </a:bodyPr>
          <a:lstStyle/>
          <a:p>
            <a:pPr algn="l" marL="431804" indent="-215902" lvl="1">
              <a:lnSpc>
                <a:spcPts val="2400"/>
              </a:lnSpc>
              <a:buFont typeface="Arial"/>
              <a:buChar char="•"/>
            </a:pPr>
          </a:p>
        </p:txBody>
      </p:sp>
      <p:sp>
        <p:nvSpPr>
          <p:cNvPr name="TextBox 38" id="38"/>
          <p:cNvSpPr txBox="true"/>
          <p:nvPr/>
        </p:nvSpPr>
        <p:spPr>
          <a:xfrm rot="0">
            <a:off x="9144000" y="7048545"/>
            <a:ext cx="431800" cy="342900"/>
          </a:xfrm>
          <a:prstGeom prst="rect">
            <a:avLst/>
          </a:prstGeom>
        </p:spPr>
        <p:txBody>
          <a:bodyPr anchor="t" rtlCol="false" tIns="0" lIns="0" bIns="0" rIns="0">
            <a:spAutoFit/>
          </a:bodyPr>
          <a:lstStyle/>
          <a:p>
            <a:pPr algn="l" marL="431804" indent="-215902" lvl="1">
              <a:lnSpc>
                <a:spcPts val="2400"/>
              </a:lnSpc>
              <a:buFont typeface="Arial"/>
              <a:buChar char="•"/>
            </a:pPr>
          </a:p>
        </p:txBody>
      </p:sp>
      <p:sp>
        <p:nvSpPr>
          <p:cNvPr name="TextBox 39" id="39"/>
          <p:cNvSpPr txBox="true"/>
          <p:nvPr/>
        </p:nvSpPr>
        <p:spPr>
          <a:xfrm rot="0">
            <a:off x="9048750" y="8641967"/>
            <a:ext cx="431800" cy="342900"/>
          </a:xfrm>
          <a:prstGeom prst="rect">
            <a:avLst/>
          </a:prstGeom>
        </p:spPr>
        <p:txBody>
          <a:bodyPr anchor="t" rtlCol="false" tIns="0" lIns="0" bIns="0" rIns="0">
            <a:spAutoFit/>
          </a:bodyPr>
          <a:lstStyle/>
          <a:p>
            <a:pPr algn="l" marL="431804" indent="-215902" lvl="1">
              <a:lnSpc>
                <a:spcPts val="2400"/>
              </a:lnSpc>
              <a:buFont typeface="Arial"/>
              <a:buChar char="•"/>
            </a:pPr>
          </a:p>
        </p:txBody>
      </p:sp>
      <p:sp>
        <p:nvSpPr>
          <p:cNvPr name="TextBox 40" id="40"/>
          <p:cNvSpPr txBox="true"/>
          <p:nvPr/>
        </p:nvSpPr>
        <p:spPr>
          <a:xfrm rot="0">
            <a:off x="9048750" y="9270617"/>
            <a:ext cx="431800" cy="342900"/>
          </a:xfrm>
          <a:prstGeom prst="rect">
            <a:avLst/>
          </a:prstGeom>
        </p:spPr>
        <p:txBody>
          <a:bodyPr anchor="t" rtlCol="false" tIns="0" lIns="0" bIns="0" rIns="0">
            <a:spAutoFit/>
          </a:bodyPr>
          <a:lstStyle/>
          <a:p>
            <a:pPr algn="l" marL="431804" indent="-215902" lvl="1">
              <a:lnSpc>
                <a:spcPts val="2400"/>
              </a:lnSpc>
              <a:buFont typeface="Arial"/>
              <a:buChar char="•"/>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7050" cy="147066"/>
            <a:chOff x="0" y="0"/>
            <a:chExt cx="24409400" cy="196088"/>
          </a:xfrm>
        </p:grpSpPr>
        <p:sp>
          <p:nvSpPr>
            <p:cNvPr name="Freeform 3" id="3"/>
            <p:cNvSpPr/>
            <p:nvPr/>
          </p:nvSpPr>
          <p:spPr>
            <a:xfrm flipH="false" flipV="false" rot="0">
              <a:off x="12700" y="12700"/>
              <a:ext cx="24384000" cy="170688"/>
            </a:xfrm>
            <a:custGeom>
              <a:avLst/>
              <a:gdLst/>
              <a:ahLst/>
              <a:cxnLst/>
              <a:rect r="r" b="b" t="t" l="l"/>
              <a:pathLst>
                <a:path h="170688" w="24384000">
                  <a:moveTo>
                    <a:pt x="0" y="0"/>
                  </a:moveTo>
                  <a:lnTo>
                    <a:pt x="24384000" y="0"/>
                  </a:lnTo>
                  <a:lnTo>
                    <a:pt x="24384000" y="170688"/>
                  </a:lnTo>
                  <a:lnTo>
                    <a:pt x="0" y="170688"/>
                  </a:lnTo>
                  <a:close/>
                </a:path>
              </a:pathLst>
            </a:custGeom>
            <a:solidFill>
              <a:srgbClr val="00B4D8"/>
            </a:solidFill>
          </p:spPr>
        </p:sp>
        <p:sp>
          <p:nvSpPr>
            <p:cNvPr name="Freeform 4" id="4"/>
            <p:cNvSpPr/>
            <p:nvPr/>
          </p:nvSpPr>
          <p:spPr>
            <a:xfrm flipH="false" flipV="false" rot="0">
              <a:off x="0" y="0"/>
              <a:ext cx="24409400" cy="196088"/>
            </a:xfrm>
            <a:custGeom>
              <a:avLst/>
              <a:gdLst/>
              <a:ahLst/>
              <a:cxnLst/>
              <a:rect r="r" b="b" t="t" l="l"/>
              <a:pathLst>
                <a:path h="196088" w="24409400">
                  <a:moveTo>
                    <a:pt x="12700" y="0"/>
                  </a:moveTo>
                  <a:lnTo>
                    <a:pt x="24396700" y="0"/>
                  </a:lnTo>
                  <a:cubicBezTo>
                    <a:pt x="24403686" y="0"/>
                    <a:pt x="24409400" y="5715"/>
                    <a:pt x="24409400" y="12700"/>
                  </a:cubicBezTo>
                  <a:lnTo>
                    <a:pt x="24409400" y="183388"/>
                  </a:lnTo>
                  <a:cubicBezTo>
                    <a:pt x="24409400" y="190373"/>
                    <a:pt x="24403686" y="196088"/>
                    <a:pt x="24396700" y="196088"/>
                  </a:cubicBezTo>
                  <a:lnTo>
                    <a:pt x="12700" y="196088"/>
                  </a:lnTo>
                  <a:cubicBezTo>
                    <a:pt x="5715" y="196088"/>
                    <a:pt x="0" y="190373"/>
                    <a:pt x="0" y="183388"/>
                  </a:cubicBezTo>
                  <a:lnTo>
                    <a:pt x="0" y="12700"/>
                  </a:lnTo>
                  <a:cubicBezTo>
                    <a:pt x="0" y="5715"/>
                    <a:pt x="5715" y="0"/>
                    <a:pt x="12700" y="0"/>
                  </a:cubicBezTo>
                  <a:moveTo>
                    <a:pt x="12700" y="25400"/>
                  </a:moveTo>
                  <a:lnTo>
                    <a:pt x="12700" y="12700"/>
                  </a:lnTo>
                  <a:lnTo>
                    <a:pt x="25400" y="12700"/>
                  </a:lnTo>
                  <a:lnTo>
                    <a:pt x="25400" y="183388"/>
                  </a:lnTo>
                  <a:lnTo>
                    <a:pt x="12700" y="183388"/>
                  </a:lnTo>
                  <a:lnTo>
                    <a:pt x="12700" y="170688"/>
                  </a:lnTo>
                  <a:lnTo>
                    <a:pt x="24396700" y="170688"/>
                  </a:lnTo>
                  <a:lnTo>
                    <a:pt x="24396700" y="183388"/>
                  </a:lnTo>
                  <a:lnTo>
                    <a:pt x="24384000" y="183388"/>
                  </a:lnTo>
                  <a:lnTo>
                    <a:pt x="24384000" y="12700"/>
                  </a:lnTo>
                  <a:lnTo>
                    <a:pt x="24396700" y="12700"/>
                  </a:lnTo>
                  <a:lnTo>
                    <a:pt x="24396700" y="25400"/>
                  </a:lnTo>
                  <a:lnTo>
                    <a:pt x="12700" y="25400"/>
                  </a:lnTo>
                  <a:close/>
                </a:path>
              </a:pathLst>
            </a:custGeom>
            <a:solidFill>
              <a:srgbClr val="00B4D8"/>
            </a:solidFill>
          </p:spPr>
        </p:sp>
      </p:grpSp>
      <p:grpSp>
        <p:nvGrpSpPr>
          <p:cNvPr name="Group 5" id="5"/>
          <p:cNvGrpSpPr/>
          <p:nvPr/>
        </p:nvGrpSpPr>
        <p:grpSpPr>
          <a:xfrm rot="0">
            <a:off x="904875" y="319659"/>
            <a:ext cx="2945130" cy="531114"/>
            <a:chOff x="0" y="0"/>
            <a:chExt cx="3926840" cy="708152"/>
          </a:xfrm>
        </p:grpSpPr>
        <p:sp>
          <p:nvSpPr>
            <p:cNvPr name="Freeform 6" id="6"/>
            <p:cNvSpPr/>
            <p:nvPr/>
          </p:nvSpPr>
          <p:spPr>
            <a:xfrm flipH="false" flipV="false" rot="0">
              <a:off x="12700" y="12700"/>
              <a:ext cx="3901440" cy="682752"/>
            </a:xfrm>
            <a:custGeom>
              <a:avLst/>
              <a:gdLst/>
              <a:ahLst/>
              <a:cxnLst/>
              <a:rect r="r" b="b" t="t" l="l"/>
              <a:pathLst>
                <a:path h="682752" w="3901440">
                  <a:moveTo>
                    <a:pt x="0" y="0"/>
                  </a:moveTo>
                  <a:lnTo>
                    <a:pt x="3901440" y="0"/>
                  </a:lnTo>
                  <a:lnTo>
                    <a:pt x="3901440" y="682752"/>
                  </a:lnTo>
                  <a:lnTo>
                    <a:pt x="0" y="682752"/>
                  </a:lnTo>
                  <a:close/>
                </a:path>
              </a:pathLst>
            </a:custGeom>
            <a:solidFill>
              <a:srgbClr val="0077A8"/>
            </a:solidFill>
          </p:spPr>
        </p:sp>
        <p:sp>
          <p:nvSpPr>
            <p:cNvPr name="Freeform 7" id="7"/>
            <p:cNvSpPr/>
            <p:nvPr/>
          </p:nvSpPr>
          <p:spPr>
            <a:xfrm flipH="false" flipV="false" rot="0">
              <a:off x="0" y="0"/>
              <a:ext cx="3926840" cy="708152"/>
            </a:xfrm>
            <a:custGeom>
              <a:avLst/>
              <a:gdLst/>
              <a:ahLst/>
              <a:cxnLst/>
              <a:rect r="r" b="b" t="t" l="l"/>
              <a:pathLst>
                <a:path h="708152" w="3926840">
                  <a:moveTo>
                    <a:pt x="12700" y="0"/>
                  </a:moveTo>
                  <a:lnTo>
                    <a:pt x="3914140" y="0"/>
                  </a:lnTo>
                  <a:cubicBezTo>
                    <a:pt x="3921125" y="0"/>
                    <a:pt x="3926840" y="5715"/>
                    <a:pt x="3926840" y="12700"/>
                  </a:cubicBezTo>
                  <a:lnTo>
                    <a:pt x="3926840" y="695452"/>
                  </a:lnTo>
                  <a:cubicBezTo>
                    <a:pt x="3926840" y="702437"/>
                    <a:pt x="3921125" y="708152"/>
                    <a:pt x="3914140" y="708152"/>
                  </a:cubicBezTo>
                  <a:lnTo>
                    <a:pt x="12700" y="708152"/>
                  </a:lnTo>
                  <a:cubicBezTo>
                    <a:pt x="5715" y="708152"/>
                    <a:pt x="0" y="702437"/>
                    <a:pt x="0" y="695452"/>
                  </a:cubicBezTo>
                  <a:lnTo>
                    <a:pt x="0" y="12700"/>
                  </a:lnTo>
                  <a:cubicBezTo>
                    <a:pt x="0" y="5715"/>
                    <a:pt x="5715" y="0"/>
                    <a:pt x="12700" y="0"/>
                  </a:cubicBezTo>
                  <a:moveTo>
                    <a:pt x="12700" y="25400"/>
                  </a:moveTo>
                  <a:lnTo>
                    <a:pt x="12700" y="12700"/>
                  </a:lnTo>
                  <a:lnTo>
                    <a:pt x="25400" y="12700"/>
                  </a:lnTo>
                  <a:lnTo>
                    <a:pt x="25400" y="695452"/>
                  </a:lnTo>
                  <a:lnTo>
                    <a:pt x="12700" y="695452"/>
                  </a:lnTo>
                  <a:lnTo>
                    <a:pt x="12700" y="682752"/>
                  </a:lnTo>
                  <a:lnTo>
                    <a:pt x="3914140" y="682752"/>
                  </a:lnTo>
                  <a:lnTo>
                    <a:pt x="3914140" y="695452"/>
                  </a:lnTo>
                  <a:lnTo>
                    <a:pt x="3901440" y="695452"/>
                  </a:lnTo>
                  <a:lnTo>
                    <a:pt x="3901440" y="12700"/>
                  </a:lnTo>
                  <a:lnTo>
                    <a:pt x="3914140" y="12700"/>
                  </a:lnTo>
                  <a:lnTo>
                    <a:pt x="3914140" y="25400"/>
                  </a:lnTo>
                  <a:lnTo>
                    <a:pt x="12700" y="25400"/>
                  </a:lnTo>
                  <a:close/>
                </a:path>
              </a:pathLst>
            </a:custGeom>
            <a:solidFill>
              <a:srgbClr val="0077A8"/>
            </a:solidFill>
          </p:spPr>
        </p:sp>
      </p:grpSp>
      <p:grpSp>
        <p:nvGrpSpPr>
          <p:cNvPr name="Group 8" id="8"/>
          <p:cNvGrpSpPr/>
          <p:nvPr/>
        </p:nvGrpSpPr>
        <p:grpSpPr>
          <a:xfrm rot="0">
            <a:off x="914400" y="329184"/>
            <a:ext cx="2926080" cy="512064"/>
            <a:chOff x="0" y="0"/>
            <a:chExt cx="3901440" cy="682752"/>
          </a:xfrm>
        </p:grpSpPr>
        <p:sp>
          <p:nvSpPr>
            <p:cNvPr name="Freeform 9" id="9"/>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2">
                <a:alphaModFix amt="0"/>
              </a:blip>
              <a:stretch>
                <a:fillRect l="0" t="-61343" r="0" b="-61343"/>
              </a:stretch>
            </a:blipFill>
          </p:spPr>
        </p:sp>
        <p:sp>
          <p:nvSpPr>
            <p:cNvPr name="TextBox 10" id="10"/>
            <p:cNvSpPr txBox="true"/>
            <p:nvPr/>
          </p:nvSpPr>
          <p:spPr>
            <a:xfrm>
              <a:off x="0" y="-38100"/>
              <a:ext cx="3901440" cy="720852"/>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Idea</a:t>
              </a:r>
            </a:p>
          </p:txBody>
        </p:sp>
      </p:grpSp>
      <p:grpSp>
        <p:nvGrpSpPr>
          <p:cNvPr name="Group 11" id="11"/>
          <p:cNvGrpSpPr/>
          <p:nvPr/>
        </p:nvGrpSpPr>
        <p:grpSpPr>
          <a:xfrm rot="0">
            <a:off x="914400" y="1005840"/>
            <a:ext cx="16459200" cy="1280160"/>
            <a:chOff x="0" y="0"/>
            <a:chExt cx="21945600" cy="1706880"/>
          </a:xfrm>
        </p:grpSpPr>
        <p:sp>
          <p:nvSpPr>
            <p:cNvPr name="Freeform 12" id="12"/>
            <p:cNvSpPr/>
            <p:nvPr/>
          </p:nvSpPr>
          <p:spPr>
            <a:xfrm flipH="false" flipV="false" rot="0">
              <a:off x="0" y="0"/>
              <a:ext cx="21945600" cy="1706880"/>
            </a:xfrm>
            <a:custGeom>
              <a:avLst/>
              <a:gdLst/>
              <a:ahLst/>
              <a:cxnLst/>
              <a:rect r="r" b="b" t="t" l="l"/>
              <a:pathLst>
                <a:path h="1706880" w="21945600">
                  <a:moveTo>
                    <a:pt x="0" y="0"/>
                  </a:moveTo>
                  <a:lnTo>
                    <a:pt x="21945600" y="0"/>
                  </a:lnTo>
                  <a:lnTo>
                    <a:pt x="21945600" y="1706880"/>
                  </a:lnTo>
                  <a:lnTo>
                    <a:pt x="0" y="1706880"/>
                  </a:lnTo>
                  <a:close/>
                </a:path>
              </a:pathLst>
            </a:custGeom>
            <a:blipFill>
              <a:blip r:embed="rId2">
                <a:alphaModFix amt="0"/>
              </a:blip>
              <a:stretch>
                <a:fillRect l="0" t="-200521" r="0" b="-200521"/>
              </a:stretch>
            </a:blipFill>
          </p:spPr>
        </p:sp>
        <p:sp>
          <p:nvSpPr>
            <p:cNvPr name="TextBox 13" id="13"/>
            <p:cNvSpPr txBox="true"/>
            <p:nvPr/>
          </p:nvSpPr>
          <p:spPr>
            <a:xfrm>
              <a:off x="0" y="-123825"/>
              <a:ext cx="21945600" cy="1830705"/>
            </a:xfrm>
            <a:prstGeom prst="rect">
              <a:avLst/>
            </a:prstGeom>
          </p:spPr>
          <p:txBody>
            <a:bodyPr anchor="ctr" rtlCol="false" tIns="0" lIns="0" bIns="0" rIns="0"/>
            <a:lstStyle/>
            <a:p>
              <a:pPr algn="l">
                <a:lnSpc>
                  <a:spcPts val="7680"/>
                </a:lnSpc>
              </a:pPr>
              <a:r>
                <a:rPr lang="en-US" sz="6400" b="true">
                  <a:solidFill>
                    <a:srgbClr val="000000"/>
                  </a:solidFill>
                  <a:latin typeface="Calibri (MS) Bold"/>
                  <a:ea typeface="Calibri (MS) Bold"/>
                  <a:cs typeface="Calibri (MS) Bold"/>
                  <a:sym typeface="Calibri (MS) Bold"/>
                </a:rPr>
                <a:t>Current Solution &amp; Gaps</a:t>
              </a:r>
            </a:p>
          </p:txBody>
        </p:sp>
      </p:grpSp>
      <p:sp>
        <p:nvSpPr>
          <p:cNvPr name="Freeform 14" id="14"/>
          <p:cNvSpPr/>
          <p:nvPr/>
        </p:nvSpPr>
        <p:spPr>
          <a:xfrm flipH="false" flipV="false" rot="0">
            <a:off x="1219398" y="2476500"/>
            <a:ext cx="5416536" cy="6781800"/>
          </a:xfrm>
          <a:custGeom>
            <a:avLst/>
            <a:gdLst/>
            <a:ahLst/>
            <a:cxnLst/>
            <a:rect r="r" b="b" t="t" l="l"/>
            <a:pathLst>
              <a:path h="6781800" w="5416536">
                <a:moveTo>
                  <a:pt x="0" y="0"/>
                </a:moveTo>
                <a:lnTo>
                  <a:pt x="5416536" y="0"/>
                </a:lnTo>
                <a:lnTo>
                  <a:pt x="5416536" y="6781800"/>
                </a:lnTo>
                <a:lnTo>
                  <a:pt x="0" y="6781800"/>
                </a:lnTo>
                <a:lnTo>
                  <a:pt x="0" y="0"/>
                </a:lnTo>
                <a:close/>
              </a:path>
            </a:pathLst>
          </a:custGeom>
          <a:blipFill>
            <a:blip r:embed="rId3"/>
            <a:stretch>
              <a:fillRect l="0" t="0" r="0" b="0"/>
            </a:stretch>
          </a:blipFill>
        </p:spPr>
      </p:sp>
      <p:sp>
        <p:nvSpPr>
          <p:cNvPr name="Freeform 15" id="15"/>
          <p:cNvSpPr/>
          <p:nvPr/>
        </p:nvSpPr>
        <p:spPr>
          <a:xfrm flipH="false" flipV="false" rot="0">
            <a:off x="6568439" y="2476500"/>
            <a:ext cx="5394475" cy="6781800"/>
          </a:xfrm>
          <a:custGeom>
            <a:avLst/>
            <a:gdLst/>
            <a:ahLst/>
            <a:cxnLst/>
            <a:rect r="r" b="b" t="t" l="l"/>
            <a:pathLst>
              <a:path h="6781800" w="5394475">
                <a:moveTo>
                  <a:pt x="0" y="0"/>
                </a:moveTo>
                <a:lnTo>
                  <a:pt x="5394475" y="0"/>
                </a:lnTo>
                <a:lnTo>
                  <a:pt x="5394475" y="6781800"/>
                </a:lnTo>
                <a:lnTo>
                  <a:pt x="0" y="6781800"/>
                </a:lnTo>
                <a:lnTo>
                  <a:pt x="0" y="0"/>
                </a:lnTo>
                <a:close/>
              </a:path>
            </a:pathLst>
          </a:custGeom>
          <a:blipFill>
            <a:blip r:embed="rId4"/>
            <a:stretch>
              <a:fillRect l="0" t="0" r="-408" b="0"/>
            </a:stretch>
          </a:blipFill>
        </p:spPr>
      </p:sp>
      <p:sp>
        <p:nvSpPr>
          <p:cNvPr name="Freeform 16" id="16"/>
          <p:cNvSpPr/>
          <p:nvPr/>
        </p:nvSpPr>
        <p:spPr>
          <a:xfrm flipH="false" flipV="false" rot="0">
            <a:off x="11962914" y="2476500"/>
            <a:ext cx="5523700" cy="6781800"/>
          </a:xfrm>
          <a:custGeom>
            <a:avLst/>
            <a:gdLst/>
            <a:ahLst/>
            <a:cxnLst/>
            <a:rect r="r" b="b" t="t" l="l"/>
            <a:pathLst>
              <a:path h="6781800" w="5523700">
                <a:moveTo>
                  <a:pt x="0" y="0"/>
                </a:moveTo>
                <a:lnTo>
                  <a:pt x="5523701" y="0"/>
                </a:lnTo>
                <a:lnTo>
                  <a:pt x="5523701" y="6781800"/>
                </a:lnTo>
                <a:lnTo>
                  <a:pt x="0" y="6781800"/>
                </a:lnTo>
                <a:lnTo>
                  <a:pt x="0" y="0"/>
                </a:lnTo>
                <a:close/>
              </a:path>
            </a:pathLst>
          </a:custGeom>
          <a:blipFill>
            <a:blip r:embed="rId5"/>
            <a:stretch>
              <a:fillRect l="0" t="-989" r="0" b="-989"/>
            </a:stretch>
          </a:blipFill>
        </p:spPr>
      </p:sp>
      <p:sp>
        <p:nvSpPr>
          <p:cNvPr name="Freeform 17" id="17"/>
          <p:cNvSpPr/>
          <p:nvPr/>
        </p:nvSpPr>
        <p:spPr>
          <a:xfrm flipH="false" flipV="false" rot="0">
            <a:off x="11962914" y="2476500"/>
            <a:ext cx="6088756" cy="6939056"/>
          </a:xfrm>
          <a:custGeom>
            <a:avLst/>
            <a:gdLst/>
            <a:ahLst/>
            <a:cxnLst/>
            <a:rect r="r" b="b" t="t" l="l"/>
            <a:pathLst>
              <a:path h="6939056" w="6088756">
                <a:moveTo>
                  <a:pt x="0" y="0"/>
                </a:moveTo>
                <a:lnTo>
                  <a:pt x="6088756" y="0"/>
                </a:lnTo>
                <a:lnTo>
                  <a:pt x="6088756" y="6939056"/>
                </a:lnTo>
                <a:lnTo>
                  <a:pt x="0" y="6939056"/>
                </a:lnTo>
                <a:lnTo>
                  <a:pt x="0" y="0"/>
                </a:lnTo>
                <a:close/>
              </a:path>
            </a:pathLst>
          </a:custGeom>
          <a:blipFill>
            <a:blip r:embed="rId6"/>
            <a:stretch>
              <a:fillRect l="0" t="0" r="0" b="0"/>
            </a:stretch>
          </a:blipFill>
        </p:spPr>
      </p:sp>
      <p:sp>
        <p:nvSpPr>
          <p:cNvPr name="Freeform 18" id="18"/>
          <p:cNvSpPr/>
          <p:nvPr/>
        </p:nvSpPr>
        <p:spPr>
          <a:xfrm flipH="false" flipV="false" rot="-1231113">
            <a:off x="1422004" y="2774013"/>
            <a:ext cx="681511" cy="681511"/>
          </a:xfrm>
          <a:custGeom>
            <a:avLst/>
            <a:gdLst/>
            <a:ahLst/>
            <a:cxnLst/>
            <a:rect r="r" b="b" t="t" l="l"/>
            <a:pathLst>
              <a:path h="681511" w="681511">
                <a:moveTo>
                  <a:pt x="0" y="0"/>
                </a:moveTo>
                <a:lnTo>
                  <a:pt x="681511" y="0"/>
                </a:lnTo>
                <a:lnTo>
                  <a:pt x="681511" y="681511"/>
                </a:lnTo>
                <a:lnTo>
                  <a:pt x="0" y="681511"/>
                </a:lnTo>
                <a:lnTo>
                  <a:pt x="0" y="0"/>
                </a:lnTo>
                <a:close/>
              </a:path>
            </a:pathLst>
          </a:custGeom>
          <a:blipFill>
            <a:blip r:embed="rId7"/>
            <a:stretch>
              <a:fillRect l="0" t="0" r="0" b="0"/>
            </a:stretch>
          </a:blipFill>
        </p:spPr>
      </p:sp>
      <p:sp>
        <p:nvSpPr>
          <p:cNvPr name="TextBox 19" id="19"/>
          <p:cNvSpPr txBox="true"/>
          <p:nvPr/>
        </p:nvSpPr>
        <p:spPr>
          <a:xfrm rot="0">
            <a:off x="1028700" y="2852831"/>
            <a:ext cx="5416536" cy="466725"/>
          </a:xfrm>
          <a:prstGeom prst="rect">
            <a:avLst/>
          </a:prstGeom>
        </p:spPr>
        <p:txBody>
          <a:bodyPr anchor="t" rtlCol="false" tIns="0" lIns="0" bIns="0" rIns="0">
            <a:spAutoFit/>
          </a:bodyPr>
          <a:lstStyle/>
          <a:p>
            <a:pPr algn="ctr">
              <a:lnSpc>
                <a:spcPts val="3240"/>
              </a:lnSpc>
              <a:spcBef>
                <a:spcPct val="0"/>
              </a:spcBef>
            </a:pPr>
            <a:r>
              <a:rPr lang="en-US" b="true" sz="2700">
                <a:solidFill>
                  <a:srgbClr val="000000"/>
                </a:solidFill>
                <a:latin typeface="Calibri (MS) Bold"/>
                <a:ea typeface="Calibri (MS) Bold"/>
                <a:cs typeface="Calibri (MS) Bold"/>
                <a:sym typeface="Calibri (MS) Bold"/>
              </a:rPr>
              <a:t>Existing solutions </a:t>
            </a:r>
          </a:p>
        </p:txBody>
      </p:sp>
      <p:sp>
        <p:nvSpPr>
          <p:cNvPr name="Freeform 20" id="20"/>
          <p:cNvSpPr/>
          <p:nvPr/>
        </p:nvSpPr>
        <p:spPr>
          <a:xfrm flipH="false" flipV="false" rot="937512">
            <a:off x="5520446" y="2609931"/>
            <a:ext cx="771768" cy="771768"/>
          </a:xfrm>
          <a:custGeom>
            <a:avLst/>
            <a:gdLst/>
            <a:ahLst/>
            <a:cxnLst/>
            <a:rect r="r" b="b" t="t" l="l"/>
            <a:pathLst>
              <a:path h="771768" w="771768">
                <a:moveTo>
                  <a:pt x="0" y="0"/>
                </a:moveTo>
                <a:lnTo>
                  <a:pt x="771768" y="0"/>
                </a:lnTo>
                <a:lnTo>
                  <a:pt x="771768" y="771768"/>
                </a:lnTo>
                <a:lnTo>
                  <a:pt x="0" y="771768"/>
                </a:lnTo>
                <a:lnTo>
                  <a:pt x="0" y="0"/>
                </a:lnTo>
                <a:close/>
              </a:path>
            </a:pathLst>
          </a:custGeom>
          <a:blipFill>
            <a:blip r:embed="rId8"/>
            <a:stretch>
              <a:fillRect l="0" t="0" r="0" b="0"/>
            </a:stretch>
          </a:blipFill>
        </p:spPr>
      </p:sp>
      <p:sp>
        <p:nvSpPr>
          <p:cNvPr name="Freeform 21" id="21"/>
          <p:cNvSpPr/>
          <p:nvPr/>
        </p:nvSpPr>
        <p:spPr>
          <a:xfrm flipH="false" flipV="false" rot="0">
            <a:off x="1219398" y="8509315"/>
            <a:ext cx="680916" cy="663584"/>
          </a:xfrm>
          <a:custGeom>
            <a:avLst/>
            <a:gdLst/>
            <a:ahLst/>
            <a:cxnLst/>
            <a:rect r="r" b="b" t="t" l="l"/>
            <a:pathLst>
              <a:path h="663584" w="680916">
                <a:moveTo>
                  <a:pt x="0" y="0"/>
                </a:moveTo>
                <a:lnTo>
                  <a:pt x="680916" y="0"/>
                </a:lnTo>
                <a:lnTo>
                  <a:pt x="680916" y="663584"/>
                </a:lnTo>
                <a:lnTo>
                  <a:pt x="0" y="663584"/>
                </a:lnTo>
                <a:lnTo>
                  <a:pt x="0" y="0"/>
                </a:lnTo>
                <a:close/>
              </a:path>
            </a:pathLst>
          </a:custGeom>
          <a:blipFill>
            <a:blip r:embed="rId9"/>
            <a:stretch>
              <a:fillRect l="0" t="0" r="0" b="0"/>
            </a:stretch>
          </a:blipFill>
        </p:spPr>
      </p:sp>
      <p:sp>
        <p:nvSpPr>
          <p:cNvPr name="Freeform 22" id="22"/>
          <p:cNvSpPr/>
          <p:nvPr/>
        </p:nvSpPr>
        <p:spPr>
          <a:xfrm flipH="false" flipV="false" rot="0">
            <a:off x="17196959" y="2787012"/>
            <a:ext cx="655512" cy="655512"/>
          </a:xfrm>
          <a:custGeom>
            <a:avLst/>
            <a:gdLst/>
            <a:ahLst/>
            <a:cxnLst/>
            <a:rect r="r" b="b" t="t" l="l"/>
            <a:pathLst>
              <a:path h="655512" w="655512">
                <a:moveTo>
                  <a:pt x="0" y="0"/>
                </a:moveTo>
                <a:lnTo>
                  <a:pt x="655512" y="0"/>
                </a:lnTo>
                <a:lnTo>
                  <a:pt x="655512" y="655513"/>
                </a:lnTo>
                <a:lnTo>
                  <a:pt x="0" y="655513"/>
                </a:lnTo>
                <a:lnTo>
                  <a:pt x="0" y="0"/>
                </a:lnTo>
                <a:close/>
              </a:path>
            </a:pathLst>
          </a:custGeom>
          <a:blipFill>
            <a:blip r:embed="rId10"/>
            <a:stretch>
              <a:fillRect l="0" t="0" r="0" b="0"/>
            </a:stretch>
          </a:blipFill>
        </p:spPr>
      </p:sp>
      <p:sp>
        <p:nvSpPr>
          <p:cNvPr name="TextBox 23" id="23"/>
          <p:cNvSpPr txBox="true"/>
          <p:nvPr/>
        </p:nvSpPr>
        <p:spPr>
          <a:xfrm rot="0">
            <a:off x="7062643" y="3815932"/>
            <a:ext cx="4365225" cy="4914900"/>
          </a:xfrm>
          <a:prstGeom prst="rect">
            <a:avLst/>
          </a:prstGeom>
        </p:spPr>
        <p:txBody>
          <a:bodyPr anchor="t" rtlCol="false" tIns="0" lIns="0" bIns="0" rIns="0">
            <a:spAutoFit/>
          </a:bodyPr>
          <a:lstStyle/>
          <a:p>
            <a:pPr algn="just" marL="431804" indent="-215902" lvl="1">
              <a:lnSpc>
                <a:spcPts val="2400"/>
              </a:lnSpc>
              <a:buFont typeface="Arial"/>
              <a:buChar char="•"/>
            </a:pPr>
            <a:r>
              <a:rPr lang="en-US" sz="2000">
                <a:solidFill>
                  <a:srgbClr val="000000"/>
                </a:solidFill>
                <a:latin typeface="Calibri (MS)"/>
                <a:ea typeface="Calibri (MS)"/>
                <a:cs typeface="Calibri (MS)"/>
                <a:sym typeface="Calibri (MS)"/>
              </a:rPr>
              <a:t>These tools are </a:t>
            </a:r>
            <a:r>
              <a:rPr lang="en-US" b="true" sz="2000">
                <a:solidFill>
                  <a:srgbClr val="000000"/>
                </a:solidFill>
                <a:latin typeface="Calibri (MS) Bold"/>
                <a:ea typeface="Calibri (MS) Bold"/>
                <a:cs typeface="Calibri (MS) Bold"/>
                <a:sym typeface="Calibri (MS) Bold"/>
              </a:rPr>
              <a:t>blind to context:</a:t>
            </a:r>
            <a:r>
              <a:rPr lang="en-US" sz="2000">
                <a:solidFill>
                  <a:srgbClr val="000000"/>
                </a:solidFill>
                <a:latin typeface="Calibri (MS)"/>
                <a:ea typeface="Calibri (MS)"/>
                <a:cs typeface="Calibri (MS)"/>
                <a:sym typeface="Calibri (MS)"/>
              </a:rPr>
              <a:t> they don’t know that you have lab at 2 PM, you’re 9 km away in peak Bengaluru traffic, and your phone is at 11% while you scroll Reels.</a:t>
            </a:r>
          </a:p>
          <a:p>
            <a:pPr algn="just" marL="431804" indent="-215902" lvl="1">
              <a:lnSpc>
                <a:spcPts val="2400"/>
              </a:lnSpc>
              <a:buFont typeface="Arial"/>
              <a:buChar char="•"/>
            </a:pPr>
            <a:r>
              <a:rPr lang="en-US" sz="2000">
                <a:solidFill>
                  <a:srgbClr val="000000"/>
                </a:solidFill>
                <a:latin typeface="Calibri (MS)"/>
                <a:ea typeface="Calibri (MS)"/>
                <a:cs typeface="Calibri (MS)"/>
                <a:sym typeface="Calibri (MS)"/>
              </a:rPr>
              <a:t>They are </a:t>
            </a:r>
            <a:r>
              <a:rPr lang="en-US" b="true" sz="2000">
                <a:solidFill>
                  <a:srgbClr val="000000"/>
                </a:solidFill>
                <a:latin typeface="Calibri (MS) Bold"/>
                <a:ea typeface="Calibri (MS) Bold"/>
                <a:cs typeface="Calibri (MS) Bold"/>
                <a:sym typeface="Calibri (MS) Bold"/>
              </a:rPr>
              <a:t>reactive and manual:</a:t>
            </a:r>
            <a:r>
              <a:rPr lang="en-US" sz="2000">
                <a:solidFill>
                  <a:srgbClr val="000000"/>
                </a:solidFill>
                <a:latin typeface="Calibri (MS)"/>
                <a:ea typeface="Calibri (MS)"/>
                <a:cs typeface="Calibri (MS)"/>
                <a:sym typeface="Calibri (MS)"/>
              </a:rPr>
              <a:t> you must set the focus sessions, app limits, or routines yourself, and they rarely adapt mid-day when your schedule slips or a meeting runs over.</a:t>
            </a:r>
          </a:p>
          <a:p>
            <a:pPr algn="just" marL="431804" indent="-215902" lvl="1">
              <a:lnSpc>
                <a:spcPts val="2400"/>
              </a:lnSpc>
              <a:buFont typeface="Arial"/>
              <a:buChar char="•"/>
            </a:pPr>
            <a:r>
              <a:rPr lang="en-US" sz="2000">
                <a:solidFill>
                  <a:srgbClr val="000000"/>
                </a:solidFill>
                <a:latin typeface="Calibri (MS)"/>
                <a:ea typeface="Calibri (MS)"/>
                <a:cs typeface="Calibri (MS)"/>
                <a:sym typeface="Calibri (MS)"/>
              </a:rPr>
              <a:t>They </a:t>
            </a:r>
            <a:r>
              <a:rPr lang="en-US" b="true" sz="2000">
                <a:solidFill>
                  <a:srgbClr val="000000"/>
                </a:solidFill>
                <a:latin typeface="Calibri (MS) Bold"/>
                <a:ea typeface="Calibri (MS) Bold"/>
                <a:cs typeface="Calibri (MS) Bold"/>
                <a:sym typeface="Calibri (MS) Bold"/>
              </a:rPr>
              <a:t>optimize metrics, not outcomes:</a:t>
            </a:r>
            <a:r>
              <a:rPr lang="en-US" sz="2000">
                <a:solidFill>
                  <a:srgbClr val="000000"/>
                </a:solidFill>
                <a:latin typeface="Calibri (MS)"/>
                <a:ea typeface="Calibri (MS)"/>
                <a:cs typeface="Calibri (MS)"/>
                <a:sym typeface="Calibri (MS)"/>
              </a:rPr>
              <a:t> screen-time apps aim to reduce minutes on phone, not to ensure “Aryan reached on time” or “Aryan protected 90 minutes of deep work for his deadline.”</a:t>
            </a:r>
          </a:p>
        </p:txBody>
      </p:sp>
      <p:sp>
        <p:nvSpPr>
          <p:cNvPr name="TextBox 24" id="24"/>
          <p:cNvSpPr txBox="true"/>
          <p:nvPr/>
        </p:nvSpPr>
        <p:spPr>
          <a:xfrm rot="0">
            <a:off x="1422004" y="3433856"/>
            <a:ext cx="4740379" cy="5829300"/>
          </a:xfrm>
          <a:prstGeom prst="rect">
            <a:avLst/>
          </a:prstGeom>
        </p:spPr>
        <p:txBody>
          <a:bodyPr anchor="t" rtlCol="false" tIns="0" lIns="0" bIns="0" rIns="0">
            <a:spAutoFit/>
          </a:bodyPr>
          <a:lstStyle/>
          <a:p>
            <a:pPr algn="just" marL="431804" indent="-215902" lvl="1">
              <a:lnSpc>
                <a:spcPts val="2400"/>
              </a:lnSpc>
              <a:spcBef>
                <a:spcPct val="0"/>
              </a:spcBef>
              <a:buFont typeface="Arial"/>
              <a:buChar char="•"/>
            </a:pPr>
            <a:r>
              <a:rPr lang="en-US" b="true" sz="2000">
                <a:solidFill>
                  <a:srgbClr val="000000"/>
                </a:solidFill>
                <a:latin typeface="Calibri (MS) Bold"/>
                <a:ea typeface="Calibri (MS) Bold"/>
                <a:cs typeface="Calibri (MS) Bold"/>
                <a:sym typeface="Calibri (MS) Bold"/>
              </a:rPr>
              <a:t>Calendars &amp; t</a:t>
            </a:r>
            <a:r>
              <a:rPr lang="en-US" b="true" sz="2000">
                <a:solidFill>
                  <a:srgbClr val="000000"/>
                </a:solidFill>
                <a:latin typeface="Calibri (MS) Bold"/>
                <a:ea typeface="Calibri (MS) Bold"/>
                <a:cs typeface="Calibri (MS) Bold"/>
                <a:sym typeface="Calibri (MS) Bold"/>
              </a:rPr>
              <a:t>o-do apps (Google Calendar, Notion, Tasks)</a:t>
            </a:r>
            <a:r>
              <a:rPr lang="en-US" sz="2000">
                <a:solidFill>
                  <a:srgbClr val="000000"/>
                </a:solidFill>
                <a:latin typeface="Calibri (MS)"/>
                <a:ea typeface="Calibri (MS)"/>
                <a:cs typeface="Calibri (MS)"/>
                <a:sym typeface="Calibri (MS)"/>
              </a:rPr>
              <a:t>: Great at storing events and lists, but they only reflect what you planned, not what is actually happening around you in real time.</a:t>
            </a:r>
          </a:p>
          <a:p>
            <a:pPr algn="just" marL="431804" indent="-215902" lvl="1">
              <a:lnSpc>
                <a:spcPts val="2400"/>
              </a:lnSpc>
              <a:spcBef>
                <a:spcPct val="0"/>
              </a:spcBef>
              <a:buFont typeface="Arial"/>
              <a:buChar char="•"/>
            </a:pPr>
            <a:r>
              <a:rPr lang="en-US" b="true" sz="2000">
                <a:solidFill>
                  <a:srgbClr val="000000"/>
                </a:solidFill>
                <a:latin typeface="Calibri (MS) Bold"/>
                <a:ea typeface="Calibri (MS) Bold"/>
                <a:cs typeface="Calibri (MS) Bold"/>
                <a:sym typeface="Calibri (MS) Bold"/>
              </a:rPr>
              <a:t>Screen-time &amp; focus apps (Digital Wellbeing, Focus Mode, app blockers): </a:t>
            </a:r>
            <a:r>
              <a:rPr lang="en-US" sz="2000">
                <a:solidFill>
                  <a:srgbClr val="000000"/>
                </a:solidFill>
                <a:latin typeface="Calibri (MS)"/>
                <a:ea typeface="Calibri (MS)"/>
                <a:cs typeface="Calibri (MS)"/>
                <a:sym typeface="Calibri (MS)"/>
              </a:rPr>
              <a:t>They track usage and enforce timers, but they rely on manual schedules and static limits that don’t adapt to traffic, battery, or sudden plan changes.</a:t>
            </a:r>
          </a:p>
          <a:p>
            <a:pPr algn="just" marL="431804" indent="-215902" lvl="1">
              <a:lnSpc>
                <a:spcPts val="2400"/>
              </a:lnSpc>
              <a:spcBef>
                <a:spcPct val="0"/>
              </a:spcBef>
              <a:buFont typeface="Arial"/>
              <a:buChar char="•"/>
            </a:pPr>
            <a:r>
              <a:rPr lang="en-US" b="true" sz="2000">
                <a:solidFill>
                  <a:srgbClr val="000000"/>
                </a:solidFill>
                <a:latin typeface="Calibri (MS) Bold"/>
                <a:ea typeface="Calibri (MS) Bold"/>
                <a:cs typeface="Calibri (MS) Bold"/>
                <a:sym typeface="Calibri (MS) Bold"/>
              </a:rPr>
              <a:t>Wellness / digital well-being apps (popular in India):</a:t>
            </a:r>
            <a:r>
              <a:rPr lang="en-US" sz="2000">
                <a:solidFill>
                  <a:srgbClr val="000000"/>
                </a:solidFill>
                <a:latin typeface="Calibri (MS)"/>
                <a:ea typeface="Calibri (MS)"/>
                <a:cs typeface="Calibri (MS)"/>
                <a:sym typeface="Calibri (MS)"/>
              </a:rPr>
              <a:t> They offer mindfulness, mood tracking, or generic “reduce screen time” advice, but they don’t integrate with your calendar, commute, and battery context to protect a specific day’s plan</a:t>
            </a:r>
          </a:p>
          <a:p>
            <a:pPr algn="just">
              <a:lnSpc>
                <a:spcPts val="2400"/>
              </a:lnSpc>
              <a:spcBef>
                <a:spcPct val="0"/>
              </a:spcBef>
            </a:pPr>
          </a:p>
        </p:txBody>
      </p:sp>
      <p:sp>
        <p:nvSpPr>
          <p:cNvPr name="TextBox 25" id="25"/>
          <p:cNvSpPr txBox="true"/>
          <p:nvPr/>
        </p:nvSpPr>
        <p:spPr>
          <a:xfrm rot="0">
            <a:off x="6710693" y="2914974"/>
            <a:ext cx="5416536" cy="466725"/>
          </a:xfrm>
          <a:prstGeom prst="rect">
            <a:avLst/>
          </a:prstGeom>
        </p:spPr>
        <p:txBody>
          <a:bodyPr anchor="t" rtlCol="false" tIns="0" lIns="0" bIns="0" rIns="0">
            <a:spAutoFit/>
          </a:bodyPr>
          <a:lstStyle/>
          <a:p>
            <a:pPr algn="ctr">
              <a:lnSpc>
                <a:spcPts val="3240"/>
              </a:lnSpc>
              <a:spcBef>
                <a:spcPct val="0"/>
              </a:spcBef>
            </a:pPr>
            <a:r>
              <a:rPr lang="en-US" b="true" sz="2700">
                <a:solidFill>
                  <a:srgbClr val="000000"/>
                </a:solidFill>
                <a:latin typeface="Calibri (MS) Bold"/>
                <a:ea typeface="Calibri (MS) Bold"/>
                <a:cs typeface="Calibri (MS) Bold"/>
                <a:sym typeface="Calibri (MS) Bold"/>
              </a:rPr>
              <a:t>What’s missing / broken</a:t>
            </a:r>
          </a:p>
        </p:txBody>
      </p:sp>
      <p:sp>
        <p:nvSpPr>
          <p:cNvPr name="TextBox 26" id="26"/>
          <p:cNvSpPr txBox="true"/>
          <p:nvPr/>
        </p:nvSpPr>
        <p:spPr>
          <a:xfrm rot="0">
            <a:off x="12108179" y="2914974"/>
            <a:ext cx="5416536" cy="466725"/>
          </a:xfrm>
          <a:prstGeom prst="rect">
            <a:avLst/>
          </a:prstGeom>
        </p:spPr>
        <p:txBody>
          <a:bodyPr anchor="t" rtlCol="false" tIns="0" lIns="0" bIns="0" rIns="0">
            <a:spAutoFit/>
          </a:bodyPr>
          <a:lstStyle/>
          <a:p>
            <a:pPr algn="ctr">
              <a:lnSpc>
                <a:spcPts val="3240"/>
              </a:lnSpc>
              <a:spcBef>
                <a:spcPct val="0"/>
              </a:spcBef>
            </a:pPr>
            <a:r>
              <a:rPr lang="en-US" b="true" sz="2700">
                <a:solidFill>
                  <a:srgbClr val="000000"/>
                </a:solidFill>
                <a:latin typeface="Calibri (MS) Bold"/>
                <a:ea typeface="Calibri (MS) Bold"/>
                <a:cs typeface="Calibri (MS) Bold"/>
                <a:sym typeface="Calibri (MS) Bold"/>
              </a:rPr>
              <a:t>The opportunity (where Pulse fits)</a:t>
            </a:r>
          </a:p>
        </p:txBody>
      </p:sp>
      <p:sp>
        <p:nvSpPr>
          <p:cNvPr name="TextBox 27" id="27"/>
          <p:cNvSpPr txBox="true"/>
          <p:nvPr/>
        </p:nvSpPr>
        <p:spPr>
          <a:xfrm rot="0">
            <a:off x="12240243" y="3343599"/>
            <a:ext cx="5246371" cy="5829300"/>
          </a:xfrm>
          <a:prstGeom prst="rect">
            <a:avLst/>
          </a:prstGeom>
        </p:spPr>
        <p:txBody>
          <a:bodyPr anchor="t" rtlCol="false" tIns="0" lIns="0" bIns="0" rIns="0">
            <a:spAutoFit/>
          </a:bodyPr>
          <a:lstStyle/>
          <a:p>
            <a:pPr algn="just" marL="431804" indent="-215902" lvl="1">
              <a:lnSpc>
                <a:spcPts val="2400"/>
              </a:lnSpc>
              <a:buFont typeface="Arial"/>
              <a:buChar char="•"/>
            </a:pPr>
            <a:r>
              <a:rPr lang="en-US" sz="2000">
                <a:solidFill>
                  <a:srgbClr val="000000"/>
                </a:solidFill>
                <a:latin typeface="Calibri (MS)"/>
                <a:ea typeface="Calibri (MS)"/>
                <a:cs typeface="Calibri (MS)"/>
                <a:sym typeface="Calibri (MS)"/>
              </a:rPr>
              <a:t>Bui</a:t>
            </a:r>
            <a:r>
              <a:rPr lang="en-US" sz="2000">
                <a:solidFill>
                  <a:srgbClr val="000000"/>
                </a:solidFill>
                <a:latin typeface="Calibri (MS)"/>
                <a:ea typeface="Calibri (MS)"/>
                <a:cs typeface="Calibri (MS)"/>
                <a:sym typeface="Calibri (MS)"/>
              </a:rPr>
              <a:t>ld </a:t>
            </a:r>
            <a:r>
              <a:rPr lang="en-US" sz="2000">
                <a:solidFill>
                  <a:srgbClr val="000000"/>
                </a:solidFill>
                <a:latin typeface="Calibri (MS)"/>
                <a:ea typeface="Calibri (MS)"/>
                <a:cs typeface="Calibri (MS)"/>
                <a:sym typeface="Calibri (MS)"/>
              </a:rPr>
              <a:t>a </a:t>
            </a:r>
            <a:r>
              <a:rPr lang="en-US" b="true" sz="2000">
                <a:solidFill>
                  <a:srgbClr val="000000"/>
                </a:solidFill>
                <a:latin typeface="Calibri (MS) Bold"/>
                <a:ea typeface="Calibri (MS) Bold"/>
                <a:cs typeface="Calibri (MS) Bold"/>
                <a:sym typeface="Calibri (MS) Bold"/>
              </a:rPr>
              <a:t>context-aware, on-device Guardian</a:t>
            </a:r>
            <a:r>
              <a:rPr lang="en-US" sz="2000">
                <a:solidFill>
                  <a:srgbClr val="000000"/>
                </a:solidFill>
                <a:latin typeface="Calibri (MS)"/>
                <a:ea typeface="Calibri (MS)"/>
                <a:cs typeface="Calibri (MS)"/>
                <a:sym typeface="Calibri (MS)"/>
              </a:rPr>
              <a:t> that listens to live signals—location, app usage, calendar, battery, time-to-destination—and computes a </a:t>
            </a:r>
            <a:r>
              <a:rPr lang="en-US" b="true" sz="2000">
                <a:solidFill>
                  <a:srgbClr val="000000"/>
                </a:solidFill>
                <a:latin typeface="Calibri (MS) Bold"/>
                <a:ea typeface="Calibri (MS) Bold"/>
                <a:cs typeface="Calibri (MS) Bold"/>
                <a:sym typeface="Calibri (MS) Bold"/>
              </a:rPr>
              <a:t>Risk Score</a:t>
            </a:r>
            <a:r>
              <a:rPr lang="en-US" sz="2000">
                <a:solidFill>
                  <a:srgbClr val="000000"/>
                </a:solidFill>
                <a:latin typeface="Calibri (MS)"/>
                <a:ea typeface="Calibri (MS)"/>
                <a:cs typeface="Calibri (MS)"/>
                <a:sym typeface="Calibri (MS)"/>
              </a:rPr>
              <a:t> for each upcoming commitment.</a:t>
            </a:r>
          </a:p>
          <a:p>
            <a:pPr algn="just" marL="431804" indent="-215902" lvl="1">
              <a:lnSpc>
                <a:spcPts val="2400"/>
              </a:lnSpc>
              <a:buFont typeface="Arial"/>
              <a:buChar char="•"/>
            </a:pPr>
            <a:r>
              <a:rPr lang="en-US" sz="2000">
                <a:solidFill>
                  <a:srgbClr val="000000"/>
                </a:solidFill>
                <a:latin typeface="Calibri (MS)"/>
                <a:ea typeface="Calibri (MS)"/>
                <a:cs typeface="Calibri (MS)"/>
                <a:sym typeface="Calibri (MS)"/>
              </a:rPr>
              <a:t>Instead of waiting for Aryan to open an app, Pulse runs a continuous</a:t>
            </a:r>
            <a:r>
              <a:rPr lang="en-US" sz="2000">
                <a:solidFill>
                  <a:srgbClr val="000000"/>
                </a:solidFill>
                <a:latin typeface="Calibri (MS)"/>
                <a:ea typeface="Calibri (MS)"/>
                <a:cs typeface="Calibri (MS)"/>
                <a:sym typeface="Calibri (MS)"/>
              </a:rPr>
              <a:t> </a:t>
            </a:r>
            <a:r>
              <a:rPr lang="en-US" b="true" sz="2000">
                <a:solidFill>
                  <a:srgbClr val="000000"/>
                </a:solidFill>
                <a:latin typeface="Calibri (MS) Bold"/>
                <a:ea typeface="Calibri (MS) Bold"/>
                <a:cs typeface="Calibri (MS) Bold"/>
                <a:sym typeface="Calibri (MS) Bold"/>
              </a:rPr>
              <a:t>heartbeat loop</a:t>
            </a:r>
            <a:r>
              <a:rPr lang="en-US" sz="2000">
                <a:solidFill>
                  <a:srgbClr val="000000"/>
                </a:solidFill>
                <a:latin typeface="Calibri (MS)"/>
                <a:ea typeface="Calibri (MS)"/>
                <a:cs typeface="Calibri (MS)"/>
                <a:sym typeface="Calibri (MS)"/>
              </a:rPr>
              <a:t> that</a:t>
            </a:r>
            <a:r>
              <a:rPr lang="en-US" sz="2000">
                <a:solidFill>
                  <a:srgbClr val="000000"/>
                </a:solidFill>
                <a:latin typeface="Calibri (MS)"/>
                <a:ea typeface="Calibri (MS)"/>
                <a:cs typeface="Calibri (MS)"/>
                <a:sym typeface="Calibri (MS)"/>
              </a:rPr>
              <a:t> </a:t>
            </a:r>
            <a:r>
              <a:rPr lang="en-US" sz="2000">
                <a:solidFill>
                  <a:srgbClr val="000000"/>
                </a:solidFill>
                <a:latin typeface="Calibri (MS)"/>
                <a:ea typeface="Calibri (MS)"/>
                <a:cs typeface="Calibri (MS)"/>
                <a:sym typeface="Calibri (MS)"/>
              </a:rPr>
              <a:t>i</a:t>
            </a:r>
            <a:r>
              <a:rPr lang="en-US" sz="2000">
                <a:solidFill>
                  <a:srgbClr val="000000"/>
                </a:solidFill>
                <a:latin typeface="Calibri (MS)"/>
                <a:ea typeface="Calibri (MS)"/>
                <a:cs typeface="Calibri (MS)"/>
                <a:sym typeface="Calibri (MS)"/>
              </a:rPr>
              <a:t>nter</a:t>
            </a:r>
            <a:r>
              <a:rPr lang="en-US" sz="2000">
                <a:solidFill>
                  <a:srgbClr val="000000"/>
                </a:solidFill>
                <a:latin typeface="Calibri (MS)"/>
                <a:ea typeface="Calibri (MS)"/>
                <a:cs typeface="Calibri (MS)"/>
                <a:sym typeface="Calibri (MS)"/>
              </a:rPr>
              <a:t>ve</a:t>
            </a:r>
            <a:r>
              <a:rPr lang="en-US" sz="2000">
                <a:solidFill>
                  <a:srgbClr val="000000"/>
                </a:solidFill>
                <a:latin typeface="Calibri (MS)"/>
                <a:ea typeface="Calibri (MS)"/>
                <a:cs typeface="Calibri (MS)"/>
                <a:sym typeface="Calibri (MS)"/>
              </a:rPr>
              <a:t>nes</a:t>
            </a:r>
            <a:r>
              <a:rPr lang="en-US" sz="2000">
                <a:solidFill>
                  <a:srgbClr val="000000"/>
                </a:solidFill>
                <a:latin typeface="Calibri (MS)"/>
                <a:ea typeface="Calibri (MS)"/>
                <a:cs typeface="Calibri (MS)"/>
                <a:sym typeface="Calibri (MS)"/>
              </a:rPr>
              <a:t> </a:t>
            </a:r>
            <a:r>
              <a:rPr lang="en-US" sz="2000">
                <a:solidFill>
                  <a:srgbClr val="000000"/>
                </a:solidFill>
                <a:latin typeface="Calibri (MS)"/>
                <a:ea typeface="Calibri (MS)"/>
                <a:cs typeface="Calibri (MS)"/>
                <a:sym typeface="Calibri (MS)"/>
              </a:rPr>
              <a:t>whe</a:t>
            </a:r>
            <a:r>
              <a:rPr lang="en-US" sz="2000">
                <a:solidFill>
                  <a:srgbClr val="000000"/>
                </a:solidFill>
                <a:latin typeface="Calibri (MS)"/>
                <a:ea typeface="Calibri (MS)"/>
                <a:cs typeface="Calibri (MS)"/>
                <a:sym typeface="Calibri (MS)"/>
              </a:rPr>
              <a:t>n</a:t>
            </a:r>
            <a:r>
              <a:rPr lang="en-US" sz="2000">
                <a:solidFill>
                  <a:srgbClr val="000000"/>
                </a:solidFill>
                <a:latin typeface="Calibri (MS)"/>
                <a:ea typeface="Calibri (MS)"/>
                <a:cs typeface="Calibri (MS)"/>
                <a:sym typeface="Calibri (MS)"/>
              </a:rPr>
              <a:t> risk</a:t>
            </a:r>
            <a:r>
              <a:rPr lang="en-US" sz="2000">
                <a:solidFill>
                  <a:srgbClr val="000000"/>
                </a:solidFill>
                <a:latin typeface="Calibri (MS)"/>
                <a:ea typeface="Calibri (MS)"/>
                <a:cs typeface="Calibri (MS)"/>
                <a:sym typeface="Calibri (MS)"/>
              </a:rPr>
              <a:t> </a:t>
            </a:r>
            <a:r>
              <a:rPr lang="en-US" sz="2000">
                <a:solidFill>
                  <a:srgbClr val="000000"/>
                </a:solidFill>
                <a:latin typeface="Calibri (MS)"/>
                <a:ea typeface="Calibri (MS)"/>
                <a:cs typeface="Calibri (MS)"/>
                <a:sym typeface="Calibri (MS)"/>
              </a:rPr>
              <a:t>spikes:</a:t>
            </a:r>
          </a:p>
          <a:p>
            <a:pPr algn="just" marL="863608" indent="-287869" lvl="2">
              <a:lnSpc>
                <a:spcPts val="2400"/>
              </a:lnSpc>
              <a:buFont typeface="Arial"/>
              <a:buChar char="⚬"/>
            </a:pPr>
            <a:r>
              <a:rPr lang="en-US" sz="2000">
                <a:solidFill>
                  <a:srgbClr val="000000"/>
                </a:solidFill>
                <a:latin typeface="Calibri (MS)"/>
                <a:ea typeface="Calibri (MS)"/>
                <a:cs typeface="Calibri (MS)"/>
                <a:sym typeface="Calibri (MS)"/>
              </a:rPr>
              <a:t>“Le</a:t>
            </a:r>
            <a:r>
              <a:rPr lang="en-US" sz="2000">
                <a:solidFill>
                  <a:srgbClr val="000000"/>
                </a:solidFill>
                <a:latin typeface="Calibri (MS)"/>
                <a:ea typeface="Calibri (MS)"/>
                <a:cs typeface="Calibri (MS)"/>
                <a:sym typeface="Calibri (MS)"/>
              </a:rPr>
              <a:t>a</a:t>
            </a:r>
            <a:r>
              <a:rPr lang="en-US" sz="2000">
                <a:solidFill>
                  <a:srgbClr val="000000"/>
                </a:solidFill>
                <a:latin typeface="Calibri (MS)"/>
                <a:ea typeface="Calibri (MS)"/>
                <a:cs typeface="Calibri (MS)"/>
                <a:sym typeface="Calibri (MS)"/>
              </a:rPr>
              <a:t>ve </a:t>
            </a:r>
            <a:r>
              <a:rPr lang="en-US" sz="2000">
                <a:solidFill>
                  <a:srgbClr val="000000"/>
                </a:solidFill>
                <a:latin typeface="Calibri (MS)"/>
                <a:ea typeface="Calibri (MS)"/>
                <a:cs typeface="Calibri (MS)"/>
                <a:sym typeface="Calibri (MS)"/>
              </a:rPr>
              <a:t>n</a:t>
            </a:r>
            <a:r>
              <a:rPr lang="en-US" sz="2000">
                <a:solidFill>
                  <a:srgbClr val="000000"/>
                </a:solidFill>
                <a:latin typeface="Calibri (MS)"/>
                <a:ea typeface="Calibri (MS)"/>
                <a:cs typeface="Calibri (MS)"/>
                <a:sym typeface="Calibri (MS)"/>
              </a:rPr>
              <a:t>ow or</a:t>
            </a:r>
            <a:r>
              <a:rPr lang="en-US" sz="2000">
                <a:solidFill>
                  <a:srgbClr val="000000"/>
                </a:solidFill>
                <a:latin typeface="Calibri (MS)"/>
                <a:ea typeface="Calibri (MS)"/>
                <a:cs typeface="Calibri (MS)"/>
                <a:sym typeface="Calibri (MS)"/>
              </a:rPr>
              <a:t> you’ll be 18 minutes late to lab.”</a:t>
            </a:r>
          </a:p>
          <a:p>
            <a:pPr algn="just" marL="863608" indent="-287869" lvl="2">
              <a:lnSpc>
                <a:spcPts val="2400"/>
              </a:lnSpc>
              <a:buFont typeface="Arial"/>
              <a:buChar char="⚬"/>
            </a:pPr>
            <a:r>
              <a:rPr lang="en-US" sz="2000">
                <a:solidFill>
                  <a:srgbClr val="000000"/>
                </a:solidFill>
                <a:latin typeface="Calibri (MS)"/>
                <a:ea typeface="Calibri (MS)"/>
                <a:cs typeface="Calibri (MS)"/>
                <a:sym typeface="Calibri (MS)"/>
              </a:rPr>
              <a:t>“Lock Instagram for 30 minutes; you’re entering your only deep-work block today.”</a:t>
            </a:r>
          </a:p>
          <a:p>
            <a:pPr algn="just" marL="863608" indent="-287869" lvl="2">
              <a:lnSpc>
                <a:spcPts val="2400"/>
              </a:lnSpc>
              <a:buFont typeface="Arial"/>
              <a:buChar char="⚬"/>
            </a:pPr>
            <a:r>
              <a:rPr lang="en-US" sz="2000">
                <a:solidFill>
                  <a:srgbClr val="000000"/>
                </a:solidFill>
                <a:latin typeface="Calibri (MS)"/>
                <a:ea typeface="Calibri (MS)"/>
                <a:cs typeface="Calibri (MS)"/>
                <a:sym typeface="Calibri (MS)"/>
              </a:rPr>
              <a:t>“Draft and queue your ‘running late’ message if ETA slips beyond 10 minutes.”</a:t>
            </a:r>
          </a:p>
          <a:p>
            <a:pPr algn="just" marL="431804" indent="-215902" lvl="1">
              <a:lnSpc>
                <a:spcPts val="2400"/>
              </a:lnSpc>
              <a:buFont typeface="Arial"/>
              <a:buChar char="•"/>
            </a:pPr>
            <a:r>
              <a:rPr lang="en-US" sz="2000">
                <a:solidFill>
                  <a:srgbClr val="000000"/>
                </a:solidFill>
                <a:latin typeface="Calibri (MS)"/>
                <a:ea typeface="Calibri (MS)"/>
                <a:cs typeface="Calibri (MS)"/>
                <a:sym typeface="Calibri (MS)"/>
              </a:rPr>
              <a:t>Thi</a:t>
            </a:r>
            <a:r>
              <a:rPr lang="en-US" sz="2000">
                <a:solidFill>
                  <a:srgbClr val="000000"/>
                </a:solidFill>
                <a:latin typeface="Calibri (MS)"/>
                <a:ea typeface="Calibri (MS)"/>
                <a:cs typeface="Calibri (MS)"/>
                <a:sym typeface="Calibri (MS)"/>
              </a:rPr>
              <a:t>s</a:t>
            </a:r>
            <a:r>
              <a:rPr lang="en-US" sz="2000">
                <a:solidFill>
                  <a:srgbClr val="000000"/>
                </a:solidFill>
                <a:latin typeface="Calibri (MS)"/>
                <a:ea typeface="Calibri (MS)"/>
                <a:cs typeface="Calibri (MS)"/>
                <a:sym typeface="Calibri (MS)"/>
              </a:rPr>
              <a:t> is t</a:t>
            </a:r>
            <a:r>
              <a:rPr lang="en-US" sz="2000">
                <a:solidFill>
                  <a:srgbClr val="000000"/>
                </a:solidFill>
                <a:latin typeface="Calibri (MS)"/>
                <a:ea typeface="Calibri (MS)"/>
                <a:cs typeface="Calibri (MS)"/>
                <a:sym typeface="Calibri (MS)"/>
              </a:rPr>
              <a:t>he</a:t>
            </a:r>
            <a:r>
              <a:rPr lang="en-US" sz="2000">
                <a:solidFill>
                  <a:srgbClr val="000000"/>
                </a:solidFill>
                <a:latin typeface="Calibri (MS)"/>
                <a:ea typeface="Calibri (MS)"/>
                <a:cs typeface="Calibri (MS)"/>
                <a:sym typeface="Calibri (MS)"/>
              </a:rPr>
              <a:t> </a:t>
            </a:r>
            <a:r>
              <a:rPr lang="en-US" sz="2000">
                <a:solidFill>
                  <a:srgbClr val="000000"/>
                </a:solidFill>
                <a:latin typeface="Calibri (MS)"/>
                <a:ea typeface="Calibri (MS)"/>
                <a:cs typeface="Calibri (MS)"/>
                <a:sym typeface="Calibri (MS)"/>
              </a:rPr>
              <a:t>gap</a:t>
            </a:r>
            <a:r>
              <a:rPr lang="en-US" sz="2000">
                <a:solidFill>
                  <a:srgbClr val="000000"/>
                </a:solidFill>
                <a:latin typeface="Calibri (MS)"/>
                <a:ea typeface="Calibri (MS)"/>
                <a:cs typeface="Calibri (MS)"/>
                <a:sym typeface="Calibri (MS)"/>
              </a:rPr>
              <a:t>: no daily utility app today acts as a </a:t>
            </a:r>
            <a:r>
              <a:rPr lang="en-US" b="true" sz="2000">
                <a:solidFill>
                  <a:srgbClr val="000000"/>
                </a:solidFill>
                <a:latin typeface="Calibri (MS) Bold"/>
                <a:ea typeface="Calibri (MS) Bold"/>
                <a:cs typeface="Calibri (MS) Bold"/>
                <a:sym typeface="Calibri (MS) Bold"/>
              </a:rPr>
              <a:t>proactive co-pilot</a:t>
            </a:r>
            <a:r>
              <a:rPr lang="en-US" sz="2000">
                <a:solidFill>
                  <a:srgbClr val="000000"/>
                </a:solidFill>
                <a:latin typeface="Calibri (MS)"/>
                <a:ea typeface="Calibri (MS)"/>
                <a:cs typeface="Calibri (MS)"/>
                <a:sym typeface="Calibri (MS)"/>
              </a:rPr>
              <a:t> that protects your </a:t>
            </a:r>
            <a:r>
              <a:rPr lang="en-US" sz="2000" i="true">
                <a:solidFill>
                  <a:srgbClr val="000000"/>
                </a:solidFill>
                <a:latin typeface="Calibri (MS) Italics"/>
                <a:ea typeface="Calibri (MS) Italics"/>
                <a:cs typeface="Calibri (MS) Italics"/>
                <a:sym typeface="Calibri (MS) Italics"/>
              </a:rPr>
              <a:t>actual</a:t>
            </a:r>
            <a:r>
              <a:rPr lang="en-US" sz="2000">
                <a:solidFill>
                  <a:srgbClr val="000000"/>
                </a:solidFill>
                <a:latin typeface="Calibri (MS)"/>
                <a:ea typeface="Calibri (MS)"/>
                <a:cs typeface="Calibri (MS)"/>
                <a:sym typeface="Calibri (MS)"/>
              </a:rPr>
              <a:t> day from being derailed by micro-distractions and urban friction.</a:t>
            </a:r>
          </a:p>
        </p:txBody>
      </p:sp>
      <p:sp>
        <p:nvSpPr>
          <p:cNvPr name="TextBox 28" id="28"/>
          <p:cNvSpPr txBox="true"/>
          <p:nvPr/>
        </p:nvSpPr>
        <p:spPr>
          <a:xfrm rot="-1537735">
            <a:off x="6702453" y="2639966"/>
            <a:ext cx="1755577" cy="447675"/>
          </a:xfrm>
          <a:prstGeom prst="rect">
            <a:avLst/>
          </a:prstGeom>
        </p:spPr>
        <p:txBody>
          <a:bodyPr anchor="t" rtlCol="false" tIns="0" lIns="0" bIns="0" rIns="0">
            <a:spAutoFit/>
          </a:bodyPr>
          <a:lstStyle/>
          <a:p>
            <a:pPr algn="ctr">
              <a:lnSpc>
                <a:spcPts val="3240"/>
              </a:lnSpc>
              <a:spcBef>
                <a:spcPct val="0"/>
              </a:spcBef>
            </a:pPr>
            <a:r>
              <a:rPr lang="en-US" sz="2700">
                <a:solidFill>
                  <a:srgbClr val="E81B25"/>
                </a:solidFill>
                <a:latin typeface="Horizon"/>
                <a:ea typeface="Horizon"/>
                <a:cs typeface="Horizon"/>
                <a:sym typeface="Horizon"/>
              </a:rPr>
              <a:t>STATIC</a:t>
            </a:r>
          </a:p>
        </p:txBody>
      </p:sp>
      <p:sp>
        <p:nvSpPr>
          <p:cNvPr name="TextBox 29" id="29"/>
          <p:cNvSpPr txBox="true"/>
          <p:nvPr/>
        </p:nvSpPr>
        <p:spPr>
          <a:xfrm rot="-1566942">
            <a:off x="9536230" y="8780924"/>
            <a:ext cx="2745638" cy="447675"/>
          </a:xfrm>
          <a:prstGeom prst="rect">
            <a:avLst/>
          </a:prstGeom>
        </p:spPr>
        <p:txBody>
          <a:bodyPr anchor="t" rtlCol="false" tIns="0" lIns="0" bIns="0" rIns="0">
            <a:spAutoFit/>
          </a:bodyPr>
          <a:lstStyle/>
          <a:p>
            <a:pPr algn="ctr">
              <a:lnSpc>
                <a:spcPts val="3240"/>
              </a:lnSpc>
              <a:spcBef>
                <a:spcPct val="0"/>
              </a:spcBef>
            </a:pPr>
            <a:r>
              <a:rPr lang="en-US" sz="2700">
                <a:solidFill>
                  <a:srgbClr val="E81B25"/>
                </a:solidFill>
                <a:latin typeface="Horizon"/>
                <a:ea typeface="Horizon"/>
                <a:cs typeface="Horizon"/>
                <a:sym typeface="Horizon"/>
              </a:rPr>
              <a:t>mANUAL</a:t>
            </a:r>
          </a:p>
        </p:txBody>
      </p:sp>
      <p:sp>
        <p:nvSpPr>
          <p:cNvPr name="TextBox 30" id="30"/>
          <p:cNvSpPr txBox="true"/>
          <p:nvPr/>
        </p:nvSpPr>
        <p:spPr>
          <a:xfrm rot="1884440">
            <a:off x="9598954" y="2640883"/>
            <a:ext cx="2745638" cy="447675"/>
          </a:xfrm>
          <a:prstGeom prst="rect">
            <a:avLst/>
          </a:prstGeom>
        </p:spPr>
        <p:txBody>
          <a:bodyPr anchor="t" rtlCol="false" tIns="0" lIns="0" bIns="0" rIns="0">
            <a:spAutoFit/>
          </a:bodyPr>
          <a:lstStyle/>
          <a:p>
            <a:pPr algn="ctr">
              <a:lnSpc>
                <a:spcPts val="3240"/>
              </a:lnSpc>
              <a:spcBef>
                <a:spcPct val="0"/>
              </a:spcBef>
            </a:pPr>
            <a:r>
              <a:rPr lang="en-US" sz="2700">
                <a:solidFill>
                  <a:srgbClr val="E81B25"/>
                </a:solidFill>
                <a:latin typeface="Horizon"/>
                <a:ea typeface="Horizon"/>
                <a:cs typeface="Horizon"/>
                <a:sym typeface="Horizon"/>
              </a:rPr>
              <a:t>GENERIC</a:t>
            </a:r>
          </a:p>
        </p:txBody>
      </p:sp>
      <p:grpSp>
        <p:nvGrpSpPr>
          <p:cNvPr name="Group 31" id="31"/>
          <p:cNvGrpSpPr/>
          <p:nvPr/>
        </p:nvGrpSpPr>
        <p:grpSpPr>
          <a:xfrm rot="0">
            <a:off x="1066800" y="481584"/>
            <a:ext cx="2926080" cy="512064"/>
            <a:chOff x="0" y="0"/>
            <a:chExt cx="3901440" cy="682752"/>
          </a:xfrm>
        </p:grpSpPr>
        <p:sp>
          <p:nvSpPr>
            <p:cNvPr name="Freeform 32" id="32"/>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11">
                <a:alphaModFix amt="0"/>
              </a:blip>
              <a:stretch>
                <a:fillRect l="-30433" t="-718402" r="-33200" b="-116648"/>
              </a:stretch>
            </a:blipFill>
          </p:spPr>
        </p:sp>
        <p:sp>
          <p:nvSpPr>
            <p:cNvPr name="TextBox 33" id="33"/>
            <p:cNvSpPr txBox="true"/>
            <p:nvPr/>
          </p:nvSpPr>
          <p:spPr>
            <a:xfrm>
              <a:off x="0" y="-38100"/>
              <a:ext cx="3901440" cy="720852"/>
            </a:xfrm>
            <a:prstGeom prst="rect">
              <a:avLst/>
            </a:prstGeom>
          </p:spPr>
          <p:txBody>
            <a:bodyPr anchor="ctr" rtlCol="false" tIns="0" lIns="0" bIns="0" rIns="0"/>
            <a:lstStyle/>
            <a:p>
              <a:pPr algn="ctr">
                <a:lnSpc>
                  <a:spcPts val="1800"/>
                </a:lnSpc>
              </a:pPr>
            </a:p>
          </p:txBody>
        </p:sp>
      </p:grpSp>
      <p:grpSp>
        <p:nvGrpSpPr>
          <p:cNvPr name="Group 34" id="34"/>
          <p:cNvGrpSpPr/>
          <p:nvPr/>
        </p:nvGrpSpPr>
        <p:grpSpPr>
          <a:xfrm rot="0">
            <a:off x="914400" y="329184"/>
            <a:ext cx="2945130" cy="531114"/>
            <a:chOff x="0" y="0"/>
            <a:chExt cx="3926840" cy="708152"/>
          </a:xfrm>
        </p:grpSpPr>
        <p:sp>
          <p:nvSpPr>
            <p:cNvPr name="Freeform 35" id="35"/>
            <p:cNvSpPr/>
            <p:nvPr/>
          </p:nvSpPr>
          <p:spPr>
            <a:xfrm flipH="false" flipV="false" rot="0">
              <a:off x="12700" y="1270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11"/>
              <a:stretch>
                <a:fillRect l="-30433" t="-718402" r="-33200" b="-116648"/>
              </a:stretch>
            </a:blipFill>
          </p:spPr>
        </p:sp>
        <p:sp>
          <p:nvSpPr>
            <p:cNvPr name="Freeform 36" id="36"/>
            <p:cNvSpPr/>
            <p:nvPr/>
          </p:nvSpPr>
          <p:spPr>
            <a:xfrm flipH="false" flipV="false" rot="0">
              <a:off x="0" y="0"/>
              <a:ext cx="3926840" cy="708152"/>
            </a:xfrm>
            <a:custGeom>
              <a:avLst/>
              <a:gdLst/>
              <a:ahLst/>
              <a:cxnLst/>
              <a:rect r="r" b="b" t="t" l="l"/>
              <a:pathLst>
                <a:path h="708152" w="3926840">
                  <a:moveTo>
                    <a:pt x="12700" y="0"/>
                  </a:moveTo>
                  <a:lnTo>
                    <a:pt x="3914140" y="0"/>
                  </a:lnTo>
                  <a:cubicBezTo>
                    <a:pt x="3921125" y="0"/>
                    <a:pt x="3926840" y="5715"/>
                    <a:pt x="3926840" y="12700"/>
                  </a:cubicBezTo>
                  <a:lnTo>
                    <a:pt x="3926840" y="695452"/>
                  </a:lnTo>
                  <a:cubicBezTo>
                    <a:pt x="3926840" y="702437"/>
                    <a:pt x="3921125" y="708152"/>
                    <a:pt x="3914140" y="708152"/>
                  </a:cubicBezTo>
                  <a:lnTo>
                    <a:pt x="12700" y="708152"/>
                  </a:lnTo>
                  <a:cubicBezTo>
                    <a:pt x="5715" y="708152"/>
                    <a:pt x="0" y="702437"/>
                    <a:pt x="0" y="695452"/>
                  </a:cubicBezTo>
                  <a:lnTo>
                    <a:pt x="0" y="12700"/>
                  </a:lnTo>
                  <a:cubicBezTo>
                    <a:pt x="0" y="5715"/>
                    <a:pt x="5715" y="0"/>
                    <a:pt x="12700" y="0"/>
                  </a:cubicBezTo>
                  <a:moveTo>
                    <a:pt x="12700" y="25400"/>
                  </a:moveTo>
                  <a:lnTo>
                    <a:pt x="12700" y="12700"/>
                  </a:lnTo>
                  <a:lnTo>
                    <a:pt x="25400" y="12700"/>
                  </a:lnTo>
                  <a:lnTo>
                    <a:pt x="25400" y="695452"/>
                  </a:lnTo>
                  <a:lnTo>
                    <a:pt x="12700" y="695452"/>
                  </a:lnTo>
                  <a:lnTo>
                    <a:pt x="12700" y="682752"/>
                  </a:lnTo>
                  <a:lnTo>
                    <a:pt x="3914140" y="682752"/>
                  </a:lnTo>
                  <a:lnTo>
                    <a:pt x="3914140" y="695452"/>
                  </a:lnTo>
                  <a:lnTo>
                    <a:pt x="3901440" y="695452"/>
                  </a:lnTo>
                  <a:lnTo>
                    <a:pt x="3901440" y="12700"/>
                  </a:lnTo>
                  <a:lnTo>
                    <a:pt x="3914140" y="12700"/>
                  </a:lnTo>
                  <a:lnTo>
                    <a:pt x="3914140" y="25400"/>
                  </a:lnTo>
                  <a:lnTo>
                    <a:pt x="12700" y="25400"/>
                  </a:lnTo>
                  <a:close/>
                </a:path>
              </a:pathLst>
            </a:custGeom>
            <a:solidFill>
              <a:srgbClr val="0077A8"/>
            </a:solid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7050" cy="147066"/>
            <a:chOff x="0" y="0"/>
            <a:chExt cx="24409400" cy="196088"/>
          </a:xfrm>
        </p:grpSpPr>
        <p:sp>
          <p:nvSpPr>
            <p:cNvPr name="Freeform 3" id="3"/>
            <p:cNvSpPr/>
            <p:nvPr/>
          </p:nvSpPr>
          <p:spPr>
            <a:xfrm flipH="false" flipV="false" rot="0">
              <a:off x="12700" y="12700"/>
              <a:ext cx="24384000" cy="170688"/>
            </a:xfrm>
            <a:custGeom>
              <a:avLst/>
              <a:gdLst/>
              <a:ahLst/>
              <a:cxnLst/>
              <a:rect r="r" b="b" t="t" l="l"/>
              <a:pathLst>
                <a:path h="170688" w="24384000">
                  <a:moveTo>
                    <a:pt x="0" y="0"/>
                  </a:moveTo>
                  <a:lnTo>
                    <a:pt x="24384000" y="0"/>
                  </a:lnTo>
                  <a:lnTo>
                    <a:pt x="24384000" y="170688"/>
                  </a:lnTo>
                  <a:lnTo>
                    <a:pt x="0" y="170688"/>
                  </a:lnTo>
                  <a:close/>
                </a:path>
              </a:pathLst>
            </a:custGeom>
            <a:solidFill>
              <a:srgbClr val="00B4D8"/>
            </a:solidFill>
          </p:spPr>
        </p:sp>
        <p:sp>
          <p:nvSpPr>
            <p:cNvPr name="Freeform 4" id="4"/>
            <p:cNvSpPr/>
            <p:nvPr/>
          </p:nvSpPr>
          <p:spPr>
            <a:xfrm flipH="false" flipV="false" rot="0">
              <a:off x="0" y="0"/>
              <a:ext cx="24409400" cy="196088"/>
            </a:xfrm>
            <a:custGeom>
              <a:avLst/>
              <a:gdLst/>
              <a:ahLst/>
              <a:cxnLst/>
              <a:rect r="r" b="b" t="t" l="l"/>
              <a:pathLst>
                <a:path h="196088" w="24409400">
                  <a:moveTo>
                    <a:pt x="12700" y="0"/>
                  </a:moveTo>
                  <a:lnTo>
                    <a:pt x="24396700" y="0"/>
                  </a:lnTo>
                  <a:cubicBezTo>
                    <a:pt x="24403686" y="0"/>
                    <a:pt x="24409400" y="5715"/>
                    <a:pt x="24409400" y="12700"/>
                  </a:cubicBezTo>
                  <a:lnTo>
                    <a:pt x="24409400" y="183388"/>
                  </a:lnTo>
                  <a:cubicBezTo>
                    <a:pt x="24409400" y="190373"/>
                    <a:pt x="24403686" y="196088"/>
                    <a:pt x="24396700" y="196088"/>
                  </a:cubicBezTo>
                  <a:lnTo>
                    <a:pt x="12700" y="196088"/>
                  </a:lnTo>
                  <a:cubicBezTo>
                    <a:pt x="5715" y="196088"/>
                    <a:pt x="0" y="190373"/>
                    <a:pt x="0" y="183388"/>
                  </a:cubicBezTo>
                  <a:lnTo>
                    <a:pt x="0" y="12700"/>
                  </a:lnTo>
                  <a:cubicBezTo>
                    <a:pt x="0" y="5715"/>
                    <a:pt x="5715" y="0"/>
                    <a:pt x="12700" y="0"/>
                  </a:cubicBezTo>
                  <a:moveTo>
                    <a:pt x="12700" y="25400"/>
                  </a:moveTo>
                  <a:lnTo>
                    <a:pt x="12700" y="12700"/>
                  </a:lnTo>
                  <a:lnTo>
                    <a:pt x="25400" y="12700"/>
                  </a:lnTo>
                  <a:lnTo>
                    <a:pt x="25400" y="183388"/>
                  </a:lnTo>
                  <a:lnTo>
                    <a:pt x="12700" y="183388"/>
                  </a:lnTo>
                  <a:lnTo>
                    <a:pt x="12700" y="170688"/>
                  </a:lnTo>
                  <a:lnTo>
                    <a:pt x="24396700" y="170688"/>
                  </a:lnTo>
                  <a:lnTo>
                    <a:pt x="24396700" y="183388"/>
                  </a:lnTo>
                  <a:lnTo>
                    <a:pt x="24384000" y="183388"/>
                  </a:lnTo>
                  <a:lnTo>
                    <a:pt x="24384000" y="12700"/>
                  </a:lnTo>
                  <a:lnTo>
                    <a:pt x="24396700" y="12700"/>
                  </a:lnTo>
                  <a:lnTo>
                    <a:pt x="24396700" y="25400"/>
                  </a:lnTo>
                  <a:lnTo>
                    <a:pt x="12700" y="25400"/>
                  </a:lnTo>
                  <a:close/>
                </a:path>
              </a:pathLst>
            </a:custGeom>
            <a:solidFill>
              <a:srgbClr val="00B4D8"/>
            </a:solidFill>
          </p:spPr>
        </p:sp>
      </p:grpSp>
      <p:grpSp>
        <p:nvGrpSpPr>
          <p:cNvPr name="Group 5" id="5"/>
          <p:cNvGrpSpPr/>
          <p:nvPr/>
        </p:nvGrpSpPr>
        <p:grpSpPr>
          <a:xfrm rot="0">
            <a:off x="904875" y="319659"/>
            <a:ext cx="2945130" cy="531114"/>
            <a:chOff x="0" y="0"/>
            <a:chExt cx="3926840" cy="708152"/>
          </a:xfrm>
        </p:grpSpPr>
        <p:sp>
          <p:nvSpPr>
            <p:cNvPr name="Freeform 6" id="6"/>
            <p:cNvSpPr/>
            <p:nvPr/>
          </p:nvSpPr>
          <p:spPr>
            <a:xfrm flipH="false" flipV="false" rot="0">
              <a:off x="12700" y="12700"/>
              <a:ext cx="3901440" cy="682752"/>
            </a:xfrm>
            <a:custGeom>
              <a:avLst/>
              <a:gdLst/>
              <a:ahLst/>
              <a:cxnLst/>
              <a:rect r="r" b="b" t="t" l="l"/>
              <a:pathLst>
                <a:path h="682752" w="3901440">
                  <a:moveTo>
                    <a:pt x="0" y="0"/>
                  </a:moveTo>
                  <a:lnTo>
                    <a:pt x="3901440" y="0"/>
                  </a:lnTo>
                  <a:lnTo>
                    <a:pt x="3901440" y="682752"/>
                  </a:lnTo>
                  <a:lnTo>
                    <a:pt x="0" y="682752"/>
                  </a:lnTo>
                  <a:close/>
                </a:path>
              </a:pathLst>
            </a:custGeom>
            <a:solidFill>
              <a:srgbClr val="0077A8"/>
            </a:solidFill>
          </p:spPr>
        </p:sp>
        <p:sp>
          <p:nvSpPr>
            <p:cNvPr name="Freeform 7" id="7"/>
            <p:cNvSpPr/>
            <p:nvPr/>
          </p:nvSpPr>
          <p:spPr>
            <a:xfrm flipH="false" flipV="false" rot="0">
              <a:off x="0" y="0"/>
              <a:ext cx="3926840" cy="708152"/>
            </a:xfrm>
            <a:custGeom>
              <a:avLst/>
              <a:gdLst/>
              <a:ahLst/>
              <a:cxnLst/>
              <a:rect r="r" b="b" t="t" l="l"/>
              <a:pathLst>
                <a:path h="708152" w="3926840">
                  <a:moveTo>
                    <a:pt x="12700" y="0"/>
                  </a:moveTo>
                  <a:lnTo>
                    <a:pt x="3914140" y="0"/>
                  </a:lnTo>
                  <a:cubicBezTo>
                    <a:pt x="3921125" y="0"/>
                    <a:pt x="3926840" y="5715"/>
                    <a:pt x="3926840" y="12700"/>
                  </a:cubicBezTo>
                  <a:lnTo>
                    <a:pt x="3926840" y="695452"/>
                  </a:lnTo>
                  <a:cubicBezTo>
                    <a:pt x="3926840" y="702437"/>
                    <a:pt x="3921125" y="708152"/>
                    <a:pt x="3914140" y="708152"/>
                  </a:cubicBezTo>
                  <a:lnTo>
                    <a:pt x="12700" y="708152"/>
                  </a:lnTo>
                  <a:cubicBezTo>
                    <a:pt x="5715" y="708152"/>
                    <a:pt x="0" y="702437"/>
                    <a:pt x="0" y="695452"/>
                  </a:cubicBezTo>
                  <a:lnTo>
                    <a:pt x="0" y="12700"/>
                  </a:lnTo>
                  <a:cubicBezTo>
                    <a:pt x="0" y="5715"/>
                    <a:pt x="5715" y="0"/>
                    <a:pt x="12700" y="0"/>
                  </a:cubicBezTo>
                  <a:moveTo>
                    <a:pt x="12700" y="25400"/>
                  </a:moveTo>
                  <a:lnTo>
                    <a:pt x="12700" y="12700"/>
                  </a:lnTo>
                  <a:lnTo>
                    <a:pt x="25400" y="12700"/>
                  </a:lnTo>
                  <a:lnTo>
                    <a:pt x="25400" y="695452"/>
                  </a:lnTo>
                  <a:lnTo>
                    <a:pt x="12700" y="695452"/>
                  </a:lnTo>
                  <a:lnTo>
                    <a:pt x="12700" y="682752"/>
                  </a:lnTo>
                  <a:lnTo>
                    <a:pt x="3914140" y="682752"/>
                  </a:lnTo>
                  <a:lnTo>
                    <a:pt x="3914140" y="695452"/>
                  </a:lnTo>
                  <a:lnTo>
                    <a:pt x="3901440" y="695452"/>
                  </a:lnTo>
                  <a:lnTo>
                    <a:pt x="3901440" y="12700"/>
                  </a:lnTo>
                  <a:lnTo>
                    <a:pt x="3914140" y="12700"/>
                  </a:lnTo>
                  <a:lnTo>
                    <a:pt x="3914140" y="25400"/>
                  </a:lnTo>
                  <a:lnTo>
                    <a:pt x="12700" y="25400"/>
                  </a:lnTo>
                  <a:close/>
                </a:path>
              </a:pathLst>
            </a:custGeom>
            <a:solidFill>
              <a:srgbClr val="0077A8"/>
            </a:solidFill>
          </p:spPr>
        </p:sp>
      </p:grpSp>
      <p:grpSp>
        <p:nvGrpSpPr>
          <p:cNvPr name="Group 8" id="8"/>
          <p:cNvGrpSpPr/>
          <p:nvPr/>
        </p:nvGrpSpPr>
        <p:grpSpPr>
          <a:xfrm rot="0">
            <a:off x="914400" y="329184"/>
            <a:ext cx="2926080" cy="512064"/>
            <a:chOff x="0" y="0"/>
            <a:chExt cx="3901440" cy="682752"/>
          </a:xfrm>
        </p:grpSpPr>
        <p:sp>
          <p:nvSpPr>
            <p:cNvPr name="Freeform 9" id="9"/>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2">
                <a:alphaModFix amt="0"/>
              </a:blip>
              <a:stretch>
                <a:fillRect l="0" t="-61343" r="0" b="-61343"/>
              </a:stretch>
            </a:blipFill>
          </p:spPr>
        </p:sp>
        <p:sp>
          <p:nvSpPr>
            <p:cNvPr name="TextBox 10" id="10"/>
            <p:cNvSpPr txBox="true"/>
            <p:nvPr/>
          </p:nvSpPr>
          <p:spPr>
            <a:xfrm>
              <a:off x="0" y="-38100"/>
              <a:ext cx="3901440" cy="720852"/>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Idea</a:t>
              </a:r>
            </a:p>
          </p:txBody>
        </p:sp>
      </p:grpSp>
      <p:grpSp>
        <p:nvGrpSpPr>
          <p:cNvPr name="Group 11" id="11"/>
          <p:cNvGrpSpPr/>
          <p:nvPr/>
        </p:nvGrpSpPr>
        <p:grpSpPr>
          <a:xfrm rot="0">
            <a:off x="914400" y="1005840"/>
            <a:ext cx="16459200" cy="1287090"/>
            <a:chOff x="0" y="0"/>
            <a:chExt cx="21945600" cy="1716120"/>
          </a:xfrm>
        </p:grpSpPr>
        <p:sp>
          <p:nvSpPr>
            <p:cNvPr name="Freeform 12" id="12"/>
            <p:cNvSpPr/>
            <p:nvPr/>
          </p:nvSpPr>
          <p:spPr>
            <a:xfrm flipH="false" flipV="false" rot="0">
              <a:off x="0" y="0"/>
              <a:ext cx="21945600" cy="1716120"/>
            </a:xfrm>
            <a:custGeom>
              <a:avLst/>
              <a:gdLst/>
              <a:ahLst/>
              <a:cxnLst/>
              <a:rect r="r" b="b" t="t" l="l"/>
              <a:pathLst>
                <a:path h="1716120" w="21945600">
                  <a:moveTo>
                    <a:pt x="0" y="0"/>
                  </a:moveTo>
                  <a:lnTo>
                    <a:pt x="21945600" y="0"/>
                  </a:lnTo>
                  <a:lnTo>
                    <a:pt x="21945600" y="1716120"/>
                  </a:lnTo>
                  <a:lnTo>
                    <a:pt x="0" y="1716120"/>
                  </a:lnTo>
                  <a:close/>
                </a:path>
              </a:pathLst>
            </a:custGeom>
            <a:blipFill>
              <a:blip r:embed="rId2">
                <a:alphaModFix amt="0"/>
              </a:blip>
              <a:stretch>
                <a:fillRect l="0" t="-199442" r="0" b="-198903"/>
              </a:stretch>
            </a:blipFill>
          </p:spPr>
        </p:sp>
        <p:sp>
          <p:nvSpPr>
            <p:cNvPr name="TextBox 13" id="13"/>
            <p:cNvSpPr txBox="true"/>
            <p:nvPr/>
          </p:nvSpPr>
          <p:spPr>
            <a:xfrm>
              <a:off x="0" y="-123825"/>
              <a:ext cx="21945600" cy="1839945"/>
            </a:xfrm>
            <a:prstGeom prst="rect">
              <a:avLst/>
            </a:prstGeom>
          </p:spPr>
          <p:txBody>
            <a:bodyPr anchor="ctr" rtlCol="false" tIns="0" lIns="0" bIns="0" rIns="0"/>
            <a:lstStyle/>
            <a:p>
              <a:pPr algn="l">
                <a:lnSpc>
                  <a:spcPts val="7680"/>
                </a:lnSpc>
              </a:pPr>
              <a:r>
                <a:rPr lang="en-US" sz="6400" b="true">
                  <a:solidFill>
                    <a:srgbClr val="000000"/>
                  </a:solidFill>
                  <a:latin typeface="Calibri (MS) Bold"/>
                  <a:ea typeface="Calibri (MS) Bold"/>
                  <a:cs typeface="Calibri (MS) Bold"/>
                  <a:sym typeface="Calibri (MS) Bold"/>
                </a:rPr>
                <a:t>Our</a:t>
              </a:r>
              <a:r>
                <a:rPr lang="en-US" sz="6400" b="true">
                  <a:solidFill>
                    <a:srgbClr val="000000"/>
                  </a:solidFill>
                  <a:latin typeface="Calibri (MS) Bold"/>
                  <a:ea typeface="Calibri (MS) Bold"/>
                  <a:cs typeface="Calibri (MS) Bold"/>
                  <a:sym typeface="Calibri (MS) Bold"/>
                </a:rPr>
                <a:t> Solution</a:t>
              </a:r>
            </a:p>
          </p:txBody>
        </p:sp>
      </p:grpSp>
      <p:sp>
        <p:nvSpPr>
          <p:cNvPr name="TextBox 14" id="14"/>
          <p:cNvSpPr txBox="true"/>
          <p:nvPr/>
        </p:nvSpPr>
        <p:spPr>
          <a:xfrm rot="0">
            <a:off x="904875" y="2063221"/>
            <a:ext cx="16057112" cy="1285875"/>
          </a:xfrm>
          <a:prstGeom prst="rect">
            <a:avLst/>
          </a:prstGeom>
        </p:spPr>
        <p:txBody>
          <a:bodyPr anchor="t" rtlCol="false" tIns="0" lIns="0" bIns="0" rIns="0">
            <a:spAutoFit/>
          </a:bodyPr>
          <a:lstStyle/>
          <a:p>
            <a:pPr algn="ctr">
              <a:lnSpc>
                <a:spcPts val="3240"/>
              </a:lnSpc>
            </a:pPr>
            <a:r>
              <a:rPr lang="en-US" sz="2700">
                <a:solidFill>
                  <a:srgbClr val="000000"/>
                </a:solidFill>
                <a:latin typeface="Calibri (MS)"/>
                <a:ea typeface="Calibri (MS)"/>
                <a:cs typeface="Calibri (MS)"/>
                <a:sym typeface="Calibri (MS)"/>
              </a:rPr>
              <a:t>Pulse is </a:t>
            </a:r>
            <a:r>
              <a:rPr lang="en-US" sz="2700">
                <a:solidFill>
                  <a:srgbClr val="000000"/>
                </a:solidFill>
                <a:latin typeface="Calibri (MS)"/>
                <a:ea typeface="Calibri (MS)"/>
                <a:cs typeface="Calibri (MS)"/>
                <a:sym typeface="Calibri (MS)"/>
              </a:rPr>
              <a:t>a proactive </a:t>
            </a:r>
            <a:r>
              <a:rPr lang="en-US" b="true" sz="2700">
                <a:solidFill>
                  <a:srgbClr val="000000"/>
                </a:solidFill>
                <a:latin typeface="Calibri (MS) Bold"/>
                <a:ea typeface="Calibri (MS) Bold"/>
                <a:cs typeface="Calibri (MS) Bold"/>
                <a:sym typeface="Calibri (MS) Bold"/>
              </a:rPr>
              <a:t>Digital Twin</a:t>
            </a:r>
            <a:r>
              <a:rPr lang="en-US" sz="2700">
                <a:solidFill>
                  <a:srgbClr val="000000"/>
                </a:solidFill>
                <a:latin typeface="Calibri (MS)"/>
                <a:ea typeface="Calibri (MS)"/>
                <a:cs typeface="Calibri (MS)"/>
                <a:sym typeface="Calibri (MS)"/>
              </a:rPr>
              <a:t> on your phone that predicts when your day is about to fall apart—and fixes it before you feel the damage.</a:t>
            </a:r>
          </a:p>
          <a:p>
            <a:pPr algn="l">
              <a:lnSpc>
                <a:spcPts val="3240"/>
              </a:lnSpc>
            </a:pPr>
          </a:p>
        </p:txBody>
      </p:sp>
      <p:sp>
        <p:nvSpPr>
          <p:cNvPr name="TextBox 15" id="15"/>
          <p:cNvSpPr txBox="true"/>
          <p:nvPr/>
        </p:nvSpPr>
        <p:spPr>
          <a:xfrm rot="0">
            <a:off x="319947" y="2725208"/>
            <a:ext cx="17648107" cy="4381500"/>
          </a:xfrm>
          <a:prstGeom prst="rect">
            <a:avLst/>
          </a:prstGeom>
        </p:spPr>
        <p:txBody>
          <a:bodyPr anchor="t" rtlCol="false" tIns="0" lIns="0" bIns="0" rIns="0">
            <a:spAutoFit/>
          </a:bodyPr>
          <a:lstStyle/>
          <a:p>
            <a:pPr algn="ctr">
              <a:lnSpc>
                <a:spcPts val="3240"/>
              </a:lnSpc>
              <a:spcBef>
                <a:spcPct val="0"/>
              </a:spcBef>
            </a:pPr>
          </a:p>
          <a:p>
            <a:pPr algn="l" marL="431801" indent="-215900" lvl="1">
              <a:lnSpc>
                <a:spcPts val="2400"/>
              </a:lnSpc>
              <a:buFont typeface="Arial"/>
              <a:buChar char="•"/>
            </a:pPr>
            <a:r>
              <a:rPr lang="en-US" sz="2000">
                <a:solidFill>
                  <a:srgbClr val="000000"/>
                </a:solidFill>
                <a:latin typeface="Canva Sans"/>
                <a:ea typeface="Canva Sans"/>
                <a:cs typeface="Canva Sans"/>
                <a:sym typeface="Canva Sans"/>
              </a:rPr>
              <a:t>Every few minutes, a background </a:t>
            </a:r>
            <a:r>
              <a:rPr lang="en-US" b="true" sz="2000">
                <a:solidFill>
                  <a:srgbClr val="000000"/>
                </a:solidFill>
                <a:latin typeface="Canva Sans Bold"/>
                <a:ea typeface="Canva Sans Bold"/>
                <a:cs typeface="Canva Sans Bold"/>
                <a:sym typeface="Canva Sans Bold"/>
              </a:rPr>
              <a:t>Heartbeat Loop</a:t>
            </a:r>
            <a:r>
              <a:rPr lang="en-US" sz="2000">
                <a:solidFill>
                  <a:srgbClr val="000000"/>
                </a:solidFill>
                <a:latin typeface="Canva Sans"/>
                <a:ea typeface="Canva Sans"/>
                <a:cs typeface="Canva Sans"/>
                <a:sym typeface="Canva Sans"/>
              </a:rPr>
              <a:t> quietly re-checks your reality: traffic, battery, apps, calendar, and time left.</a:t>
            </a:r>
            <a:r>
              <a:rPr lang="en-US" b="true" sz="2000">
                <a:solidFill>
                  <a:srgbClr val="000000"/>
                </a:solidFill>
                <a:latin typeface="Canva Sans Bold"/>
                <a:ea typeface="Canva Sans Bold"/>
                <a:cs typeface="Canva Sans Bold"/>
                <a:sym typeface="Canva Sans Bold"/>
              </a:rPr>
              <a:t> Event Driven arcitecture</a:t>
            </a:r>
            <a:r>
              <a:rPr lang="en-US" sz="2000">
                <a:solidFill>
                  <a:srgbClr val="000000"/>
                </a:solidFill>
                <a:latin typeface="Canva Sans"/>
                <a:ea typeface="Canva Sans"/>
                <a:cs typeface="Canva Sans"/>
                <a:sym typeface="Canva Sans"/>
              </a:rPr>
              <a:t> is implemented to trigger heartbeat on battery change, ETA change,etc</a:t>
            </a:r>
          </a:p>
          <a:p>
            <a:pPr algn="l" marL="431801" indent="-215900" lvl="1">
              <a:lnSpc>
                <a:spcPts val="2400"/>
              </a:lnSpc>
              <a:buFont typeface="Arial"/>
              <a:buChar char="•"/>
            </a:pPr>
            <a:r>
              <a:rPr lang="en-US" sz="2000">
                <a:solidFill>
                  <a:srgbClr val="000000"/>
                </a:solidFill>
                <a:latin typeface="Canva Sans"/>
                <a:ea typeface="Canva Sans"/>
                <a:cs typeface="Canva Sans"/>
                <a:sym typeface="Canva Sans"/>
              </a:rPr>
              <a:t>A</a:t>
            </a:r>
            <a:r>
              <a:rPr lang="en-US" b="true" sz="2000">
                <a:solidFill>
                  <a:srgbClr val="000000"/>
                </a:solidFill>
                <a:latin typeface="Canva Sans Bold"/>
                <a:ea typeface="Canva Sans Bold"/>
                <a:cs typeface="Canva Sans Bold"/>
                <a:sym typeface="Canva Sans Bold"/>
              </a:rPr>
              <a:t> 5-agent AI swarm </a:t>
            </a:r>
            <a:r>
              <a:rPr lang="en-US" sz="2000">
                <a:solidFill>
                  <a:srgbClr val="000000"/>
                </a:solidFill>
                <a:latin typeface="Canva Sans"/>
                <a:ea typeface="Canva Sans"/>
                <a:cs typeface="Canva Sans"/>
                <a:sym typeface="Canva Sans"/>
              </a:rPr>
              <a:t>behaves like microservices in your brain: one agent understands context, one scores risk, one plans, one intervenes, one reflects.</a:t>
            </a:r>
          </a:p>
          <a:p>
            <a:pPr algn="l" marL="431801" indent="-215900" lvl="1">
              <a:lnSpc>
                <a:spcPts val="2400"/>
              </a:lnSpc>
              <a:buFont typeface="Arial"/>
              <a:buChar char="•"/>
            </a:pPr>
            <a:r>
              <a:rPr lang="en-US" sz="2000">
                <a:solidFill>
                  <a:srgbClr val="000000"/>
                </a:solidFill>
                <a:latin typeface="Canva Sans"/>
                <a:ea typeface="Canva Sans"/>
                <a:cs typeface="Canva Sans"/>
                <a:sym typeface="Canva Sans"/>
              </a:rPr>
              <a:t>At night, </a:t>
            </a:r>
            <a:r>
              <a:rPr lang="en-US" b="true" sz="2000">
                <a:solidFill>
                  <a:srgbClr val="000000"/>
                </a:solidFill>
                <a:latin typeface="Canva Sans Bold"/>
                <a:ea typeface="Canva Sans Bold"/>
                <a:cs typeface="Canva Sans Bold"/>
                <a:sym typeface="Canva Sans Bold"/>
              </a:rPr>
              <a:t>a Reflection cycle </a:t>
            </a:r>
            <a:r>
              <a:rPr lang="en-US" sz="2000">
                <a:solidFill>
                  <a:srgbClr val="000000"/>
                </a:solidFill>
                <a:latin typeface="Canva Sans"/>
                <a:ea typeface="Canva Sans"/>
                <a:cs typeface="Canva Sans"/>
                <a:sym typeface="Canva Sans"/>
              </a:rPr>
              <a:t>learns from the day (what you ignored, where you were late, when you doomscrolled) and updates your personal “Soul” model, so tomorrow it behaves more like you and less like a generic productivity app</a:t>
            </a:r>
          </a:p>
          <a:p>
            <a:pPr algn="l" marL="431801" indent="-215900" lvl="1">
              <a:lnSpc>
                <a:spcPts val="2400"/>
              </a:lnSpc>
              <a:buFont typeface="Arial"/>
              <a:buChar char="•"/>
            </a:pPr>
            <a:r>
              <a:rPr lang="en-US" b="true" sz="2000">
                <a:solidFill>
                  <a:srgbClr val="000000"/>
                </a:solidFill>
                <a:latin typeface="Canva Sans Bold"/>
                <a:ea typeface="Canva Sans Bold"/>
                <a:cs typeface="Canva Sans Bold"/>
                <a:sym typeface="Canva Sans Bold"/>
              </a:rPr>
              <a:t>Ask Pulse: </a:t>
            </a:r>
            <a:r>
              <a:rPr lang="en-US" sz="2000">
                <a:solidFill>
                  <a:srgbClr val="000000"/>
                </a:solidFill>
                <a:latin typeface="Canva Sans"/>
                <a:ea typeface="Canva Sans"/>
                <a:cs typeface="Canva Sans"/>
                <a:sym typeface="Canva Sans"/>
              </a:rPr>
              <a:t>At any moment, you can pull the system forward with a simple question—“Can I finish this assignment before my 6 PM lab?”—and Pulse runs the same agents on demand to answer with a realistic, context-aware plan instead of a generic suggestion</a:t>
            </a:r>
          </a:p>
          <a:p>
            <a:pPr algn="l" marL="431801" indent="-215900" lvl="1">
              <a:lnSpc>
                <a:spcPts val="2400"/>
              </a:lnSpc>
              <a:buFont typeface="Arial"/>
              <a:buChar char="•"/>
            </a:pPr>
            <a:r>
              <a:rPr lang="en-US" b="true" sz="2000">
                <a:solidFill>
                  <a:srgbClr val="000000"/>
                </a:solidFill>
                <a:latin typeface="Canva Sans Bold"/>
                <a:ea typeface="Canva Sans Bold"/>
                <a:cs typeface="Canva Sans Bold"/>
                <a:sym typeface="Canva Sans Bold"/>
              </a:rPr>
              <a:t>Notification Agent:</a:t>
            </a:r>
            <a:r>
              <a:rPr lang="en-US" sz="2000">
                <a:solidFill>
                  <a:srgbClr val="000000"/>
                </a:solidFill>
                <a:latin typeface="Canva Sans"/>
                <a:ea typeface="Canva Sans"/>
                <a:cs typeface="Canva Sans"/>
                <a:sym typeface="Canva Sans"/>
              </a:rPr>
              <a:t> A dedicated notification agent sits between Android’s notification stream and your attention, turning noisy pings into curated, context-aware alerts using notification-listener and assistant capabilities with user-granted permission</a:t>
            </a:r>
          </a:p>
          <a:p>
            <a:pPr algn="l" marL="431801" indent="-215900" lvl="1">
              <a:lnSpc>
                <a:spcPts val="2400"/>
              </a:lnSpc>
              <a:buFont typeface="Arial"/>
              <a:buChar char="•"/>
            </a:pPr>
            <a:r>
              <a:rPr lang="en-US" b="true" sz="2000">
                <a:solidFill>
                  <a:srgbClr val="000000"/>
                </a:solidFill>
                <a:latin typeface="Canva Sans Bold"/>
                <a:ea typeface="Canva Sans Bold"/>
                <a:cs typeface="Canva Sans Bold"/>
                <a:sym typeface="Canva Sans Bold"/>
              </a:rPr>
              <a:t>Pulse’s digital twin</a:t>
            </a:r>
            <a:r>
              <a:rPr lang="en-US" sz="2000">
                <a:solidFill>
                  <a:srgbClr val="000000"/>
                </a:solidFill>
                <a:latin typeface="Canva Sans"/>
                <a:ea typeface="Canva Sans"/>
                <a:cs typeface="Canva Sans"/>
                <a:sym typeface="Canva Sans"/>
              </a:rPr>
              <a:t> is a live, mini-map of your day that shows where you are, where you’re supposed to be, and how “at risk” each upcoming event is based on traffic, battery, and app usage. Instead of a static calendar, you see a color-coded timeline that updates in real time as your reality drifts from your plan</a:t>
            </a:r>
          </a:p>
        </p:txBody>
      </p:sp>
      <p:sp>
        <p:nvSpPr>
          <p:cNvPr name="Freeform 16" id="16"/>
          <p:cNvSpPr/>
          <p:nvPr/>
        </p:nvSpPr>
        <p:spPr>
          <a:xfrm flipH="false" flipV="false" rot="0">
            <a:off x="4236292" y="6938383"/>
            <a:ext cx="9815417" cy="3348617"/>
          </a:xfrm>
          <a:custGeom>
            <a:avLst/>
            <a:gdLst/>
            <a:ahLst/>
            <a:cxnLst/>
            <a:rect r="r" b="b" t="t" l="l"/>
            <a:pathLst>
              <a:path h="3348617" w="9815417">
                <a:moveTo>
                  <a:pt x="0" y="0"/>
                </a:moveTo>
                <a:lnTo>
                  <a:pt x="9815416" y="0"/>
                </a:lnTo>
                <a:lnTo>
                  <a:pt x="9815416" y="3348617"/>
                </a:lnTo>
                <a:lnTo>
                  <a:pt x="0" y="3348617"/>
                </a:lnTo>
                <a:lnTo>
                  <a:pt x="0" y="0"/>
                </a:lnTo>
                <a:close/>
              </a:path>
            </a:pathLst>
          </a:custGeom>
          <a:blipFill>
            <a:blip r:embed="rId3"/>
            <a:stretch>
              <a:fillRect l="0" t="-33646" r="0" b="-61643"/>
            </a:stretch>
          </a:blipFill>
        </p:spPr>
      </p:sp>
      <p:grpSp>
        <p:nvGrpSpPr>
          <p:cNvPr name="Group 17" id="17"/>
          <p:cNvGrpSpPr/>
          <p:nvPr/>
        </p:nvGrpSpPr>
        <p:grpSpPr>
          <a:xfrm rot="0">
            <a:off x="1066800" y="481584"/>
            <a:ext cx="2926080" cy="512064"/>
            <a:chOff x="0" y="0"/>
            <a:chExt cx="3901440" cy="682752"/>
          </a:xfrm>
        </p:grpSpPr>
        <p:sp>
          <p:nvSpPr>
            <p:cNvPr name="Freeform 18" id="18"/>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4">
                <a:alphaModFix amt="0"/>
              </a:blip>
              <a:stretch>
                <a:fillRect l="-30433" t="-718402" r="-33200" b="-116648"/>
              </a:stretch>
            </a:blipFill>
          </p:spPr>
        </p:sp>
        <p:sp>
          <p:nvSpPr>
            <p:cNvPr name="TextBox 19" id="19"/>
            <p:cNvSpPr txBox="true"/>
            <p:nvPr/>
          </p:nvSpPr>
          <p:spPr>
            <a:xfrm>
              <a:off x="0" y="-38100"/>
              <a:ext cx="3901440" cy="720852"/>
            </a:xfrm>
            <a:prstGeom prst="rect">
              <a:avLst/>
            </a:prstGeom>
          </p:spPr>
          <p:txBody>
            <a:bodyPr anchor="ctr" rtlCol="false" tIns="0" lIns="0" bIns="0" rIns="0"/>
            <a:lstStyle/>
            <a:p>
              <a:pPr algn="ctr">
                <a:lnSpc>
                  <a:spcPts val="1800"/>
                </a:lnSpc>
              </a:pPr>
            </a:p>
          </p:txBody>
        </p:sp>
      </p:grpSp>
      <p:grpSp>
        <p:nvGrpSpPr>
          <p:cNvPr name="Group 20" id="20"/>
          <p:cNvGrpSpPr/>
          <p:nvPr/>
        </p:nvGrpSpPr>
        <p:grpSpPr>
          <a:xfrm rot="0">
            <a:off x="895350" y="329184"/>
            <a:ext cx="2945130" cy="531114"/>
            <a:chOff x="0" y="0"/>
            <a:chExt cx="3926840" cy="708152"/>
          </a:xfrm>
        </p:grpSpPr>
        <p:sp>
          <p:nvSpPr>
            <p:cNvPr name="Freeform 21" id="21"/>
            <p:cNvSpPr/>
            <p:nvPr/>
          </p:nvSpPr>
          <p:spPr>
            <a:xfrm flipH="false" flipV="false" rot="0">
              <a:off x="12700" y="1270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4"/>
              <a:stretch>
                <a:fillRect l="-30433" t="-718402" r="-33200" b="-116648"/>
              </a:stretch>
            </a:blipFill>
          </p:spPr>
        </p:sp>
        <p:sp>
          <p:nvSpPr>
            <p:cNvPr name="Freeform 22" id="22"/>
            <p:cNvSpPr/>
            <p:nvPr/>
          </p:nvSpPr>
          <p:spPr>
            <a:xfrm flipH="false" flipV="false" rot="0">
              <a:off x="0" y="0"/>
              <a:ext cx="3926840" cy="708152"/>
            </a:xfrm>
            <a:custGeom>
              <a:avLst/>
              <a:gdLst/>
              <a:ahLst/>
              <a:cxnLst/>
              <a:rect r="r" b="b" t="t" l="l"/>
              <a:pathLst>
                <a:path h="708152" w="3926840">
                  <a:moveTo>
                    <a:pt x="12700" y="0"/>
                  </a:moveTo>
                  <a:lnTo>
                    <a:pt x="3914140" y="0"/>
                  </a:lnTo>
                  <a:cubicBezTo>
                    <a:pt x="3921125" y="0"/>
                    <a:pt x="3926840" y="5715"/>
                    <a:pt x="3926840" y="12700"/>
                  </a:cubicBezTo>
                  <a:lnTo>
                    <a:pt x="3926840" y="695452"/>
                  </a:lnTo>
                  <a:cubicBezTo>
                    <a:pt x="3926840" y="702437"/>
                    <a:pt x="3921125" y="708152"/>
                    <a:pt x="3914140" y="708152"/>
                  </a:cubicBezTo>
                  <a:lnTo>
                    <a:pt x="12700" y="708152"/>
                  </a:lnTo>
                  <a:cubicBezTo>
                    <a:pt x="5715" y="708152"/>
                    <a:pt x="0" y="702437"/>
                    <a:pt x="0" y="695452"/>
                  </a:cubicBezTo>
                  <a:lnTo>
                    <a:pt x="0" y="12700"/>
                  </a:lnTo>
                  <a:cubicBezTo>
                    <a:pt x="0" y="5715"/>
                    <a:pt x="5715" y="0"/>
                    <a:pt x="12700" y="0"/>
                  </a:cubicBezTo>
                  <a:moveTo>
                    <a:pt x="12700" y="25400"/>
                  </a:moveTo>
                  <a:lnTo>
                    <a:pt x="12700" y="12700"/>
                  </a:lnTo>
                  <a:lnTo>
                    <a:pt x="25400" y="12700"/>
                  </a:lnTo>
                  <a:lnTo>
                    <a:pt x="25400" y="695452"/>
                  </a:lnTo>
                  <a:lnTo>
                    <a:pt x="12700" y="695452"/>
                  </a:lnTo>
                  <a:lnTo>
                    <a:pt x="12700" y="682752"/>
                  </a:lnTo>
                  <a:lnTo>
                    <a:pt x="3914140" y="682752"/>
                  </a:lnTo>
                  <a:lnTo>
                    <a:pt x="3914140" y="695452"/>
                  </a:lnTo>
                  <a:lnTo>
                    <a:pt x="3901440" y="695452"/>
                  </a:lnTo>
                  <a:lnTo>
                    <a:pt x="3901440" y="12700"/>
                  </a:lnTo>
                  <a:lnTo>
                    <a:pt x="3914140" y="12700"/>
                  </a:lnTo>
                  <a:lnTo>
                    <a:pt x="3914140" y="25400"/>
                  </a:lnTo>
                  <a:lnTo>
                    <a:pt x="12700" y="25400"/>
                  </a:lnTo>
                  <a:close/>
                </a:path>
              </a:pathLst>
            </a:custGeom>
            <a:solidFill>
              <a:srgbClr val="0077A8"/>
            </a:solid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7050" cy="147066"/>
            <a:chOff x="0" y="0"/>
            <a:chExt cx="24409400" cy="196088"/>
          </a:xfrm>
        </p:grpSpPr>
        <p:sp>
          <p:nvSpPr>
            <p:cNvPr name="Freeform 3" id="3"/>
            <p:cNvSpPr/>
            <p:nvPr/>
          </p:nvSpPr>
          <p:spPr>
            <a:xfrm flipH="false" flipV="false" rot="0">
              <a:off x="12700" y="12700"/>
              <a:ext cx="24384000" cy="170688"/>
            </a:xfrm>
            <a:custGeom>
              <a:avLst/>
              <a:gdLst/>
              <a:ahLst/>
              <a:cxnLst/>
              <a:rect r="r" b="b" t="t" l="l"/>
              <a:pathLst>
                <a:path h="170688" w="24384000">
                  <a:moveTo>
                    <a:pt x="0" y="0"/>
                  </a:moveTo>
                  <a:lnTo>
                    <a:pt x="24384000" y="0"/>
                  </a:lnTo>
                  <a:lnTo>
                    <a:pt x="24384000" y="170688"/>
                  </a:lnTo>
                  <a:lnTo>
                    <a:pt x="0" y="170688"/>
                  </a:lnTo>
                  <a:close/>
                </a:path>
              </a:pathLst>
            </a:custGeom>
            <a:solidFill>
              <a:srgbClr val="00B4D8"/>
            </a:solidFill>
          </p:spPr>
        </p:sp>
        <p:sp>
          <p:nvSpPr>
            <p:cNvPr name="Freeform 4" id="4"/>
            <p:cNvSpPr/>
            <p:nvPr/>
          </p:nvSpPr>
          <p:spPr>
            <a:xfrm flipH="false" flipV="false" rot="0">
              <a:off x="0" y="0"/>
              <a:ext cx="24409400" cy="196088"/>
            </a:xfrm>
            <a:custGeom>
              <a:avLst/>
              <a:gdLst/>
              <a:ahLst/>
              <a:cxnLst/>
              <a:rect r="r" b="b" t="t" l="l"/>
              <a:pathLst>
                <a:path h="196088" w="24409400">
                  <a:moveTo>
                    <a:pt x="12700" y="0"/>
                  </a:moveTo>
                  <a:lnTo>
                    <a:pt x="24396700" y="0"/>
                  </a:lnTo>
                  <a:cubicBezTo>
                    <a:pt x="24403686" y="0"/>
                    <a:pt x="24409400" y="5715"/>
                    <a:pt x="24409400" y="12700"/>
                  </a:cubicBezTo>
                  <a:lnTo>
                    <a:pt x="24409400" y="183388"/>
                  </a:lnTo>
                  <a:cubicBezTo>
                    <a:pt x="24409400" y="190373"/>
                    <a:pt x="24403686" y="196088"/>
                    <a:pt x="24396700" y="196088"/>
                  </a:cubicBezTo>
                  <a:lnTo>
                    <a:pt x="12700" y="196088"/>
                  </a:lnTo>
                  <a:cubicBezTo>
                    <a:pt x="5715" y="196088"/>
                    <a:pt x="0" y="190373"/>
                    <a:pt x="0" y="183388"/>
                  </a:cubicBezTo>
                  <a:lnTo>
                    <a:pt x="0" y="12700"/>
                  </a:lnTo>
                  <a:cubicBezTo>
                    <a:pt x="0" y="5715"/>
                    <a:pt x="5715" y="0"/>
                    <a:pt x="12700" y="0"/>
                  </a:cubicBezTo>
                  <a:moveTo>
                    <a:pt x="12700" y="25400"/>
                  </a:moveTo>
                  <a:lnTo>
                    <a:pt x="12700" y="12700"/>
                  </a:lnTo>
                  <a:lnTo>
                    <a:pt x="25400" y="12700"/>
                  </a:lnTo>
                  <a:lnTo>
                    <a:pt x="25400" y="183388"/>
                  </a:lnTo>
                  <a:lnTo>
                    <a:pt x="12700" y="183388"/>
                  </a:lnTo>
                  <a:lnTo>
                    <a:pt x="12700" y="170688"/>
                  </a:lnTo>
                  <a:lnTo>
                    <a:pt x="24396700" y="170688"/>
                  </a:lnTo>
                  <a:lnTo>
                    <a:pt x="24396700" y="183388"/>
                  </a:lnTo>
                  <a:lnTo>
                    <a:pt x="24384000" y="183388"/>
                  </a:lnTo>
                  <a:lnTo>
                    <a:pt x="24384000" y="12700"/>
                  </a:lnTo>
                  <a:lnTo>
                    <a:pt x="24396700" y="12700"/>
                  </a:lnTo>
                  <a:lnTo>
                    <a:pt x="24396700" y="25400"/>
                  </a:lnTo>
                  <a:lnTo>
                    <a:pt x="12700" y="25400"/>
                  </a:lnTo>
                  <a:close/>
                </a:path>
              </a:pathLst>
            </a:custGeom>
            <a:solidFill>
              <a:srgbClr val="00B4D8"/>
            </a:solidFill>
          </p:spPr>
        </p:sp>
      </p:grpSp>
      <p:grpSp>
        <p:nvGrpSpPr>
          <p:cNvPr name="Group 5" id="5"/>
          <p:cNvGrpSpPr/>
          <p:nvPr/>
        </p:nvGrpSpPr>
        <p:grpSpPr>
          <a:xfrm rot="0">
            <a:off x="904875" y="319659"/>
            <a:ext cx="2945130" cy="531114"/>
            <a:chOff x="0" y="0"/>
            <a:chExt cx="3926840" cy="708152"/>
          </a:xfrm>
        </p:grpSpPr>
        <p:sp>
          <p:nvSpPr>
            <p:cNvPr name="Freeform 6" id="6"/>
            <p:cNvSpPr/>
            <p:nvPr/>
          </p:nvSpPr>
          <p:spPr>
            <a:xfrm flipH="false" flipV="false" rot="0">
              <a:off x="12700" y="12700"/>
              <a:ext cx="3901440" cy="682752"/>
            </a:xfrm>
            <a:custGeom>
              <a:avLst/>
              <a:gdLst/>
              <a:ahLst/>
              <a:cxnLst/>
              <a:rect r="r" b="b" t="t" l="l"/>
              <a:pathLst>
                <a:path h="682752" w="3901440">
                  <a:moveTo>
                    <a:pt x="0" y="0"/>
                  </a:moveTo>
                  <a:lnTo>
                    <a:pt x="3901440" y="0"/>
                  </a:lnTo>
                  <a:lnTo>
                    <a:pt x="3901440" y="682752"/>
                  </a:lnTo>
                  <a:lnTo>
                    <a:pt x="0" y="682752"/>
                  </a:lnTo>
                  <a:close/>
                </a:path>
              </a:pathLst>
            </a:custGeom>
            <a:solidFill>
              <a:srgbClr val="0077A8"/>
            </a:solidFill>
          </p:spPr>
        </p:sp>
        <p:sp>
          <p:nvSpPr>
            <p:cNvPr name="Freeform 7" id="7"/>
            <p:cNvSpPr/>
            <p:nvPr/>
          </p:nvSpPr>
          <p:spPr>
            <a:xfrm flipH="false" flipV="false" rot="0">
              <a:off x="0" y="0"/>
              <a:ext cx="3926840" cy="708152"/>
            </a:xfrm>
            <a:custGeom>
              <a:avLst/>
              <a:gdLst/>
              <a:ahLst/>
              <a:cxnLst/>
              <a:rect r="r" b="b" t="t" l="l"/>
              <a:pathLst>
                <a:path h="708152" w="3926840">
                  <a:moveTo>
                    <a:pt x="12700" y="0"/>
                  </a:moveTo>
                  <a:lnTo>
                    <a:pt x="3914140" y="0"/>
                  </a:lnTo>
                  <a:cubicBezTo>
                    <a:pt x="3921125" y="0"/>
                    <a:pt x="3926840" y="5715"/>
                    <a:pt x="3926840" y="12700"/>
                  </a:cubicBezTo>
                  <a:lnTo>
                    <a:pt x="3926840" y="695452"/>
                  </a:lnTo>
                  <a:cubicBezTo>
                    <a:pt x="3926840" y="702437"/>
                    <a:pt x="3921125" y="708152"/>
                    <a:pt x="3914140" y="708152"/>
                  </a:cubicBezTo>
                  <a:lnTo>
                    <a:pt x="12700" y="708152"/>
                  </a:lnTo>
                  <a:cubicBezTo>
                    <a:pt x="5715" y="708152"/>
                    <a:pt x="0" y="702437"/>
                    <a:pt x="0" y="695452"/>
                  </a:cubicBezTo>
                  <a:lnTo>
                    <a:pt x="0" y="12700"/>
                  </a:lnTo>
                  <a:cubicBezTo>
                    <a:pt x="0" y="5715"/>
                    <a:pt x="5715" y="0"/>
                    <a:pt x="12700" y="0"/>
                  </a:cubicBezTo>
                  <a:moveTo>
                    <a:pt x="12700" y="25400"/>
                  </a:moveTo>
                  <a:lnTo>
                    <a:pt x="12700" y="12700"/>
                  </a:lnTo>
                  <a:lnTo>
                    <a:pt x="25400" y="12700"/>
                  </a:lnTo>
                  <a:lnTo>
                    <a:pt x="25400" y="695452"/>
                  </a:lnTo>
                  <a:lnTo>
                    <a:pt x="12700" y="695452"/>
                  </a:lnTo>
                  <a:lnTo>
                    <a:pt x="12700" y="682752"/>
                  </a:lnTo>
                  <a:lnTo>
                    <a:pt x="3914140" y="682752"/>
                  </a:lnTo>
                  <a:lnTo>
                    <a:pt x="3914140" y="695452"/>
                  </a:lnTo>
                  <a:lnTo>
                    <a:pt x="3901440" y="695452"/>
                  </a:lnTo>
                  <a:lnTo>
                    <a:pt x="3901440" y="12700"/>
                  </a:lnTo>
                  <a:lnTo>
                    <a:pt x="3914140" y="12700"/>
                  </a:lnTo>
                  <a:lnTo>
                    <a:pt x="3914140" y="25400"/>
                  </a:lnTo>
                  <a:lnTo>
                    <a:pt x="12700" y="25400"/>
                  </a:lnTo>
                  <a:close/>
                </a:path>
              </a:pathLst>
            </a:custGeom>
            <a:solidFill>
              <a:srgbClr val="0077A8"/>
            </a:solidFill>
          </p:spPr>
        </p:sp>
      </p:grpSp>
      <p:grpSp>
        <p:nvGrpSpPr>
          <p:cNvPr name="Group 8" id="8"/>
          <p:cNvGrpSpPr/>
          <p:nvPr/>
        </p:nvGrpSpPr>
        <p:grpSpPr>
          <a:xfrm rot="0">
            <a:off x="914400" y="329184"/>
            <a:ext cx="2926080" cy="512064"/>
            <a:chOff x="0" y="0"/>
            <a:chExt cx="3901440" cy="682752"/>
          </a:xfrm>
        </p:grpSpPr>
        <p:sp>
          <p:nvSpPr>
            <p:cNvPr name="Freeform 9" id="9"/>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2">
                <a:alphaModFix amt="0"/>
              </a:blip>
              <a:stretch>
                <a:fillRect l="0" t="-61343" r="0" b="-61343"/>
              </a:stretch>
            </a:blipFill>
          </p:spPr>
        </p:sp>
        <p:sp>
          <p:nvSpPr>
            <p:cNvPr name="TextBox 10" id="10"/>
            <p:cNvSpPr txBox="true"/>
            <p:nvPr/>
          </p:nvSpPr>
          <p:spPr>
            <a:xfrm>
              <a:off x="0" y="-38100"/>
              <a:ext cx="3901440" cy="720852"/>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Idea</a:t>
              </a:r>
            </a:p>
          </p:txBody>
        </p:sp>
      </p:grpSp>
      <p:grpSp>
        <p:nvGrpSpPr>
          <p:cNvPr name="Group 11" id="11"/>
          <p:cNvGrpSpPr/>
          <p:nvPr/>
        </p:nvGrpSpPr>
        <p:grpSpPr>
          <a:xfrm rot="0">
            <a:off x="914400" y="1005840"/>
            <a:ext cx="16459200" cy="1280160"/>
            <a:chOff x="0" y="0"/>
            <a:chExt cx="21945600" cy="1706880"/>
          </a:xfrm>
        </p:grpSpPr>
        <p:sp>
          <p:nvSpPr>
            <p:cNvPr name="Freeform 12" id="12"/>
            <p:cNvSpPr/>
            <p:nvPr/>
          </p:nvSpPr>
          <p:spPr>
            <a:xfrm flipH="false" flipV="false" rot="0">
              <a:off x="0" y="0"/>
              <a:ext cx="21945600" cy="1706880"/>
            </a:xfrm>
            <a:custGeom>
              <a:avLst/>
              <a:gdLst/>
              <a:ahLst/>
              <a:cxnLst/>
              <a:rect r="r" b="b" t="t" l="l"/>
              <a:pathLst>
                <a:path h="1706880" w="21945600">
                  <a:moveTo>
                    <a:pt x="0" y="0"/>
                  </a:moveTo>
                  <a:lnTo>
                    <a:pt x="21945600" y="0"/>
                  </a:lnTo>
                  <a:lnTo>
                    <a:pt x="21945600" y="1706880"/>
                  </a:lnTo>
                  <a:lnTo>
                    <a:pt x="0" y="1706880"/>
                  </a:lnTo>
                  <a:close/>
                </a:path>
              </a:pathLst>
            </a:custGeom>
            <a:blipFill>
              <a:blip r:embed="rId2">
                <a:alphaModFix amt="0"/>
              </a:blip>
              <a:stretch>
                <a:fillRect l="0" t="-200521" r="0" b="-200521"/>
              </a:stretch>
            </a:blipFill>
          </p:spPr>
        </p:sp>
        <p:sp>
          <p:nvSpPr>
            <p:cNvPr name="TextBox 13" id="13"/>
            <p:cNvSpPr txBox="true"/>
            <p:nvPr/>
          </p:nvSpPr>
          <p:spPr>
            <a:xfrm>
              <a:off x="0" y="-123825"/>
              <a:ext cx="21945600" cy="1830705"/>
            </a:xfrm>
            <a:prstGeom prst="rect">
              <a:avLst/>
            </a:prstGeom>
          </p:spPr>
          <p:txBody>
            <a:bodyPr anchor="ctr" rtlCol="false" tIns="0" lIns="0" bIns="0" rIns="0"/>
            <a:lstStyle/>
            <a:p>
              <a:pPr algn="l">
                <a:lnSpc>
                  <a:spcPts val="7680"/>
                </a:lnSpc>
              </a:pPr>
              <a:r>
                <a:rPr lang="en-US" sz="6400" b="true">
                  <a:solidFill>
                    <a:srgbClr val="000000"/>
                  </a:solidFill>
                  <a:latin typeface="Calibri (MS) Bold"/>
                  <a:ea typeface="Calibri (MS) Bold"/>
                  <a:cs typeface="Calibri (MS) Bold"/>
                  <a:sym typeface="Calibri (MS) Bold"/>
                </a:rPr>
                <a:t>Demo/Product Walkthrough</a:t>
              </a:r>
            </a:p>
          </p:txBody>
        </p:sp>
      </p:grpSp>
      <p:grpSp>
        <p:nvGrpSpPr>
          <p:cNvPr name="Group 14" id="14"/>
          <p:cNvGrpSpPr/>
          <p:nvPr/>
        </p:nvGrpSpPr>
        <p:grpSpPr>
          <a:xfrm rot="0">
            <a:off x="1066800" y="481584"/>
            <a:ext cx="2926080" cy="512064"/>
            <a:chOff x="0" y="0"/>
            <a:chExt cx="3901440" cy="682752"/>
          </a:xfrm>
        </p:grpSpPr>
        <p:sp>
          <p:nvSpPr>
            <p:cNvPr name="Freeform 15" id="15"/>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3">
                <a:alphaModFix amt="0"/>
              </a:blip>
              <a:stretch>
                <a:fillRect l="-30433" t="-718402" r="-33200" b="-116648"/>
              </a:stretch>
            </a:blipFill>
          </p:spPr>
        </p:sp>
        <p:sp>
          <p:nvSpPr>
            <p:cNvPr name="TextBox 16" id="16"/>
            <p:cNvSpPr txBox="true"/>
            <p:nvPr/>
          </p:nvSpPr>
          <p:spPr>
            <a:xfrm>
              <a:off x="0" y="-38100"/>
              <a:ext cx="3901440" cy="720852"/>
            </a:xfrm>
            <a:prstGeom prst="rect">
              <a:avLst/>
            </a:prstGeom>
          </p:spPr>
          <p:txBody>
            <a:bodyPr anchor="ctr" rtlCol="false" tIns="0" lIns="0" bIns="0" rIns="0"/>
            <a:lstStyle/>
            <a:p>
              <a:pPr algn="ctr">
                <a:lnSpc>
                  <a:spcPts val="1800"/>
                </a:lnSpc>
              </a:pPr>
            </a:p>
          </p:txBody>
        </p:sp>
      </p:grpSp>
      <p:grpSp>
        <p:nvGrpSpPr>
          <p:cNvPr name="Group 17" id="17"/>
          <p:cNvGrpSpPr/>
          <p:nvPr/>
        </p:nvGrpSpPr>
        <p:grpSpPr>
          <a:xfrm rot="0">
            <a:off x="914400" y="329184"/>
            <a:ext cx="2945130" cy="531114"/>
            <a:chOff x="0" y="0"/>
            <a:chExt cx="3926840" cy="708152"/>
          </a:xfrm>
        </p:grpSpPr>
        <p:sp>
          <p:nvSpPr>
            <p:cNvPr name="Freeform 18" id="18"/>
            <p:cNvSpPr/>
            <p:nvPr/>
          </p:nvSpPr>
          <p:spPr>
            <a:xfrm flipH="false" flipV="false" rot="0">
              <a:off x="12700" y="1270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3"/>
              <a:stretch>
                <a:fillRect l="-30433" t="-718402" r="-33200" b="-116648"/>
              </a:stretch>
            </a:blipFill>
          </p:spPr>
        </p:sp>
        <p:sp>
          <p:nvSpPr>
            <p:cNvPr name="Freeform 19" id="19"/>
            <p:cNvSpPr/>
            <p:nvPr/>
          </p:nvSpPr>
          <p:spPr>
            <a:xfrm flipH="false" flipV="false" rot="0">
              <a:off x="0" y="0"/>
              <a:ext cx="3926840" cy="708152"/>
            </a:xfrm>
            <a:custGeom>
              <a:avLst/>
              <a:gdLst/>
              <a:ahLst/>
              <a:cxnLst/>
              <a:rect r="r" b="b" t="t" l="l"/>
              <a:pathLst>
                <a:path h="708152" w="3926840">
                  <a:moveTo>
                    <a:pt x="12700" y="0"/>
                  </a:moveTo>
                  <a:lnTo>
                    <a:pt x="3914140" y="0"/>
                  </a:lnTo>
                  <a:cubicBezTo>
                    <a:pt x="3921125" y="0"/>
                    <a:pt x="3926840" y="5715"/>
                    <a:pt x="3926840" y="12700"/>
                  </a:cubicBezTo>
                  <a:lnTo>
                    <a:pt x="3926840" y="695452"/>
                  </a:lnTo>
                  <a:cubicBezTo>
                    <a:pt x="3926840" y="702437"/>
                    <a:pt x="3921125" y="708152"/>
                    <a:pt x="3914140" y="708152"/>
                  </a:cubicBezTo>
                  <a:lnTo>
                    <a:pt x="12700" y="708152"/>
                  </a:lnTo>
                  <a:cubicBezTo>
                    <a:pt x="5715" y="708152"/>
                    <a:pt x="0" y="702437"/>
                    <a:pt x="0" y="695452"/>
                  </a:cubicBezTo>
                  <a:lnTo>
                    <a:pt x="0" y="12700"/>
                  </a:lnTo>
                  <a:cubicBezTo>
                    <a:pt x="0" y="5715"/>
                    <a:pt x="5715" y="0"/>
                    <a:pt x="12700" y="0"/>
                  </a:cubicBezTo>
                  <a:moveTo>
                    <a:pt x="12700" y="25400"/>
                  </a:moveTo>
                  <a:lnTo>
                    <a:pt x="12700" y="12700"/>
                  </a:lnTo>
                  <a:lnTo>
                    <a:pt x="25400" y="12700"/>
                  </a:lnTo>
                  <a:lnTo>
                    <a:pt x="25400" y="695452"/>
                  </a:lnTo>
                  <a:lnTo>
                    <a:pt x="12700" y="695452"/>
                  </a:lnTo>
                  <a:lnTo>
                    <a:pt x="12700" y="682752"/>
                  </a:lnTo>
                  <a:lnTo>
                    <a:pt x="3914140" y="682752"/>
                  </a:lnTo>
                  <a:lnTo>
                    <a:pt x="3914140" y="695452"/>
                  </a:lnTo>
                  <a:lnTo>
                    <a:pt x="3901440" y="695452"/>
                  </a:lnTo>
                  <a:lnTo>
                    <a:pt x="3901440" y="12700"/>
                  </a:lnTo>
                  <a:lnTo>
                    <a:pt x="3914140" y="12700"/>
                  </a:lnTo>
                  <a:lnTo>
                    <a:pt x="3914140" y="25400"/>
                  </a:lnTo>
                  <a:lnTo>
                    <a:pt x="12700" y="25400"/>
                  </a:lnTo>
                  <a:close/>
                </a:path>
              </a:pathLst>
            </a:custGeom>
            <a:solidFill>
              <a:srgbClr val="0077A8"/>
            </a:solidFill>
          </p:spPr>
        </p:sp>
      </p:grpSp>
      <p:sp>
        <p:nvSpPr>
          <p:cNvPr name="Freeform 20" id="20"/>
          <p:cNvSpPr/>
          <p:nvPr/>
        </p:nvSpPr>
        <p:spPr>
          <a:xfrm flipH="false" flipV="false" rot="0">
            <a:off x="14579419" y="2212889"/>
            <a:ext cx="1568789" cy="3031476"/>
          </a:xfrm>
          <a:custGeom>
            <a:avLst/>
            <a:gdLst/>
            <a:ahLst/>
            <a:cxnLst/>
            <a:rect r="r" b="b" t="t" l="l"/>
            <a:pathLst>
              <a:path h="3031476" w="1568789">
                <a:moveTo>
                  <a:pt x="0" y="0"/>
                </a:moveTo>
                <a:lnTo>
                  <a:pt x="1568789" y="0"/>
                </a:lnTo>
                <a:lnTo>
                  <a:pt x="1568789" y="3031476"/>
                </a:lnTo>
                <a:lnTo>
                  <a:pt x="0" y="3031476"/>
                </a:lnTo>
                <a:lnTo>
                  <a:pt x="0" y="0"/>
                </a:lnTo>
                <a:close/>
              </a:path>
            </a:pathLst>
          </a:custGeom>
          <a:blipFill>
            <a:blip r:embed="rId4"/>
            <a:stretch>
              <a:fillRect l="0" t="0" r="0" b="0"/>
            </a:stretch>
          </a:blipFill>
        </p:spPr>
      </p:sp>
      <p:sp>
        <p:nvSpPr>
          <p:cNvPr name="Freeform 21" id="21"/>
          <p:cNvSpPr/>
          <p:nvPr/>
        </p:nvSpPr>
        <p:spPr>
          <a:xfrm flipH="false" flipV="false" rot="0">
            <a:off x="12513913" y="2265240"/>
            <a:ext cx="1508159" cy="3031476"/>
          </a:xfrm>
          <a:custGeom>
            <a:avLst/>
            <a:gdLst/>
            <a:ahLst/>
            <a:cxnLst/>
            <a:rect r="r" b="b" t="t" l="l"/>
            <a:pathLst>
              <a:path h="3031476" w="1508159">
                <a:moveTo>
                  <a:pt x="0" y="0"/>
                </a:moveTo>
                <a:lnTo>
                  <a:pt x="1508159" y="0"/>
                </a:lnTo>
                <a:lnTo>
                  <a:pt x="1508159" y="3031476"/>
                </a:lnTo>
                <a:lnTo>
                  <a:pt x="0" y="3031476"/>
                </a:lnTo>
                <a:lnTo>
                  <a:pt x="0" y="0"/>
                </a:lnTo>
                <a:close/>
              </a:path>
            </a:pathLst>
          </a:custGeom>
          <a:blipFill>
            <a:blip r:embed="rId5"/>
            <a:stretch>
              <a:fillRect l="0" t="0" r="0" b="0"/>
            </a:stretch>
          </a:blipFill>
        </p:spPr>
      </p:sp>
      <p:sp>
        <p:nvSpPr>
          <p:cNvPr name="Freeform 22" id="22"/>
          <p:cNvSpPr/>
          <p:nvPr/>
        </p:nvSpPr>
        <p:spPr>
          <a:xfrm flipH="false" flipV="false" rot="0">
            <a:off x="10137924" y="2258472"/>
            <a:ext cx="1989274" cy="2940309"/>
          </a:xfrm>
          <a:custGeom>
            <a:avLst/>
            <a:gdLst/>
            <a:ahLst/>
            <a:cxnLst/>
            <a:rect r="r" b="b" t="t" l="l"/>
            <a:pathLst>
              <a:path h="2940309" w="1989274">
                <a:moveTo>
                  <a:pt x="0" y="0"/>
                </a:moveTo>
                <a:lnTo>
                  <a:pt x="1989274" y="0"/>
                </a:lnTo>
                <a:lnTo>
                  <a:pt x="1989274" y="2940309"/>
                </a:lnTo>
                <a:lnTo>
                  <a:pt x="0" y="2940309"/>
                </a:lnTo>
                <a:lnTo>
                  <a:pt x="0" y="0"/>
                </a:lnTo>
                <a:close/>
              </a:path>
            </a:pathLst>
          </a:custGeom>
          <a:blipFill>
            <a:blip r:embed="rId6"/>
            <a:stretch>
              <a:fillRect l="0" t="0" r="-18670" b="0"/>
            </a:stretch>
          </a:blipFill>
        </p:spPr>
      </p:sp>
      <p:sp>
        <p:nvSpPr>
          <p:cNvPr name="Freeform 23" id="23"/>
          <p:cNvSpPr/>
          <p:nvPr/>
        </p:nvSpPr>
        <p:spPr>
          <a:xfrm flipH="false" flipV="false" rot="0">
            <a:off x="8244491" y="2258472"/>
            <a:ext cx="1478025" cy="3183636"/>
          </a:xfrm>
          <a:custGeom>
            <a:avLst/>
            <a:gdLst/>
            <a:ahLst/>
            <a:cxnLst/>
            <a:rect r="r" b="b" t="t" l="l"/>
            <a:pathLst>
              <a:path h="3183636" w="1478025">
                <a:moveTo>
                  <a:pt x="0" y="0"/>
                </a:moveTo>
                <a:lnTo>
                  <a:pt x="1478025" y="0"/>
                </a:lnTo>
                <a:lnTo>
                  <a:pt x="1478025" y="3183637"/>
                </a:lnTo>
                <a:lnTo>
                  <a:pt x="0" y="3183637"/>
                </a:lnTo>
                <a:lnTo>
                  <a:pt x="0" y="0"/>
                </a:lnTo>
                <a:close/>
              </a:path>
            </a:pathLst>
          </a:custGeom>
          <a:blipFill>
            <a:blip r:embed="rId7"/>
            <a:stretch>
              <a:fillRect l="-5061" t="0" r="-5061" b="0"/>
            </a:stretch>
          </a:blipFill>
        </p:spPr>
      </p:sp>
      <p:sp>
        <p:nvSpPr>
          <p:cNvPr name="Freeform 24" id="24"/>
          <p:cNvSpPr/>
          <p:nvPr/>
        </p:nvSpPr>
        <p:spPr>
          <a:xfrm flipH="false" flipV="false" rot="0">
            <a:off x="6345085" y="2203191"/>
            <a:ext cx="1413028" cy="3257701"/>
          </a:xfrm>
          <a:custGeom>
            <a:avLst/>
            <a:gdLst/>
            <a:ahLst/>
            <a:cxnLst/>
            <a:rect r="r" b="b" t="t" l="l"/>
            <a:pathLst>
              <a:path h="3257701" w="1413028">
                <a:moveTo>
                  <a:pt x="0" y="0"/>
                </a:moveTo>
                <a:lnTo>
                  <a:pt x="1413027" y="0"/>
                </a:lnTo>
                <a:lnTo>
                  <a:pt x="1413027" y="3257701"/>
                </a:lnTo>
                <a:lnTo>
                  <a:pt x="0" y="3257701"/>
                </a:lnTo>
                <a:lnTo>
                  <a:pt x="0" y="0"/>
                </a:lnTo>
                <a:close/>
              </a:path>
            </a:pathLst>
          </a:custGeom>
          <a:blipFill>
            <a:blip r:embed="rId8"/>
            <a:stretch>
              <a:fillRect l="0" t="0" r="0" b="0"/>
            </a:stretch>
          </a:blipFill>
        </p:spPr>
      </p:sp>
      <p:sp>
        <p:nvSpPr>
          <p:cNvPr name="Freeform 25" id="25"/>
          <p:cNvSpPr/>
          <p:nvPr/>
        </p:nvSpPr>
        <p:spPr>
          <a:xfrm flipH="false" flipV="false" rot="0">
            <a:off x="4515749" y="2203191"/>
            <a:ext cx="1435054" cy="3347065"/>
          </a:xfrm>
          <a:custGeom>
            <a:avLst/>
            <a:gdLst/>
            <a:ahLst/>
            <a:cxnLst/>
            <a:rect r="r" b="b" t="t" l="l"/>
            <a:pathLst>
              <a:path h="3347065" w="1435054">
                <a:moveTo>
                  <a:pt x="0" y="0"/>
                </a:moveTo>
                <a:lnTo>
                  <a:pt x="1435054" y="0"/>
                </a:lnTo>
                <a:lnTo>
                  <a:pt x="1435054" y="3347065"/>
                </a:lnTo>
                <a:lnTo>
                  <a:pt x="0" y="3347065"/>
                </a:lnTo>
                <a:lnTo>
                  <a:pt x="0" y="0"/>
                </a:lnTo>
                <a:close/>
              </a:path>
            </a:pathLst>
          </a:custGeom>
          <a:blipFill>
            <a:blip r:embed="rId9"/>
            <a:stretch>
              <a:fillRect l="0" t="0" r="0" b="0"/>
            </a:stretch>
          </a:blipFill>
        </p:spPr>
      </p:sp>
      <p:sp>
        <p:nvSpPr>
          <p:cNvPr name="Freeform 26" id="26"/>
          <p:cNvSpPr/>
          <p:nvPr/>
        </p:nvSpPr>
        <p:spPr>
          <a:xfrm flipH="false" flipV="false" rot="0">
            <a:off x="2686413" y="2203191"/>
            <a:ext cx="1435054" cy="3347065"/>
          </a:xfrm>
          <a:custGeom>
            <a:avLst/>
            <a:gdLst/>
            <a:ahLst/>
            <a:cxnLst/>
            <a:rect r="r" b="b" t="t" l="l"/>
            <a:pathLst>
              <a:path h="3347065" w="1435054">
                <a:moveTo>
                  <a:pt x="0" y="0"/>
                </a:moveTo>
                <a:lnTo>
                  <a:pt x="1435054" y="0"/>
                </a:lnTo>
                <a:lnTo>
                  <a:pt x="1435054" y="3347065"/>
                </a:lnTo>
                <a:lnTo>
                  <a:pt x="0" y="3347065"/>
                </a:lnTo>
                <a:lnTo>
                  <a:pt x="0" y="0"/>
                </a:lnTo>
                <a:close/>
              </a:path>
            </a:pathLst>
          </a:custGeom>
          <a:blipFill>
            <a:blip r:embed="rId10"/>
            <a:stretch>
              <a:fillRect l="0" t="0" r="0" b="0"/>
            </a:stretch>
          </a:blipFill>
        </p:spPr>
      </p:sp>
      <p:sp>
        <p:nvSpPr>
          <p:cNvPr name="Freeform 27" id="27"/>
          <p:cNvSpPr/>
          <p:nvPr/>
        </p:nvSpPr>
        <p:spPr>
          <a:xfrm flipH="false" flipV="false" rot="0">
            <a:off x="800820" y="2203191"/>
            <a:ext cx="1508450" cy="3370839"/>
          </a:xfrm>
          <a:custGeom>
            <a:avLst/>
            <a:gdLst/>
            <a:ahLst/>
            <a:cxnLst/>
            <a:rect r="r" b="b" t="t" l="l"/>
            <a:pathLst>
              <a:path h="3370839" w="1508450">
                <a:moveTo>
                  <a:pt x="0" y="0"/>
                </a:moveTo>
                <a:lnTo>
                  <a:pt x="1508451" y="0"/>
                </a:lnTo>
                <a:lnTo>
                  <a:pt x="1508451" y="3370839"/>
                </a:lnTo>
                <a:lnTo>
                  <a:pt x="0" y="3370839"/>
                </a:lnTo>
                <a:lnTo>
                  <a:pt x="0" y="0"/>
                </a:lnTo>
                <a:close/>
              </a:path>
            </a:pathLst>
          </a:custGeom>
          <a:blipFill>
            <a:blip r:embed="rId11"/>
            <a:stretch>
              <a:fillRect l="0" t="0" r="0" b="0"/>
            </a:stretch>
          </a:blipFill>
        </p:spPr>
      </p:sp>
      <p:sp>
        <p:nvSpPr>
          <p:cNvPr name="Freeform 28" id="28"/>
          <p:cNvSpPr/>
          <p:nvPr/>
        </p:nvSpPr>
        <p:spPr>
          <a:xfrm flipH="false" flipV="false" rot="0">
            <a:off x="16687803" y="2164150"/>
            <a:ext cx="1408511" cy="3053681"/>
          </a:xfrm>
          <a:custGeom>
            <a:avLst/>
            <a:gdLst/>
            <a:ahLst/>
            <a:cxnLst/>
            <a:rect r="r" b="b" t="t" l="l"/>
            <a:pathLst>
              <a:path h="3053681" w="1408511">
                <a:moveTo>
                  <a:pt x="0" y="0"/>
                </a:moveTo>
                <a:lnTo>
                  <a:pt x="1408510" y="0"/>
                </a:lnTo>
                <a:lnTo>
                  <a:pt x="1408510" y="3053681"/>
                </a:lnTo>
                <a:lnTo>
                  <a:pt x="0" y="3053681"/>
                </a:lnTo>
                <a:lnTo>
                  <a:pt x="0" y="0"/>
                </a:lnTo>
                <a:close/>
              </a:path>
            </a:pathLst>
          </a:custGeom>
          <a:blipFill>
            <a:blip r:embed="rId12"/>
            <a:stretch>
              <a:fillRect l="0" t="0" r="0" b="0"/>
            </a:stretch>
          </a:blipFill>
        </p:spPr>
      </p:sp>
      <p:sp>
        <p:nvSpPr>
          <p:cNvPr name="AutoShape 29" id="29"/>
          <p:cNvSpPr/>
          <p:nvPr/>
        </p:nvSpPr>
        <p:spPr>
          <a:xfrm>
            <a:off x="5897880" y="5143500"/>
            <a:ext cx="6492240" cy="0"/>
          </a:xfrm>
          <a:prstGeom prst="line">
            <a:avLst/>
          </a:prstGeom>
          <a:ln cap="flat" w="38100">
            <a:solidFill>
              <a:srgbClr val="FFFFFF"/>
            </a:solidFill>
            <a:prstDash val="solid"/>
            <a:headEnd type="none" len="sm" w="sm"/>
            <a:tailEnd type="none" len="sm" w="sm"/>
          </a:ln>
        </p:spPr>
      </p:sp>
      <p:grpSp>
        <p:nvGrpSpPr>
          <p:cNvPr name="Group 30" id="30"/>
          <p:cNvGrpSpPr/>
          <p:nvPr/>
        </p:nvGrpSpPr>
        <p:grpSpPr>
          <a:xfrm rot="0">
            <a:off x="2386965" y="3673346"/>
            <a:ext cx="215265" cy="215265"/>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0077A8"/>
            </a:solidFill>
          </p:spPr>
        </p:sp>
        <p:sp>
          <p:nvSpPr>
            <p:cNvPr name="TextBox 32" id="32"/>
            <p:cNvSpPr txBox="true"/>
            <p:nvPr/>
          </p:nvSpPr>
          <p:spPr>
            <a:xfrm>
              <a:off x="0" y="165100"/>
              <a:ext cx="711200" cy="444500"/>
            </a:xfrm>
            <a:prstGeom prst="rect">
              <a:avLst/>
            </a:prstGeom>
          </p:spPr>
          <p:txBody>
            <a:bodyPr anchor="ctr" rtlCol="false" tIns="50800" lIns="50800" bIns="50800" rIns="50800"/>
            <a:lstStyle/>
            <a:p>
              <a:pPr algn="ctr">
                <a:lnSpc>
                  <a:spcPts val="1800"/>
                </a:lnSpc>
              </a:pPr>
            </a:p>
          </p:txBody>
        </p:sp>
      </p:grpSp>
      <p:grpSp>
        <p:nvGrpSpPr>
          <p:cNvPr name="Group 33" id="33"/>
          <p:cNvGrpSpPr/>
          <p:nvPr/>
        </p:nvGrpSpPr>
        <p:grpSpPr>
          <a:xfrm rot="0">
            <a:off x="4207192" y="3661459"/>
            <a:ext cx="215265" cy="215265"/>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0077A8"/>
            </a:solidFill>
          </p:spPr>
        </p:sp>
        <p:sp>
          <p:nvSpPr>
            <p:cNvPr name="TextBox 35" id="35"/>
            <p:cNvSpPr txBox="true"/>
            <p:nvPr/>
          </p:nvSpPr>
          <p:spPr>
            <a:xfrm>
              <a:off x="0" y="165100"/>
              <a:ext cx="711200" cy="444500"/>
            </a:xfrm>
            <a:prstGeom prst="rect">
              <a:avLst/>
            </a:prstGeom>
          </p:spPr>
          <p:txBody>
            <a:bodyPr anchor="ctr" rtlCol="false" tIns="50800" lIns="50800" bIns="50800" rIns="50800"/>
            <a:lstStyle/>
            <a:p>
              <a:pPr algn="ctr">
                <a:lnSpc>
                  <a:spcPts val="1800"/>
                </a:lnSpc>
              </a:pPr>
            </a:p>
          </p:txBody>
        </p:sp>
      </p:grpSp>
      <p:grpSp>
        <p:nvGrpSpPr>
          <p:cNvPr name="Group 36" id="36"/>
          <p:cNvGrpSpPr/>
          <p:nvPr/>
        </p:nvGrpSpPr>
        <p:grpSpPr>
          <a:xfrm rot="0">
            <a:off x="6078667" y="3718250"/>
            <a:ext cx="215265" cy="215265"/>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0077A8"/>
            </a:solidFill>
          </p:spPr>
        </p:sp>
        <p:sp>
          <p:nvSpPr>
            <p:cNvPr name="TextBox 38" id="38"/>
            <p:cNvSpPr txBox="true"/>
            <p:nvPr/>
          </p:nvSpPr>
          <p:spPr>
            <a:xfrm>
              <a:off x="0" y="165100"/>
              <a:ext cx="711200" cy="444500"/>
            </a:xfrm>
            <a:prstGeom prst="rect">
              <a:avLst/>
            </a:prstGeom>
          </p:spPr>
          <p:txBody>
            <a:bodyPr anchor="ctr" rtlCol="false" tIns="50800" lIns="50800" bIns="50800" rIns="50800"/>
            <a:lstStyle/>
            <a:p>
              <a:pPr algn="ctr">
                <a:lnSpc>
                  <a:spcPts val="1800"/>
                </a:lnSpc>
              </a:pPr>
            </a:p>
          </p:txBody>
        </p:sp>
      </p:grpSp>
      <p:grpSp>
        <p:nvGrpSpPr>
          <p:cNvPr name="Group 39" id="39"/>
          <p:cNvGrpSpPr/>
          <p:nvPr/>
        </p:nvGrpSpPr>
        <p:grpSpPr>
          <a:xfrm rot="0">
            <a:off x="7893669" y="3553826"/>
            <a:ext cx="215265" cy="215265"/>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0077A8"/>
            </a:solidFill>
          </p:spPr>
        </p:sp>
        <p:sp>
          <p:nvSpPr>
            <p:cNvPr name="TextBox 41" id="41"/>
            <p:cNvSpPr txBox="true"/>
            <p:nvPr/>
          </p:nvSpPr>
          <p:spPr>
            <a:xfrm>
              <a:off x="0" y="165100"/>
              <a:ext cx="711200" cy="444500"/>
            </a:xfrm>
            <a:prstGeom prst="rect">
              <a:avLst/>
            </a:prstGeom>
          </p:spPr>
          <p:txBody>
            <a:bodyPr anchor="ctr" rtlCol="false" tIns="50800" lIns="50800" bIns="50800" rIns="50800"/>
            <a:lstStyle/>
            <a:p>
              <a:pPr algn="ctr">
                <a:lnSpc>
                  <a:spcPts val="1800"/>
                </a:lnSpc>
              </a:pPr>
            </a:p>
          </p:txBody>
        </p:sp>
      </p:grpSp>
      <p:grpSp>
        <p:nvGrpSpPr>
          <p:cNvPr name="Group 42" id="42"/>
          <p:cNvGrpSpPr/>
          <p:nvPr/>
        </p:nvGrpSpPr>
        <p:grpSpPr>
          <a:xfrm rot="0">
            <a:off x="9875034" y="3553826"/>
            <a:ext cx="215265" cy="215265"/>
            <a:chOff x="0" y="0"/>
            <a:chExt cx="812800" cy="812800"/>
          </a:xfrm>
        </p:grpSpPr>
        <p:sp>
          <p:nvSpPr>
            <p:cNvPr name="Freeform 43" id="43"/>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0077A8"/>
            </a:solidFill>
          </p:spPr>
        </p:sp>
        <p:sp>
          <p:nvSpPr>
            <p:cNvPr name="TextBox 44" id="44"/>
            <p:cNvSpPr txBox="true"/>
            <p:nvPr/>
          </p:nvSpPr>
          <p:spPr>
            <a:xfrm>
              <a:off x="0" y="165100"/>
              <a:ext cx="711200" cy="444500"/>
            </a:xfrm>
            <a:prstGeom prst="rect">
              <a:avLst/>
            </a:prstGeom>
          </p:spPr>
          <p:txBody>
            <a:bodyPr anchor="ctr" rtlCol="false" tIns="50800" lIns="50800" bIns="50800" rIns="50800"/>
            <a:lstStyle/>
            <a:p>
              <a:pPr algn="ctr">
                <a:lnSpc>
                  <a:spcPts val="1800"/>
                </a:lnSpc>
              </a:pPr>
            </a:p>
          </p:txBody>
        </p:sp>
      </p:grpSp>
      <p:grpSp>
        <p:nvGrpSpPr>
          <p:cNvPr name="Group 45" id="45"/>
          <p:cNvGrpSpPr/>
          <p:nvPr/>
        </p:nvGrpSpPr>
        <p:grpSpPr>
          <a:xfrm rot="0">
            <a:off x="12251023" y="3661459"/>
            <a:ext cx="215265" cy="215265"/>
            <a:chOff x="0" y="0"/>
            <a:chExt cx="812800" cy="812800"/>
          </a:xfrm>
        </p:grpSpPr>
        <p:sp>
          <p:nvSpPr>
            <p:cNvPr name="Freeform 46" id="46"/>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0077A8"/>
            </a:solidFill>
          </p:spPr>
        </p:sp>
        <p:sp>
          <p:nvSpPr>
            <p:cNvPr name="TextBox 47" id="47"/>
            <p:cNvSpPr txBox="true"/>
            <p:nvPr/>
          </p:nvSpPr>
          <p:spPr>
            <a:xfrm>
              <a:off x="0" y="165100"/>
              <a:ext cx="711200" cy="444500"/>
            </a:xfrm>
            <a:prstGeom prst="rect">
              <a:avLst/>
            </a:prstGeom>
          </p:spPr>
          <p:txBody>
            <a:bodyPr anchor="ctr" rtlCol="false" tIns="50800" lIns="50800" bIns="50800" rIns="50800"/>
            <a:lstStyle/>
            <a:p>
              <a:pPr algn="ctr">
                <a:lnSpc>
                  <a:spcPts val="1800"/>
                </a:lnSpc>
              </a:pPr>
            </a:p>
          </p:txBody>
        </p:sp>
      </p:grpSp>
      <p:grpSp>
        <p:nvGrpSpPr>
          <p:cNvPr name="Group 48" id="48"/>
          <p:cNvGrpSpPr/>
          <p:nvPr/>
        </p:nvGrpSpPr>
        <p:grpSpPr>
          <a:xfrm rot="0">
            <a:off x="14145897" y="3769091"/>
            <a:ext cx="215265" cy="215265"/>
            <a:chOff x="0" y="0"/>
            <a:chExt cx="812800" cy="812800"/>
          </a:xfrm>
        </p:grpSpPr>
        <p:sp>
          <p:nvSpPr>
            <p:cNvPr name="Freeform 49" id="49"/>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0077A8"/>
            </a:solidFill>
          </p:spPr>
        </p:sp>
        <p:sp>
          <p:nvSpPr>
            <p:cNvPr name="TextBox 50" id="50"/>
            <p:cNvSpPr txBox="true"/>
            <p:nvPr/>
          </p:nvSpPr>
          <p:spPr>
            <a:xfrm>
              <a:off x="0" y="165100"/>
              <a:ext cx="711200" cy="444500"/>
            </a:xfrm>
            <a:prstGeom prst="rect">
              <a:avLst/>
            </a:prstGeom>
          </p:spPr>
          <p:txBody>
            <a:bodyPr anchor="ctr" rtlCol="false" tIns="50800" lIns="50800" bIns="50800" rIns="50800"/>
            <a:lstStyle/>
            <a:p>
              <a:pPr algn="ctr">
                <a:lnSpc>
                  <a:spcPts val="1800"/>
                </a:lnSpc>
              </a:pPr>
            </a:p>
          </p:txBody>
        </p:sp>
      </p:grpSp>
      <p:grpSp>
        <p:nvGrpSpPr>
          <p:cNvPr name="Group 51" id="51"/>
          <p:cNvGrpSpPr/>
          <p:nvPr/>
        </p:nvGrpSpPr>
        <p:grpSpPr>
          <a:xfrm rot="0">
            <a:off x="16339188" y="3673346"/>
            <a:ext cx="215265" cy="215265"/>
            <a:chOff x="0" y="0"/>
            <a:chExt cx="812800" cy="812800"/>
          </a:xfrm>
        </p:grpSpPr>
        <p:sp>
          <p:nvSpPr>
            <p:cNvPr name="Freeform 52" id="52"/>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0077A8"/>
            </a:solidFill>
          </p:spPr>
        </p:sp>
        <p:sp>
          <p:nvSpPr>
            <p:cNvPr name="TextBox 53" id="53"/>
            <p:cNvSpPr txBox="true"/>
            <p:nvPr/>
          </p:nvSpPr>
          <p:spPr>
            <a:xfrm>
              <a:off x="0" y="165100"/>
              <a:ext cx="711200" cy="444500"/>
            </a:xfrm>
            <a:prstGeom prst="rect">
              <a:avLst/>
            </a:prstGeom>
          </p:spPr>
          <p:txBody>
            <a:bodyPr anchor="ctr" rtlCol="false" tIns="50800" lIns="50800" bIns="50800" rIns="50800"/>
            <a:lstStyle/>
            <a:p>
              <a:pPr algn="ctr">
                <a:lnSpc>
                  <a:spcPts val="1800"/>
                </a:lnSpc>
              </a:pPr>
            </a:p>
          </p:txBody>
        </p:sp>
      </p:grpSp>
      <p:sp>
        <p:nvSpPr>
          <p:cNvPr name="Freeform 54" id="54"/>
          <p:cNvSpPr/>
          <p:nvPr/>
        </p:nvSpPr>
        <p:spPr>
          <a:xfrm flipH="false" flipV="false" rot="0">
            <a:off x="6804579" y="6016981"/>
            <a:ext cx="11301259" cy="4605263"/>
          </a:xfrm>
          <a:custGeom>
            <a:avLst/>
            <a:gdLst/>
            <a:ahLst/>
            <a:cxnLst/>
            <a:rect r="r" b="b" t="t" l="l"/>
            <a:pathLst>
              <a:path h="4605263" w="11301259">
                <a:moveTo>
                  <a:pt x="0" y="0"/>
                </a:moveTo>
                <a:lnTo>
                  <a:pt x="11301259" y="0"/>
                </a:lnTo>
                <a:lnTo>
                  <a:pt x="11301259" y="4605264"/>
                </a:lnTo>
                <a:lnTo>
                  <a:pt x="0" y="4605264"/>
                </a:lnTo>
                <a:lnTo>
                  <a:pt x="0" y="0"/>
                </a:lnTo>
                <a:close/>
              </a:path>
            </a:pathLst>
          </a:custGeom>
          <a:blipFill>
            <a:blip r:embed="rId13"/>
            <a:stretch>
              <a:fillRect l="0" t="0" r="0" b="0"/>
            </a:stretch>
          </a:blipFill>
        </p:spPr>
      </p:sp>
      <p:sp>
        <p:nvSpPr>
          <p:cNvPr name="Freeform 55" id="55"/>
          <p:cNvSpPr/>
          <p:nvPr/>
        </p:nvSpPr>
        <p:spPr>
          <a:xfrm flipH="false" flipV="false" rot="0">
            <a:off x="1194347" y="6477312"/>
            <a:ext cx="4703533" cy="4012893"/>
          </a:xfrm>
          <a:custGeom>
            <a:avLst/>
            <a:gdLst/>
            <a:ahLst/>
            <a:cxnLst/>
            <a:rect r="r" b="b" t="t" l="l"/>
            <a:pathLst>
              <a:path h="4012893" w="4703533">
                <a:moveTo>
                  <a:pt x="0" y="0"/>
                </a:moveTo>
                <a:lnTo>
                  <a:pt x="4703533" y="0"/>
                </a:lnTo>
                <a:lnTo>
                  <a:pt x="4703533" y="4012893"/>
                </a:lnTo>
                <a:lnTo>
                  <a:pt x="0" y="4012893"/>
                </a:lnTo>
                <a:lnTo>
                  <a:pt x="0" y="0"/>
                </a:lnTo>
                <a:close/>
              </a:path>
            </a:pathLst>
          </a:custGeom>
          <a:blipFill>
            <a:blip r:embed="rId14"/>
            <a:stretch>
              <a:fillRect l="0" t="-5342" r="0" b="0"/>
            </a:stretch>
          </a:blipFill>
        </p:spPr>
      </p:sp>
      <p:sp>
        <p:nvSpPr>
          <p:cNvPr name="TextBox 56" id="56"/>
          <p:cNvSpPr txBox="true"/>
          <p:nvPr/>
        </p:nvSpPr>
        <p:spPr>
          <a:xfrm rot="0">
            <a:off x="717113" y="5572437"/>
            <a:ext cx="1555552" cy="723900"/>
          </a:xfrm>
          <a:prstGeom prst="rect">
            <a:avLst/>
          </a:prstGeom>
        </p:spPr>
        <p:txBody>
          <a:bodyPr anchor="t" rtlCol="false" tIns="0" lIns="0" bIns="0" rIns="0">
            <a:spAutoFit/>
          </a:bodyPr>
          <a:lstStyle/>
          <a:p>
            <a:pPr algn="ctr">
              <a:lnSpc>
                <a:spcPts val="1800"/>
              </a:lnSpc>
              <a:spcBef>
                <a:spcPct val="0"/>
              </a:spcBef>
            </a:pPr>
            <a:r>
              <a:rPr lang="en-US" sz="1500">
                <a:solidFill>
                  <a:srgbClr val="000000"/>
                </a:solidFill>
                <a:latin typeface="Calibri (MS)"/>
                <a:ea typeface="Calibri (MS)"/>
                <a:cs typeface="Calibri (MS)"/>
                <a:sym typeface="Calibri (MS)"/>
              </a:rPr>
              <a:t>Home screen widget for easy access</a:t>
            </a:r>
          </a:p>
        </p:txBody>
      </p:sp>
      <p:sp>
        <p:nvSpPr>
          <p:cNvPr name="TextBox 57" id="57"/>
          <p:cNvSpPr txBox="true"/>
          <p:nvPr/>
        </p:nvSpPr>
        <p:spPr>
          <a:xfrm rot="0">
            <a:off x="2722433" y="5572437"/>
            <a:ext cx="1463040" cy="723900"/>
          </a:xfrm>
          <a:prstGeom prst="rect">
            <a:avLst/>
          </a:prstGeom>
        </p:spPr>
        <p:txBody>
          <a:bodyPr anchor="t" rtlCol="false" tIns="0" lIns="0" bIns="0" rIns="0">
            <a:spAutoFit/>
          </a:bodyPr>
          <a:lstStyle/>
          <a:p>
            <a:pPr algn="ctr">
              <a:lnSpc>
                <a:spcPts val="1800"/>
              </a:lnSpc>
              <a:spcBef>
                <a:spcPct val="0"/>
              </a:spcBef>
            </a:pPr>
            <a:r>
              <a:rPr lang="en-US" sz="1500">
                <a:solidFill>
                  <a:srgbClr val="000000"/>
                </a:solidFill>
                <a:latin typeface="Calibri (MS)"/>
                <a:ea typeface="Calibri (MS)"/>
                <a:cs typeface="Calibri (MS)"/>
                <a:sym typeface="Calibri (MS)"/>
              </a:rPr>
              <a:t>Dashboard showing risks predicted</a:t>
            </a:r>
          </a:p>
        </p:txBody>
      </p:sp>
      <p:sp>
        <p:nvSpPr>
          <p:cNvPr name="TextBox 58" id="58"/>
          <p:cNvSpPr txBox="true"/>
          <p:nvPr/>
        </p:nvSpPr>
        <p:spPr>
          <a:xfrm rot="0">
            <a:off x="4374356" y="5572437"/>
            <a:ext cx="1704310" cy="723900"/>
          </a:xfrm>
          <a:prstGeom prst="rect">
            <a:avLst/>
          </a:prstGeom>
        </p:spPr>
        <p:txBody>
          <a:bodyPr anchor="t" rtlCol="false" tIns="0" lIns="0" bIns="0" rIns="0">
            <a:spAutoFit/>
          </a:bodyPr>
          <a:lstStyle/>
          <a:p>
            <a:pPr algn="ctr">
              <a:lnSpc>
                <a:spcPts val="1800"/>
              </a:lnSpc>
              <a:spcBef>
                <a:spcPct val="0"/>
              </a:spcBef>
            </a:pPr>
            <a:r>
              <a:rPr lang="en-US" sz="1500">
                <a:solidFill>
                  <a:srgbClr val="000000"/>
                </a:solidFill>
                <a:latin typeface="Calibri (MS)"/>
                <a:ea typeface="Calibri (MS)"/>
                <a:cs typeface="Calibri (MS)"/>
                <a:sym typeface="Calibri (MS)"/>
              </a:rPr>
              <a:t>Device  Context ingested for prediction</a:t>
            </a:r>
          </a:p>
        </p:txBody>
      </p:sp>
      <p:sp>
        <p:nvSpPr>
          <p:cNvPr name="TextBox 59" id="59"/>
          <p:cNvSpPr txBox="true"/>
          <p:nvPr/>
        </p:nvSpPr>
        <p:spPr>
          <a:xfrm rot="0">
            <a:off x="6186299" y="5572437"/>
            <a:ext cx="1659481" cy="723900"/>
          </a:xfrm>
          <a:prstGeom prst="rect">
            <a:avLst/>
          </a:prstGeom>
        </p:spPr>
        <p:txBody>
          <a:bodyPr anchor="t" rtlCol="false" tIns="0" lIns="0" bIns="0" rIns="0">
            <a:spAutoFit/>
          </a:bodyPr>
          <a:lstStyle/>
          <a:p>
            <a:pPr algn="ctr">
              <a:lnSpc>
                <a:spcPts val="1800"/>
              </a:lnSpc>
              <a:spcBef>
                <a:spcPct val="0"/>
              </a:spcBef>
            </a:pPr>
            <a:r>
              <a:rPr lang="en-US" sz="1500">
                <a:solidFill>
                  <a:srgbClr val="000000"/>
                </a:solidFill>
                <a:latin typeface="Calibri (MS)"/>
                <a:ea typeface="Calibri (MS)"/>
                <a:cs typeface="Calibri (MS)"/>
                <a:sym typeface="Calibri (MS)"/>
              </a:rPr>
              <a:t>Daily Timeline showing risks for the day</a:t>
            </a:r>
          </a:p>
        </p:txBody>
      </p:sp>
      <p:sp>
        <p:nvSpPr>
          <p:cNvPr name="TextBox 60" id="60"/>
          <p:cNvSpPr txBox="true"/>
          <p:nvPr/>
        </p:nvSpPr>
        <p:spPr>
          <a:xfrm rot="0">
            <a:off x="14815789" y="5686737"/>
            <a:ext cx="1096050" cy="495300"/>
          </a:xfrm>
          <a:prstGeom prst="rect">
            <a:avLst/>
          </a:prstGeom>
        </p:spPr>
        <p:txBody>
          <a:bodyPr anchor="t" rtlCol="false" tIns="0" lIns="0" bIns="0" rIns="0">
            <a:spAutoFit/>
          </a:bodyPr>
          <a:lstStyle/>
          <a:p>
            <a:pPr algn="ctr">
              <a:lnSpc>
                <a:spcPts val="1800"/>
              </a:lnSpc>
              <a:spcBef>
                <a:spcPct val="0"/>
              </a:spcBef>
            </a:pPr>
            <a:r>
              <a:rPr lang="en-US" sz="1500">
                <a:solidFill>
                  <a:srgbClr val="000000"/>
                </a:solidFill>
                <a:latin typeface="Calibri (MS)"/>
                <a:ea typeface="Calibri (MS)"/>
                <a:cs typeface="Calibri (MS)"/>
                <a:sym typeface="Calibri (MS)"/>
              </a:rPr>
              <a:t>View your digital twin</a:t>
            </a:r>
          </a:p>
        </p:txBody>
      </p:sp>
      <p:sp>
        <p:nvSpPr>
          <p:cNvPr name="TextBox 61" id="61"/>
          <p:cNvSpPr txBox="true"/>
          <p:nvPr/>
        </p:nvSpPr>
        <p:spPr>
          <a:xfrm rot="0">
            <a:off x="8153344" y="5572437"/>
            <a:ext cx="1660320" cy="723900"/>
          </a:xfrm>
          <a:prstGeom prst="rect">
            <a:avLst/>
          </a:prstGeom>
        </p:spPr>
        <p:txBody>
          <a:bodyPr anchor="t" rtlCol="false" tIns="0" lIns="0" bIns="0" rIns="0">
            <a:spAutoFit/>
          </a:bodyPr>
          <a:lstStyle/>
          <a:p>
            <a:pPr algn="ctr">
              <a:lnSpc>
                <a:spcPts val="1800"/>
              </a:lnSpc>
              <a:spcBef>
                <a:spcPct val="0"/>
              </a:spcBef>
            </a:pPr>
            <a:r>
              <a:rPr lang="en-US" sz="1500">
                <a:solidFill>
                  <a:srgbClr val="000000"/>
                </a:solidFill>
                <a:latin typeface="Calibri (MS)"/>
                <a:ea typeface="Calibri (MS)"/>
                <a:cs typeface="Calibri (MS)"/>
                <a:sym typeface="Calibri (MS)"/>
              </a:rPr>
              <a:t>Future projection of multiple scenarios in your day</a:t>
            </a:r>
          </a:p>
        </p:txBody>
      </p:sp>
      <p:sp>
        <p:nvSpPr>
          <p:cNvPr name="TextBox 62" id="62"/>
          <p:cNvSpPr txBox="true"/>
          <p:nvPr/>
        </p:nvSpPr>
        <p:spPr>
          <a:xfrm rot="0">
            <a:off x="10299439" y="5343837"/>
            <a:ext cx="1660320" cy="495300"/>
          </a:xfrm>
          <a:prstGeom prst="rect">
            <a:avLst/>
          </a:prstGeom>
        </p:spPr>
        <p:txBody>
          <a:bodyPr anchor="t" rtlCol="false" tIns="0" lIns="0" bIns="0" rIns="0">
            <a:spAutoFit/>
          </a:bodyPr>
          <a:lstStyle/>
          <a:p>
            <a:pPr algn="ctr">
              <a:lnSpc>
                <a:spcPts val="1800"/>
              </a:lnSpc>
              <a:spcBef>
                <a:spcPct val="0"/>
              </a:spcBef>
            </a:pPr>
            <a:r>
              <a:rPr lang="en-US" sz="1500">
                <a:solidFill>
                  <a:srgbClr val="000000"/>
                </a:solidFill>
                <a:latin typeface="Calibri (MS)"/>
                <a:ea typeface="Calibri (MS)"/>
                <a:cs typeface="Calibri (MS)"/>
                <a:sym typeface="Calibri (MS)"/>
              </a:rPr>
              <a:t>Implementation of recommended action</a:t>
            </a:r>
          </a:p>
        </p:txBody>
      </p:sp>
      <p:sp>
        <p:nvSpPr>
          <p:cNvPr name="TextBox 63" id="63"/>
          <p:cNvSpPr txBox="true"/>
          <p:nvPr/>
        </p:nvSpPr>
        <p:spPr>
          <a:xfrm rot="0">
            <a:off x="16397613" y="5296212"/>
            <a:ext cx="1870275" cy="1181100"/>
          </a:xfrm>
          <a:prstGeom prst="rect">
            <a:avLst/>
          </a:prstGeom>
        </p:spPr>
        <p:txBody>
          <a:bodyPr anchor="t" rtlCol="false" tIns="0" lIns="0" bIns="0" rIns="0">
            <a:spAutoFit/>
          </a:bodyPr>
          <a:lstStyle/>
          <a:p>
            <a:pPr algn="ctr">
              <a:lnSpc>
                <a:spcPts val="1800"/>
              </a:lnSpc>
              <a:spcBef>
                <a:spcPct val="0"/>
              </a:spcBef>
            </a:pPr>
            <a:r>
              <a:rPr lang="en-US" sz="1500">
                <a:solidFill>
                  <a:srgbClr val="000000"/>
                </a:solidFill>
                <a:latin typeface="Calibri (MS)"/>
                <a:ea typeface="Calibri (MS)"/>
                <a:cs typeface="Calibri (MS)"/>
                <a:sym typeface="Calibri (MS)"/>
              </a:rPr>
              <a:t>Pulse reads your notifications And provides summaries in case you can’t read all your notifications</a:t>
            </a:r>
          </a:p>
        </p:txBody>
      </p:sp>
      <p:sp>
        <p:nvSpPr>
          <p:cNvPr name="TextBox 64" id="64"/>
          <p:cNvSpPr txBox="true"/>
          <p:nvPr/>
        </p:nvSpPr>
        <p:spPr>
          <a:xfrm rot="0">
            <a:off x="12233996" y="5343837"/>
            <a:ext cx="2345423" cy="952500"/>
          </a:xfrm>
          <a:prstGeom prst="rect">
            <a:avLst/>
          </a:prstGeom>
        </p:spPr>
        <p:txBody>
          <a:bodyPr anchor="t" rtlCol="false" tIns="0" lIns="0" bIns="0" rIns="0">
            <a:spAutoFit/>
          </a:bodyPr>
          <a:lstStyle/>
          <a:p>
            <a:pPr algn="ctr">
              <a:lnSpc>
                <a:spcPts val="1800"/>
              </a:lnSpc>
              <a:spcBef>
                <a:spcPct val="0"/>
              </a:spcBef>
            </a:pPr>
            <a:r>
              <a:rPr lang="en-US" b="true" sz="1500">
                <a:solidFill>
                  <a:srgbClr val="000000"/>
                </a:solidFill>
                <a:latin typeface="Calibri (MS) Bold"/>
                <a:ea typeface="Calibri (MS) Bold"/>
                <a:cs typeface="Calibri (MS) Bold"/>
                <a:sym typeface="Calibri (MS) Bold"/>
              </a:rPr>
              <a:t>Asking questions about risks, updating digital twin, updating daily pulse in natural language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7050" cy="147066"/>
            <a:chOff x="0" y="0"/>
            <a:chExt cx="24409400" cy="196088"/>
          </a:xfrm>
        </p:grpSpPr>
        <p:sp>
          <p:nvSpPr>
            <p:cNvPr name="Freeform 3" id="3"/>
            <p:cNvSpPr/>
            <p:nvPr/>
          </p:nvSpPr>
          <p:spPr>
            <a:xfrm flipH="false" flipV="false" rot="0">
              <a:off x="12700" y="12700"/>
              <a:ext cx="24384000" cy="170688"/>
            </a:xfrm>
            <a:custGeom>
              <a:avLst/>
              <a:gdLst/>
              <a:ahLst/>
              <a:cxnLst/>
              <a:rect r="r" b="b" t="t" l="l"/>
              <a:pathLst>
                <a:path h="170688" w="24384000">
                  <a:moveTo>
                    <a:pt x="0" y="0"/>
                  </a:moveTo>
                  <a:lnTo>
                    <a:pt x="24384000" y="0"/>
                  </a:lnTo>
                  <a:lnTo>
                    <a:pt x="24384000" y="170688"/>
                  </a:lnTo>
                  <a:lnTo>
                    <a:pt x="0" y="170688"/>
                  </a:lnTo>
                  <a:close/>
                </a:path>
              </a:pathLst>
            </a:custGeom>
            <a:solidFill>
              <a:srgbClr val="00B4D8"/>
            </a:solidFill>
          </p:spPr>
        </p:sp>
        <p:sp>
          <p:nvSpPr>
            <p:cNvPr name="Freeform 4" id="4"/>
            <p:cNvSpPr/>
            <p:nvPr/>
          </p:nvSpPr>
          <p:spPr>
            <a:xfrm flipH="false" flipV="false" rot="0">
              <a:off x="0" y="0"/>
              <a:ext cx="24409400" cy="196088"/>
            </a:xfrm>
            <a:custGeom>
              <a:avLst/>
              <a:gdLst/>
              <a:ahLst/>
              <a:cxnLst/>
              <a:rect r="r" b="b" t="t" l="l"/>
              <a:pathLst>
                <a:path h="196088" w="24409400">
                  <a:moveTo>
                    <a:pt x="12700" y="0"/>
                  </a:moveTo>
                  <a:lnTo>
                    <a:pt x="24396700" y="0"/>
                  </a:lnTo>
                  <a:cubicBezTo>
                    <a:pt x="24403686" y="0"/>
                    <a:pt x="24409400" y="5715"/>
                    <a:pt x="24409400" y="12700"/>
                  </a:cubicBezTo>
                  <a:lnTo>
                    <a:pt x="24409400" y="183388"/>
                  </a:lnTo>
                  <a:cubicBezTo>
                    <a:pt x="24409400" y="190373"/>
                    <a:pt x="24403686" y="196088"/>
                    <a:pt x="24396700" y="196088"/>
                  </a:cubicBezTo>
                  <a:lnTo>
                    <a:pt x="12700" y="196088"/>
                  </a:lnTo>
                  <a:cubicBezTo>
                    <a:pt x="5715" y="196088"/>
                    <a:pt x="0" y="190373"/>
                    <a:pt x="0" y="183388"/>
                  </a:cubicBezTo>
                  <a:lnTo>
                    <a:pt x="0" y="12700"/>
                  </a:lnTo>
                  <a:cubicBezTo>
                    <a:pt x="0" y="5715"/>
                    <a:pt x="5715" y="0"/>
                    <a:pt x="12700" y="0"/>
                  </a:cubicBezTo>
                  <a:moveTo>
                    <a:pt x="12700" y="25400"/>
                  </a:moveTo>
                  <a:lnTo>
                    <a:pt x="12700" y="12700"/>
                  </a:lnTo>
                  <a:lnTo>
                    <a:pt x="25400" y="12700"/>
                  </a:lnTo>
                  <a:lnTo>
                    <a:pt x="25400" y="183388"/>
                  </a:lnTo>
                  <a:lnTo>
                    <a:pt x="12700" y="183388"/>
                  </a:lnTo>
                  <a:lnTo>
                    <a:pt x="12700" y="170688"/>
                  </a:lnTo>
                  <a:lnTo>
                    <a:pt x="24396700" y="170688"/>
                  </a:lnTo>
                  <a:lnTo>
                    <a:pt x="24396700" y="183388"/>
                  </a:lnTo>
                  <a:lnTo>
                    <a:pt x="24384000" y="183388"/>
                  </a:lnTo>
                  <a:lnTo>
                    <a:pt x="24384000" y="12700"/>
                  </a:lnTo>
                  <a:lnTo>
                    <a:pt x="24396700" y="12700"/>
                  </a:lnTo>
                  <a:lnTo>
                    <a:pt x="24396700" y="25400"/>
                  </a:lnTo>
                  <a:lnTo>
                    <a:pt x="12700" y="25400"/>
                  </a:lnTo>
                  <a:close/>
                </a:path>
              </a:pathLst>
            </a:custGeom>
            <a:solidFill>
              <a:srgbClr val="00B4D8"/>
            </a:solidFill>
          </p:spPr>
        </p:sp>
      </p:grpSp>
      <p:grpSp>
        <p:nvGrpSpPr>
          <p:cNvPr name="Group 5" id="5"/>
          <p:cNvGrpSpPr/>
          <p:nvPr/>
        </p:nvGrpSpPr>
        <p:grpSpPr>
          <a:xfrm rot="0">
            <a:off x="904875" y="319659"/>
            <a:ext cx="2945130" cy="531114"/>
            <a:chOff x="0" y="0"/>
            <a:chExt cx="3926840" cy="708152"/>
          </a:xfrm>
        </p:grpSpPr>
        <p:sp>
          <p:nvSpPr>
            <p:cNvPr name="Freeform 6" id="6"/>
            <p:cNvSpPr/>
            <p:nvPr/>
          </p:nvSpPr>
          <p:spPr>
            <a:xfrm flipH="false" flipV="false" rot="0">
              <a:off x="12700" y="12700"/>
              <a:ext cx="3901440" cy="682752"/>
            </a:xfrm>
            <a:custGeom>
              <a:avLst/>
              <a:gdLst/>
              <a:ahLst/>
              <a:cxnLst/>
              <a:rect r="r" b="b" t="t" l="l"/>
              <a:pathLst>
                <a:path h="682752" w="3901440">
                  <a:moveTo>
                    <a:pt x="0" y="0"/>
                  </a:moveTo>
                  <a:lnTo>
                    <a:pt x="3901440" y="0"/>
                  </a:lnTo>
                  <a:lnTo>
                    <a:pt x="3901440" y="682752"/>
                  </a:lnTo>
                  <a:lnTo>
                    <a:pt x="0" y="682752"/>
                  </a:lnTo>
                  <a:close/>
                </a:path>
              </a:pathLst>
            </a:custGeom>
            <a:solidFill>
              <a:srgbClr val="0077A8"/>
            </a:solidFill>
          </p:spPr>
        </p:sp>
        <p:sp>
          <p:nvSpPr>
            <p:cNvPr name="Freeform 7" id="7"/>
            <p:cNvSpPr/>
            <p:nvPr/>
          </p:nvSpPr>
          <p:spPr>
            <a:xfrm flipH="false" flipV="false" rot="0">
              <a:off x="0" y="0"/>
              <a:ext cx="3926840" cy="708152"/>
            </a:xfrm>
            <a:custGeom>
              <a:avLst/>
              <a:gdLst/>
              <a:ahLst/>
              <a:cxnLst/>
              <a:rect r="r" b="b" t="t" l="l"/>
              <a:pathLst>
                <a:path h="708152" w="3926840">
                  <a:moveTo>
                    <a:pt x="12700" y="0"/>
                  </a:moveTo>
                  <a:lnTo>
                    <a:pt x="3914140" y="0"/>
                  </a:lnTo>
                  <a:cubicBezTo>
                    <a:pt x="3921125" y="0"/>
                    <a:pt x="3926840" y="5715"/>
                    <a:pt x="3926840" y="12700"/>
                  </a:cubicBezTo>
                  <a:lnTo>
                    <a:pt x="3926840" y="695452"/>
                  </a:lnTo>
                  <a:cubicBezTo>
                    <a:pt x="3926840" y="702437"/>
                    <a:pt x="3921125" y="708152"/>
                    <a:pt x="3914140" y="708152"/>
                  </a:cubicBezTo>
                  <a:lnTo>
                    <a:pt x="12700" y="708152"/>
                  </a:lnTo>
                  <a:cubicBezTo>
                    <a:pt x="5715" y="708152"/>
                    <a:pt x="0" y="702437"/>
                    <a:pt x="0" y="695452"/>
                  </a:cubicBezTo>
                  <a:lnTo>
                    <a:pt x="0" y="12700"/>
                  </a:lnTo>
                  <a:cubicBezTo>
                    <a:pt x="0" y="5715"/>
                    <a:pt x="5715" y="0"/>
                    <a:pt x="12700" y="0"/>
                  </a:cubicBezTo>
                  <a:moveTo>
                    <a:pt x="12700" y="25400"/>
                  </a:moveTo>
                  <a:lnTo>
                    <a:pt x="12700" y="12700"/>
                  </a:lnTo>
                  <a:lnTo>
                    <a:pt x="25400" y="12700"/>
                  </a:lnTo>
                  <a:lnTo>
                    <a:pt x="25400" y="695452"/>
                  </a:lnTo>
                  <a:lnTo>
                    <a:pt x="12700" y="695452"/>
                  </a:lnTo>
                  <a:lnTo>
                    <a:pt x="12700" y="682752"/>
                  </a:lnTo>
                  <a:lnTo>
                    <a:pt x="3914140" y="682752"/>
                  </a:lnTo>
                  <a:lnTo>
                    <a:pt x="3914140" y="695452"/>
                  </a:lnTo>
                  <a:lnTo>
                    <a:pt x="3901440" y="695452"/>
                  </a:lnTo>
                  <a:lnTo>
                    <a:pt x="3901440" y="12700"/>
                  </a:lnTo>
                  <a:lnTo>
                    <a:pt x="3914140" y="12700"/>
                  </a:lnTo>
                  <a:lnTo>
                    <a:pt x="3914140" y="25400"/>
                  </a:lnTo>
                  <a:lnTo>
                    <a:pt x="12700" y="25400"/>
                  </a:lnTo>
                  <a:close/>
                </a:path>
              </a:pathLst>
            </a:custGeom>
            <a:solidFill>
              <a:srgbClr val="0077A8"/>
            </a:solidFill>
          </p:spPr>
        </p:sp>
      </p:grpSp>
      <p:grpSp>
        <p:nvGrpSpPr>
          <p:cNvPr name="Group 8" id="8"/>
          <p:cNvGrpSpPr/>
          <p:nvPr/>
        </p:nvGrpSpPr>
        <p:grpSpPr>
          <a:xfrm rot="0">
            <a:off x="914400" y="329184"/>
            <a:ext cx="2926080" cy="512064"/>
            <a:chOff x="0" y="0"/>
            <a:chExt cx="3901440" cy="682752"/>
          </a:xfrm>
        </p:grpSpPr>
        <p:sp>
          <p:nvSpPr>
            <p:cNvPr name="Freeform 9" id="9"/>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2">
                <a:alphaModFix amt="0"/>
              </a:blip>
              <a:stretch>
                <a:fillRect l="0" t="-61343" r="0" b="-61343"/>
              </a:stretch>
            </a:blipFill>
          </p:spPr>
        </p:sp>
        <p:sp>
          <p:nvSpPr>
            <p:cNvPr name="TextBox 10" id="10"/>
            <p:cNvSpPr txBox="true"/>
            <p:nvPr/>
          </p:nvSpPr>
          <p:spPr>
            <a:xfrm>
              <a:off x="0" y="-38100"/>
              <a:ext cx="3901440" cy="720852"/>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Idea</a:t>
              </a:r>
            </a:p>
          </p:txBody>
        </p:sp>
      </p:grpSp>
      <p:grpSp>
        <p:nvGrpSpPr>
          <p:cNvPr name="Group 11" id="11"/>
          <p:cNvGrpSpPr/>
          <p:nvPr/>
        </p:nvGrpSpPr>
        <p:grpSpPr>
          <a:xfrm rot="0">
            <a:off x="914400" y="1005840"/>
            <a:ext cx="16459200" cy="1280160"/>
            <a:chOff x="0" y="0"/>
            <a:chExt cx="21945600" cy="1706880"/>
          </a:xfrm>
        </p:grpSpPr>
        <p:sp>
          <p:nvSpPr>
            <p:cNvPr name="Freeform 12" id="12"/>
            <p:cNvSpPr/>
            <p:nvPr/>
          </p:nvSpPr>
          <p:spPr>
            <a:xfrm flipH="false" flipV="false" rot="0">
              <a:off x="0" y="0"/>
              <a:ext cx="21945600" cy="1706880"/>
            </a:xfrm>
            <a:custGeom>
              <a:avLst/>
              <a:gdLst/>
              <a:ahLst/>
              <a:cxnLst/>
              <a:rect r="r" b="b" t="t" l="l"/>
              <a:pathLst>
                <a:path h="1706880" w="21945600">
                  <a:moveTo>
                    <a:pt x="0" y="0"/>
                  </a:moveTo>
                  <a:lnTo>
                    <a:pt x="21945600" y="0"/>
                  </a:lnTo>
                  <a:lnTo>
                    <a:pt x="21945600" y="1706880"/>
                  </a:lnTo>
                  <a:lnTo>
                    <a:pt x="0" y="1706880"/>
                  </a:lnTo>
                  <a:close/>
                </a:path>
              </a:pathLst>
            </a:custGeom>
            <a:blipFill>
              <a:blip r:embed="rId2">
                <a:alphaModFix amt="0"/>
              </a:blip>
              <a:stretch>
                <a:fillRect l="0" t="-200521" r="0" b="-200521"/>
              </a:stretch>
            </a:blipFill>
          </p:spPr>
        </p:sp>
        <p:sp>
          <p:nvSpPr>
            <p:cNvPr name="TextBox 13" id="13"/>
            <p:cNvSpPr txBox="true"/>
            <p:nvPr/>
          </p:nvSpPr>
          <p:spPr>
            <a:xfrm>
              <a:off x="0" y="-123825"/>
              <a:ext cx="21945600" cy="1830705"/>
            </a:xfrm>
            <a:prstGeom prst="rect">
              <a:avLst/>
            </a:prstGeom>
          </p:spPr>
          <p:txBody>
            <a:bodyPr anchor="ctr" rtlCol="false" tIns="0" lIns="0" bIns="0" rIns="0"/>
            <a:lstStyle/>
            <a:p>
              <a:pPr algn="l">
                <a:lnSpc>
                  <a:spcPts val="7680"/>
                </a:lnSpc>
              </a:pPr>
              <a:r>
                <a:rPr lang="en-US" sz="6400" b="true">
                  <a:solidFill>
                    <a:srgbClr val="000000"/>
                  </a:solidFill>
                  <a:latin typeface="Calibri (MS) Bold"/>
                  <a:ea typeface="Calibri (MS) Bold"/>
                  <a:cs typeface="Calibri (MS) Bold"/>
                  <a:sym typeface="Calibri (MS) Bold"/>
                </a:rPr>
                <a:t>Tech &amp; Architecture</a:t>
              </a:r>
            </a:p>
          </p:txBody>
        </p:sp>
      </p:grpSp>
      <p:sp>
        <p:nvSpPr>
          <p:cNvPr name="Freeform 14" id="14"/>
          <p:cNvSpPr/>
          <p:nvPr/>
        </p:nvSpPr>
        <p:spPr>
          <a:xfrm flipH="false" flipV="false" rot="0">
            <a:off x="5591213" y="2000482"/>
            <a:ext cx="12399092" cy="5641587"/>
          </a:xfrm>
          <a:custGeom>
            <a:avLst/>
            <a:gdLst/>
            <a:ahLst/>
            <a:cxnLst/>
            <a:rect r="r" b="b" t="t" l="l"/>
            <a:pathLst>
              <a:path h="5641587" w="12399092">
                <a:moveTo>
                  <a:pt x="0" y="0"/>
                </a:moveTo>
                <a:lnTo>
                  <a:pt x="12399092" y="0"/>
                </a:lnTo>
                <a:lnTo>
                  <a:pt x="12399092" y="5641587"/>
                </a:lnTo>
                <a:lnTo>
                  <a:pt x="0" y="5641587"/>
                </a:lnTo>
                <a:lnTo>
                  <a:pt x="0" y="0"/>
                </a:lnTo>
                <a:close/>
              </a:path>
            </a:pathLst>
          </a:custGeom>
          <a:blipFill>
            <a:blip r:embed="rId3"/>
            <a:stretch>
              <a:fillRect l="0" t="0" r="0" b="0"/>
            </a:stretch>
          </a:blipFill>
        </p:spPr>
      </p:sp>
      <p:sp>
        <p:nvSpPr>
          <p:cNvPr name="Freeform 15" id="15"/>
          <p:cNvSpPr/>
          <p:nvPr/>
        </p:nvSpPr>
        <p:spPr>
          <a:xfrm flipH="false" flipV="false" rot="0">
            <a:off x="308906" y="2153865"/>
            <a:ext cx="5436760" cy="5334821"/>
          </a:xfrm>
          <a:custGeom>
            <a:avLst/>
            <a:gdLst/>
            <a:ahLst/>
            <a:cxnLst/>
            <a:rect r="r" b="b" t="t" l="l"/>
            <a:pathLst>
              <a:path h="5334821" w="5436760">
                <a:moveTo>
                  <a:pt x="0" y="0"/>
                </a:moveTo>
                <a:lnTo>
                  <a:pt x="5436760" y="0"/>
                </a:lnTo>
                <a:lnTo>
                  <a:pt x="5436760" y="5334821"/>
                </a:lnTo>
                <a:lnTo>
                  <a:pt x="0" y="5334821"/>
                </a:lnTo>
                <a:lnTo>
                  <a:pt x="0" y="0"/>
                </a:lnTo>
                <a:close/>
              </a:path>
            </a:pathLst>
          </a:custGeom>
          <a:blipFill>
            <a:blip r:embed="rId4"/>
            <a:stretch>
              <a:fillRect l="0" t="0" r="0" b="0"/>
            </a:stretch>
          </a:blipFill>
        </p:spPr>
      </p:sp>
      <p:graphicFrame>
        <p:nvGraphicFramePr>
          <p:cNvPr name="Object 16" id="16"/>
          <p:cNvGraphicFramePr/>
          <p:nvPr/>
        </p:nvGraphicFramePr>
        <p:xfrm>
          <a:off x="13059685" y="6344321"/>
          <a:ext cx="5657850" cy="4714875"/>
        </p:xfrm>
        <a:graphic>
          <a:graphicData uri="http://schemas.openxmlformats.org/presentationml/2006/ole">
            <p:oleObj imgW="6781800" imgH="58420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grpSp>
        <p:nvGrpSpPr>
          <p:cNvPr name="Group 17" id="17"/>
          <p:cNvGrpSpPr/>
          <p:nvPr/>
        </p:nvGrpSpPr>
        <p:grpSpPr>
          <a:xfrm rot="0">
            <a:off x="1066800" y="481584"/>
            <a:ext cx="2926080" cy="512064"/>
            <a:chOff x="0" y="0"/>
            <a:chExt cx="3901440" cy="682752"/>
          </a:xfrm>
        </p:grpSpPr>
        <p:sp>
          <p:nvSpPr>
            <p:cNvPr name="Freeform 18" id="18"/>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7">
                <a:alphaModFix amt="0"/>
              </a:blip>
              <a:stretch>
                <a:fillRect l="-30433" t="-718402" r="-33200" b="-116648"/>
              </a:stretch>
            </a:blipFill>
          </p:spPr>
        </p:sp>
        <p:sp>
          <p:nvSpPr>
            <p:cNvPr name="TextBox 19" id="19"/>
            <p:cNvSpPr txBox="true"/>
            <p:nvPr/>
          </p:nvSpPr>
          <p:spPr>
            <a:xfrm>
              <a:off x="0" y="-38100"/>
              <a:ext cx="3901440" cy="720852"/>
            </a:xfrm>
            <a:prstGeom prst="rect">
              <a:avLst/>
            </a:prstGeom>
          </p:spPr>
          <p:txBody>
            <a:bodyPr anchor="ctr" rtlCol="false" tIns="0" lIns="0" bIns="0" rIns="0"/>
            <a:lstStyle/>
            <a:p>
              <a:pPr algn="ctr">
                <a:lnSpc>
                  <a:spcPts val="1800"/>
                </a:lnSpc>
              </a:pPr>
            </a:p>
          </p:txBody>
        </p:sp>
      </p:grpSp>
      <p:grpSp>
        <p:nvGrpSpPr>
          <p:cNvPr name="Group 20" id="20"/>
          <p:cNvGrpSpPr/>
          <p:nvPr/>
        </p:nvGrpSpPr>
        <p:grpSpPr>
          <a:xfrm rot="0">
            <a:off x="914400" y="329184"/>
            <a:ext cx="2945130" cy="531114"/>
            <a:chOff x="0" y="0"/>
            <a:chExt cx="3926840" cy="708152"/>
          </a:xfrm>
        </p:grpSpPr>
        <p:sp>
          <p:nvSpPr>
            <p:cNvPr name="Freeform 21" id="21"/>
            <p:cNvSpPr/>
            <p:nvPr/>
          </p:nvSpPr>
          <p:spPr>
            <a:xfrm flipH="false" flipV="false" rot="0">
              <a:off x="12700" y="1270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7"/>
              <a:stretch>
                <a:fillRect l="-30433" t="-718402" r="-33200" b="-116648"/>
              </a:stretch>
            </a:blipFill>
          </p:spPr>
        </p:sp>
        <p:sp>
          <p:nvSpPr>
            <p:cNvPr name="Freeform 22" id="22"/>
            <p:cNvSpPr/>
            <p:nvPr/>
          </p:nvSpPr>
          <p:spPr>
            <a:xfrm flipH="false" flipV="false" rot="0">
              <a:off x="0" y="0"/>
              <a:ext cx="3926840" cy="708152"/>
            </a:xfrm>
            <a:custGeom>
              <a:avLst/>
              <a:gdLst/>
              <a:ahLst/>
              <a:cxnLst/>
              <a:rect r="r" b="b" t="t" l="l"/>
              <a:pathLst>
                <a:path h="708152" w="3926840">
                  <a:moveTo>
                    <a:pt x="12700" y="0"/>
                  </a:moveTo>
                  <a:lnTo>
                    <a:pt x="3914140" y="0"/>
                  </a:lnTo>
                  <a:cubicBezTo>
                    <a:pt x="3921125" y="0"/>
                    <a:pt x="3926840" y="5715"/>
                    <a:pt x="3926840" y="12700"/>
                  </a:cubicBezTo>
                  <a:lnTo>
                    <a:pt x="3926840" y="695452"/>
                  </a:lnTo>
                  <a:cubicBezTo>
                    <a:pt x="3926840" y="702437"/>
                    <a:pt x="3921125" y="708152"/>
                    <a:pt x="3914140" y="708152"/>
                  </a:cubicBezTo>
                  <a:lnTo>
                    <a:pt x="12700" y="708152"/>
                  </a:lnTo>
                  <a:cubicBezTo>
                    <a:pt x="5715" y="708152"/>
                    <a:pt x="0" y="702437"/>
                    <a:pt x="0" y="695452"/>
                  </a:cubicBezTo>
                  <a:lnTo>
                    <a:pt x="0" y="12700"/>
                  </a:lnTo>
                  <a:cubicBezTo>
                    <a:pt x="0" y="5715"/>
                    <a:pt x="5715" y="0"/>
                    <a:pt x="12700" y="0"/>
                  </a:cubicBezTo>
                  <a:moveTo>
                    <a:pt x="12700" y="25400"/>
                  </a:moveTo>
                  <a:lnTo>
                    <a:pt x="12700" y="12700"/>
                  </a:lnTo>
                  <a:lnTo>
                    <a:pt x="25400" y="12700"/>
                  </a:lnTo>
                  <a:lnTo>
                    <a:pt x="25400" y="695452"/>
                  </a:lnTo>
                  <a:lnTo>
                    <a:pt x="12700" y="695452"/>
                  </a:lnTo>
                  <a:lnTo>
                    <a:pt x="12700" y="682752"/>
                  </a:lnTo>
                  <a:lnTo>
                    <a:pt x="3914140" y="682752"/>
                  </a:lnTo>
                  <a:lnTo>
                    <a:pt x="3914140" y="695452"/>
                  </a:lnTo>
                  <a:lnTo>
                    <a:pt x="3901440" y="695452"/>
                  </a:lnTo>
                  <a:lnTo>
                    <a:pt x="3901440" y="12700"/>
                  </a:lnTo>
                  <a:lnTo>
                    <a:pt x="3914140" y="12700"/>
                  </a:lnTo>
                  <a:lnTo>
                    <a:pt x="3914140" y="25400"/>
                  </a:lnTo>
                  <a:lnTo>
                    <a:pt x="12700" y="25400"/>
                  </a:lnTo>
                  <a:close/>
                </a:path>
              </a:pathLst>
            </a:custGeom>
            <a:solidFill>
              <a:srgbClr val="0077A8"/>
            </a:solidFill>
          </p:spPr>
        </p:sp>
      </p:grpSp>
      <p:sp>
        <p:nvSpPr>
          <p:cNvPr name="TextBox 23" id="23"/>
          <p:cNvSpPr txBox="true"/>
          <p:nvPr/>
        </p:nvSpPr>
        <p:spPr>
          <a:xfrm rot="0">
            <a:off x="308906" y="7756369"/>
            <a:ext cx="12281189" cy="2047875"/>
          </a:xfrm>
          <a:prstGeom prst="rect">
            <a:avLst/>
          </a:prstGeom>
        </p:spPr>
        <p:txBody>
          <a:bodyPr anchor="t" rtlCol="false" tIns="0" lIns="0" bIns="0" rIns="0">
            <a:spAutoFit/>
          </a:bodyPr>
          <a:lstStyle/>
          <a:p>
            <a:pPr algn="just">
              <a:lnSpc>
                <a:spcPts val="2637"/>
              </a:lnSpc>
              <a:spcBef>
                <a:spcPct val="0"/>
              </a:spcBef>
            </a:pPr>
            <a:r>
              <a:rPr lang="en-US" b="true" sz="2198">
                <a:solidFill>
                  <a:srgbClr val="000000"/>
                </a:solidFill>
                <a:latin typeface="Calibri (MS) Bold"/>
                <a:ea typeface="Calibri (MS) Bold"/>
                <a:cs typeface="Calibri (MS) Bold"/>
                <a:sym typeface="Calibri (MS) Bold"/>
              </a:rPr>
              <a:t>Pulse is a predictive digital twin that syncs a Flutter-based sens</a:t>
            </a:r>
            <a:r>
              <a:rPr lang="en-US" b="true" sz="2198">
                <a:solidFill>
                  <a:srgbClr val="000000"/>
                </a:solidFill>
                <a:latin typeface="Calibri (MS) Bold"/>
                <a:ea typeface="Calibri (MS) Bold"/>
                <a:cs typeface="Calibri (MS) Bold"/>
                <a:sym typeface="Calibri (MS) Bold"/>
              </a:rPr>
              <a:t>or array with a TypeScript "Heartbeat" server. It utilizes a low-latency Llama-3.1 swarm (via Groq) to cross-reference real-time telemetry—location, battery, and notifications—against historical behavioral patterns stored in Neo4j. Governed by a SOUL.md safety framework, this 5-agent system anticipates operational failures like transit delays or focus fragmentation, pushing real-time "Next Best Move" interventions directly to the user as actionable UI cards.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7050" cy="147066"/>
            <a:chOff x="0" y="0"/>
            <a:chExt cx="24409400" cy="196088"/>
          </a:xfrm>
        </p:grpSpPr>
        <p:sp>
          <p:nvSpPr>
            <p:cNvPr name="Freeform 3" id="3"/>
            <p:cNvSpPr/>
            <p:nvPr/>
          </p:nvSpPr>
          <p:spPr>
            <a:xfrm flipH="false" flipV="false" rot="0">
              <a:off x="12700" y="12700"/>
              <a:ext cx="24384000" cy="170688"/>
            </a:xfrm>
            <a:custGeom>
              <a:avLst/>
              <a:gdLst/>
              <a:ahLst/>
              <a:cxnLst/>
              <a:rect r="r" b="b" t="t" l="l"/>
              <a:pathLst>
                <a:path h="170688" w="24384000">
                  <a:moveTo>
                    <a:pt x="0" y="0"/>
                  </a:moveTo>
                  <a:lnTo>
                    <a:pt x="24384000" y="0"/>
                  </a:lnTo>
                  <a:lnTo>
                    <a:pt x="24384000" y="170688"/>
                  </a:lnTo>
                  <a:lnTo>
                    <a:pt x="0" y="170688"/>
                  </a:lnTo>
                  <a:close/>
                </a:path>
              </a:pathLst>
            </a:custGeom>
            <a:solidFill>
              <a:srgbClr val="00B4D8"/>
            </a:solidFill>
          </p:spPr>
        </p:sp>
        <p:sp>
          <p:nvSpPr>
            <p:cNvPr name="Freeform 4" id="4"/>
            <p:cNvSpPr/>
            <p:nvPr/>
          </p:nvSpPr>
          <p:spPr>
            <a:xfrm flipH="false" flipV="false" rot="0">
              <a:off x="0" y="0"/>
              <a:ext cx="24409400" cy="196088"/>
            </a:xfrm>
            <a:custGeom>
              <a:avLst/>
              <a:gdLst/>
              <a:ahLst/>
              <a:cxnLst/>
              <a:rect r="r" b="b" t="t" l="l"/>
              <a:pathLst>
                <a:path h="196088" w="24409400">
                  <a:moveTo>
                    <a:pt x="12700" y="0"/>
                  </a:moveTo>
                  <a:lnTo>
                    <a:pt x="24396700" y="0"/>
                  </a:lnTo>
                  <a:cubicBezTo>
                    <a:pt x="24403686" y="0"/>
                    <a:pt x="24409400" y="5715"/>
                    <a:pt x="24409400" y="12700"/>
                  </a:cubicBezTo>
                  <a:lnTo>
                    <a:pt x="24409400" y="183388"/>
                  </a:lnTo>
                  <a:cubicBezTo>
                    <a:pt x="24409400" y="190373"/>
                    <a:pt x="24403686" y="196088"/>
                    <a:pt x="24396700" y="196088"/>
                  </a:cubicBezTo>
                  <a:lnTo>
                    <a:pt x="12700" y="196088"/>
                  </a:lnTo>
                  <a:cubicBezTo>
                    <a:pt x="5715" y="196088"/>
                    <a:pt x="0" y="190373"/>
                    <a:pt x="0" y="183388"/>
                  </a:cubicBezTo>
                  <a:lnTo>
                    <a:pt x="0" y="12700"/>
                  </a:lnTo>
                  <a:cubicBezTo>
                    <a:pt x="0" y="5715"/>
                    <a:pt x="5715" y="0"/>
                    <a:pt x="12700" y="0"/>
                  </a:cubicBezTo>
                  <a:moveTo>
                    <a:pt x="12700" y="25400"/>
                  </a:moveTo>
                  <a:lnTo>
                    <a:pt x="12700" y="12700"/>
                  </a:lnTo>
                  <a:lnTo>
                    <a:pt x="25400" y="12700"/>
                  </a:lnTo>
                  <a:lnTo>
                    <a:pt x="25400" y="183388"/>
                  </a:lnTo>
                  <a:lnTo>
                    <a:pt x="12700" y="183388"/>
                  </a:lnTo>
                  <a:lnTo>
                    <a:pt x="12700" y="170688"/>
                  </a:lnTo>
                  <a:lnTo>
                    <a:pt x="24396700" y="170688"/>
                  </a:lnTo>
                  <a:lnTo>
                    <a:pt x="24396700" y="183388"/>
                  </a:lnTo>
                  <a:lnTo>
                    <a:pt x="24384000" y="183388"/>
                  </a:lnTo>
                  <a:lnTo>
                    <a:pt x="24384000" y="12700"/>
                  </a:lnTo>
                  <a:lnTo>
                    <a:pt x="24396700" y="12700"/>
                  </a:lnTo>
                  <a:lnTo>
                    <a:pt x="24396700" y="25400"/>
                  </a:lnTo>
                  <a:lnTo>
                    <a:pt x="12700" y="25400"/>
                  </a:lnTo>
                  <a:close/>
                </a:path>
              </a:pathLst>
            </a:custGeom>
            <a:solidFill>
              <a:srgbClr val="00B4D8"/>
            </a:solidFill>
          </p:spPr>
        </p:sp>
      </p:grpSp>
      <p:grpSp>
        <p:nvGrpSpPr>
          <p:cNvPr name="Group 5" id="5"/>
          <p:cNvGrpSpPr/>
          <p:nvPr/>
        </p:nvGrpSpPr>
        <p:grpSpPr>
          <a:xfrm rot="0">
            <a:off x="904875" y="319659"/>
            <a:ext cx="2945130" cy="531114"/>
            <a:chOff x="0" y="0"/>
            <a:chExt cx="3926840" cy="708152"/>
          </a:xfrm>
        </p:grpSpPr>
        <p:sp>
          <p:nvSpPr>
            <p:cNvPr name="Freeform 6" id="6"/>
            <p:cNvSpPr/>
            <p:nvPr/>
          </p:nvSpPr>
          <p:spPr>
            <a:xfrm flipH="false" flipV="false" rot="0">
              <a:off x="12700" y="12700"/>
              <a:ext cx="3901440" cy="682752"/>
            </a:xfrm>
            <a:custGeom>
              <a:avLst/>
              <a:gdLst/>
              <a:ahLst/>
              <a:cxnLst/>
              <a:rect r="r" b="b" t="t" l="l"/>
              <a:pathLst>
                <a:path h="682752" w="3901440">
                  <a:moveTo>
                    <a:pt x="0" y="0"/>
                  </a:moveTo>
                  <a:lnTo>
                    <a:pt x="3901440" y="0"/>
                  </a:lnTo>
                  <a:lnTo>
                    <a:pt x="3901440" y="682752"/>
                  </a:lnTo>
                  <a:lnTo>
                    <a:pt x="0" y="682752"/>
                  </a:lnTo>
                  <a:close/>
                </a:path>
              </a:pathLst>
            </a:custGeom>
            <a:solidFill>
              <a:srgbClr val="0077A8"/>
            </a:solidFill>
          </p:spPr>
        </p:sp>
        <p:sp>
          <p:nvSpPr>
            <p:cNvPr name="Freeform 7" id="7"/>
            <p:cNvSpPr/>
            <p:nvPr/>
          </p:nvSpPr>
          <p:spPr>
            <a:xfrm flipH="false" flipV="false" rot="0">
              <a:off x="0" y="0"/>
              <a:ext cx="3926840" cy="708152"/>
            </a:xfrm>
            <a:custGeom>
              <a:avLst/>
              <a:gdLst/>
              <a:ahLst/>
              <a:cxnLst/>
              <a:rect r="r" b="b" t="t" l="l"/>
              <a:pathLst>
                <a:path h="708152" w="3926840">
                  <a:moveTo>
                    <a:pt x="12700" y="0"/>
                  </a:moveTo>
                  <a:lnTo>
                    <a:pt x="3914140" y="0"/>
                  </a:lnTo>
                  <a:cubicBezTo>
                    <a:pt x="3921125" y="0"/>
                    <a:pt x="3926840" y="5715"/>
                    <a:pt x="3926840" y="12700"/>
                  </a:cubicBezTo>
                  <a:lnTo>
                    <a:pt x="3926840" y="695452"/>
                  </a:lnTo>
                  <a:cubicBezTo>
                    <a:pt x="3926840" y="702437"/>
                    <a:pt x="3921125" y="708152"/>
                    <a:pt x="3914140" y="708152"/>
                  </a:cubicBezTo>
                  <a:lnTo>
                    <a:pt x="12700" y="708152"/>
                  </a:lnTo>
                  <a:cubicBezTo>
                    <a:pt x="5715" y="708152"/>
                    <a:pt x="0" y="702437"/>
                    <a:pt x="0" y="695452"/>
                  </a:cubicBezTo>
                  <a:lnTo>
                    <a:pt x="0" y="12700"/>
                  </a:lnTo>
                  <a:cubicBezTo>
                    <a:pt x="0" y="5715"/>
                    <a:pt x="5715" y="0"/>
                    <a:pt x="12700" y="0"/>
                  </a:cubicBezTo>
                  <a:moveTo>
                    <a:pt x="12700" y="25400"/>
                  </a:moveTo>
                  <a:lnTo>
                    <a:pt x="12700" y="12700"/>
                  </a:lnTo>
                  <a:lnTo>
                    <a:pt x="25400" y="12700"/>
                  </a:lnTo>
                  <a:lnTo>
                    <a:pt x="25400" y="695452"/>
                  </a:lnTo>
                  <a:lnTo>
                    <a:pt x="12700" y="695452"/>
                  </a:lnTo>
                  <a:lnTo>
                    <a:pt x="12700" y="682752"/>
                  </a:lnTo>
                  <a:lnTo>
                    <a:pt x="3914140" y="682752"/>
                  </a:lnTo>
                  <a:lnTo>
                    <a:pt x="3914140" y="695452"/>
                  </a:lnTo>
                  <a:lnTo>
                    <a:pt x="3901440" y="695452"/>
                  </a:lnTo>
                  <a:lnTo>
                    <a:pt x="3901440" y="12700"/>
                  </a:lnTo>
                  <a:lnTo>
                    <a:pt x="3914140" y="12700"/>
                  </a:lnTo>
                  <a:lnTo>
                    <a:pt x="3914140" y="25400"/>
                  </a:lnTo>
                  <a:lnTo>
                    <a:pt x="12700" y="25400"/>
                  </a:lnTo>
                  <a:close/>
                </a:path>
              </a:pathLst>
            </a:custGeom>
            <a:solidFill>
              <a:srgbClr val="0077A8"/>
            </a:solidFill>
          </p:spPr>
        </p:sp>
      </p:grpSp>
      <p:grpSp>
        <p:nvGrpSpPr>
          <p:cNvPr name="Group 8" id="8"/>
          <p:cNvGrpSpPr/>
          <p:nvPr/>
        </p:nvGrpSpPr>
        <p:grpSpPr>
          <a:xfrm rot="0">
            <a:off x="914400" y="329184"/>
            <a:ext cx="2926080" cy="512064"/>
            <a:chOff x="0" y="0"/>
            <a:chExt cx="3901440" cy="682752"/>
          </a:xfrm>
        </p:grpSpPr>
        <p:sp>
          <p:nvSpPr>
            <p:cNvPr name="Freeform 9" id="9"/>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2">
                <a:alphaModFix amt="0"/>
              </a:blip>
              <a:stretch>
                <a:fillRect l="0" t="-61343" r="0" b="-61343"/>
              </a:stretch>
            </a:blipFill>
          </p:spPr>
        </p:sp>
        <p:sp>
          <p:nvSpPr>
            <p:cNvPr name="TextBox 10" id="10"/>
            <p:cNvSpPr txBox="true"/>
            <p:nvPr/>
          </p:nvSpPr>
          <p:spPr>
            <a:xfrm>
              <a:off x="0" y="-38100"/>
              <a:ext cx="3901440" cy="720852"/>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Idea</a:t>
              </a:r>
            </a:p>
          </p:txBody>
        </p:sp>
      </p:grpSp>
      <p:grpSp>
        <p:nvGrpSpPr>
          <p:cNvPr name="Group 11" id="11"/>
          <p:cNvGrpSpPr/>
          <p:nvPr/>
        </p:nvGrpSpPr>
        <p:grpSpPr>
          <a:xfrm rot="0">
            <a:off x="914400" y="1005840"/>
            <a:ext cx="16459200" cy="1280160"/>
            <a:chOff x="0" y="0"/>
            <a:chExt cx="21945600" cy="1706880"/>
          </a:xfrm>
        </p:grpSpPr>
        <p:sp>
          <p:nvSpPr>
            <p:cNvPr name="Freeform 12" id="12"/>
            <p:cNvSpPr/>
            <p:nvPr/>
          </p:nvSpPr>
          <p:spPr>
            <a:xfrm flipH="false" flipV="false" rot="0">
              <a:off x="0" y="0"/>
              <a:ext cx="21945600" cy="1706880"/>
            </a:xfrm>
            <a:custGeom>
              <a:avLst/>
              <a:gdLst/>
              <a:ahLst/>
              <a:cxnLst/>
              <a:rect r="r" b="b" t="t" l="l"/>
              <a:pathLst>
                <a:path h="1706880" w="21945600">
                  <a:moveTo>
                    <a:pt x="0" y="0"/>
                  </a:moveTo>
                  <a:lnTo>
                    <a:pt x="21945600" y="0"/>
                  </a:lnTo>
                  <a:lnTo>
                    <a:pt x="21945600" y="1706880"/>
                  </a:lnTo>
                  <a:lnTo>
                    <a:pt x="0" y="1706880"/>
                  </a:lnTo>
                  <a:close/>
                </a:path>
              </a:pathLst>
            </a:custGeom>
            <a:blipFill>
              <a:blip r:embed="rId3">
                <a:alphaModFix amt="0"/>
              </a:blip>
              <a:stretch>
                <a:fillRect l="0" t="-787847" r="0" b="-787847"/>
              </a:stretch>
            </a:blipFill>
          </p:spPr>
        </p:sp>
        <p:sp>
          <p:nvSpPr>
            <p:cNvPr name="TextBox 13" id="13"/>
            <p:cNvSpPr txBox="true"/>
            <p:nvPr/>
          </p:nvSpPr>
          <p:spPr>
            <a:xfrm>
              <a:off x="0" y="-123825"/>
              <a:ext cx="21945600" cy="1830705"/>
            </a:xfrm>
            <a:prstGeom prst="rect">
              <a:avLst/>
            </a:prstGeom>
          </p:spPr>
          <p:txBody>
            <a:bodyPr anchor="ctr" rtlCol="false" tIns="0" lIns="0" bIns="0" rIns="0"/>
            <a:lstStyle/>
            <a:p>
              <a:pPr algn="l">
                <a:lnSpc>
                  <a:spcPts val="7680"/>
                </a:lnSpc>
              </a:pPr>
              <a:r>
                <a:rPr lang="en-US" sz="6400" b="true">
                  <a:solidFill>
                    <a:srgbClr val="000000"/>
                  </a:solidFill>
                  <a:latin typeface="Calibri (MS) Bold"/>
                  <a:ea typeface="Calibri (MS) Bold"/>
                  <a:cs typeface="Calibri (MS) Bold"/>
                  <a:sym typeface="Calibri (MS) Bold"/>
                </a:rPr>
                <a:t>Impact &amp; Use cases</a:t>
              </a:r>
            </a:p>
          </p:txBody>
        </p:sp>
      </p:grpSp>
      <p:grpSp>
        <p:nvGrpSpPr>
          <p:cNvPr name="Group 14" id="14"/>
          <p:cNvGrpSpPr/>
          <p:nvPr/>
        </p:nvGrpSpPr>
        <p:grpSpPr>
          <a:xfrm rot="0">
            <a:off x="1066800" y="481584"/>
            <a:ext cx="2926080" cy="512064"/>
            <a:chOff x="0" y="0"/>
            <a:chExt cx="3901440" cy="682752"/>
          </a:xfrm>
        </p:grpSpPr>
        <p:sp>
          <p:nvSpPr>
            <p:cNvPr name="Freeform 15" id="15"/>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4">
                <a:alphaModFix amt="0"/>
              </a:blip>
              <a:stretch>
                <a:fillRect l="-30433" t="-718402" r="-33200" b="-116648"/>
              </a:stretch>
            </a:blipFill>
          </p:spPr>
        </p:sp>
        <p:sp>
          <p:nvSpPr>
            <p:cNvPr name="TextBox 16" id="16"/>
            <p:cNvSpPr txBox="true"/>
            <p:nvPr/>
          </p:nvSpPr>
          <p:spPr>
            <a:xfrm>
              <a:off x="0" y="-38100"/>
              <a:ext cx="3901440" cy="720852"/>
            </a:xfrm>
            <a:prstGeom prst="rect">
              <a:avLst/>
            </a:prstGeom>
          </p:spPr>
          <p:txBody>
            <a:bodyPr anchor="ctr" rtlCol="false" tIns="0" lIns="0" bIns="0" rIns="0"/>
            <a:lstStyle/>
            <a:p>
              <a:pPr algn="ctr">
                <a:lnSpc>
                  <a:spcPts val="1800"/>
                </a:lnSpc>
              </a:pPr>
            </a:p>
          </p:txBody>
        </p:sp>
      </p:grpSp>
      <p:grpSp>
        <p:nvGrpSpPr>
          <p:cNvPr name="Group 17" id="17"/>
          <p:cNvGrpSpPr/>
          <p:nvPr/>
        </p:nvGrpSpPr>
        <p:grpSpPr>
          <a:xfrm rot="0">
            <a:off x="895350" y="329184"/>
            <a:ext cx="2945130" cy="531114"/>
            <a:chOff x="0" y="0"/>
            <a:chExt cx="3926840" cy="708152"/>
          </a:xfrm>
        </p:grpSpPr>
        <p:sp>
          <p:nvSpPr>
            <p:cNvPr name="Freeform 18" id="18"/>
            <p:cNvSpPr/>
            <p:nvPr/>
          </p:nvSpPr>
          <p:spPr>
            <a:xfrm flipH="false" flipV="false" rot="0">
              <a:off x="12700" y="1270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4"/>
              <a:stretch>
                <a:fillRect l="-30433" t="-718402" r="-33200" b="-116648"/>
              </a:stretch>
            </a:blipFill>
          </p:spPr>
        </p:sp>
        <p:sp>
          <p:nvSpPr>
            <p:cNvPr name="Freeform 19" id="19"/>
            <p:cNvSpPr/>
            <p:nvPr/>
          </p:nvSpPr>
          <p:spPr>
            <a:xfrm flipH="false" flipV="false" rot="0">
              <a:off x="0" y="0"/>
              <a:ext cx="3926840" cy="708152"/>
            </a:xfrm>
            <a:custGeom>
              <a:avLst/>
              <a:gdLst/>
              <a:ahLst/>
              <a:cxnLst/>
              <a:rect r="r" b="b" t="t" l="l"/>
              <a:pathLst>
                <a:path h="708152" w="3926840">
                  <a:moveTo>
                    <a:pt x="12700" y="0"/>
                  </a:moveTo>
                  <a:lnTo>
                    <a:pt x="3914140" y="0"/>
                  </a:lnTo>
                  <a:cubicBezTo>
                    <a:pt x="3921125" y="0"/>
                    <a:pt x="3926840" y="5715"/>
                    <a:pt x="3926840" y="12700"/>
                  </a:cubicBezTo>
                  <a:lnTo>
                    <a:pt x="3926840" y="695452"/>
                  </a:lnTo>
                  <a:cubicBezTo>
                    <a:pt x="3926840" y="702437"/>
                    <a:pt x="3921125" y="708152"/>
                    <a:pt x="3914140" y="708152"/>
                  </a:cubicBezTo>
                  <a:lnTo>
                    <a:pt x="12700" y="708152"/>
                  </a:lnTo>
                  <a:cubicBezTo>
                    <a:pt x="5715" y="708152"/>
                    <a:pt x="0" y="702437"/>
                    <a:pt x="0" y="695452"/>
                  </a:cubicBezTo>
                  <a:lnTo>
                    <a:pt x="0" y="12700"/>
                  </a:lnTo>
                  <a:cubicBezTo>
                    <a:pt x="0" y="5715"/>
                    <a:pt x="5715" y="0"/>
                    <a:pt x="12700" y="0"/>
                  </a:cubicBezTo>
                  <a:moveTo>
                    <a:pt x="12700" y="25400"/>
                  </a:moveTo>
                  <a:lnTo>
                    <a:pt x="12700" y="12700"/>
                  </a:lnTo>
                  <a:lnTo>
                    <a:pt x="25400" y="12700"/>
                  </a:lnTo>
                  <a:lnTo>
                    <a:pt x="25400" y="695452"/>
                  </a:lnTo>
                  <a:lnTo>
                    <a:pt x="12700" y="695452"/>
                  </a:lnTo>
                  <a:lnTo>
                    <a:pt x="12700" y="682752"/>
                  </a:lnTo>
                  <a:lnTo>
                    <a:pt x="3914140" y="682752"/>
                  </a:lnTo>
                  <a:lnTo>
                    <a:pt x="3914140" y="695452"/>
                  </a:lnTo>
                  <a:lnTo>
                    <a:pt x="3901440" y="695452"/>
                  </a:lnTo>
                  <a:lnTo>
                    <a:pt x="3901440" y="12700"/>
                  </a:lnTo>
                  <a:lnTo>
                    <a:pt x="3914140" y="12700"/>
                  </a:lnTo>
                  <a:lnTo>
                    <a:pt x="3914140" y="25400"/>
                  </a:lnTo>
                  <a:lnTo>
                    <a:pt x="12700" y="25400"/>
                  </a:lnTo>
                  <a:close/>
                </a:path>
              </a:pathLst>
            </a:custGeom>
            <a:solidFill>
              <a:srgbClr val="0077A8"/>
            </a:solidFill>
          </p:spPr>
        </p:sp>
      </p:grpSp>
      <p:sp>
        <p:nvSpPr>
          <p:cNvPr name="Freeform 20" id="20"/>
          <p:cNvSpPr/>
          <p:nvPr/>
        </p:nvSpPr>
        <p:spPr>
          <a:xfrm flipH="false" flipV="false" rot="0">
            <a:off x="2147604" y="2286000"/>
            <a:ext cx="13992792" cy="7626072"/>
          </a:xfrm>
          <a:custGeom>
            <a:avLst/>
            <a:gdLst/>
            <a:ahLst/>
            <a:cxnLst/>
            <a:rect r="r" b="b" t="t" l="l"/>
            <a:pathLst>
              <a:path h="7626072" w="13992792">
                <a:moveTo>
                  <a:pt x="0" y="0"/>
                </a:moveTo>
                <a:lnTo>
                  <a:pt x="13992792" y="0"/>
                </a:lnTo>
                <a:lnTo>
                  <a:pt x="13992792" y="7626072"/>
                </a:lnTo>
                <a:lnTo>
                  <a:pt x="0" y="7626072"/>
                </a:lnTo>
                <a:lnTo>
                  <a:pt x="0" y="0"/>
                </a:lnTo>
                <a:close/>
              </a:path>
            </a:pathLst>
          </a:custGeom>
          <a:blipFill>
            <a:blip r:embed="rId5"/>
            <a:stretch>
              <a:fillRect l="0" t="0" r="0" b="0"/>
            </a:stretch>
          </a:blipFill>
        </p:spPr>
      </p:sp>
      <p:grpSp>
        <p:nvGrpSpPr>
          <p:cNvPr name="Group 21" id="21"/>
          <p:cNvGrpSpPr/>
          <p:nvPr/>
        </p:nvGrpSpPr>
        <p:grpSpPr>
          <a:xfrm rot="0">
            <a:off x="2147604" y="2337308"/>
            <a:ext cx="2209891" cy="482507"/>
            <a:chOff x="0" y="0"/>
            <a:chExt cx="582029" cy="127080"/>
          </a:xfrm>
        </p:grpSpPr>
        <p:sp>
          <p:nvSpPr>
            <p:cNvPr name="Freeform 22" id="22"/>
            <p:cNvSpPr/>
            <p:nvPr/>
          </p:nvSpPr>
          <p:spPr>
            <a:xfrm flipH="false" flipV="false" rot="0">
              <a:off x="0" y="0"/>
              <a:ext cx="582029" cy="127080"/>
            </a:xfrm>
            <a:custGeom>
              <a:avLst/>
              <a:gdLst/>
              <a:ahLst/>
              <a:cxnLst/>
              <a:rect r="r" b="b" t="t" l="l"/>
              <a:pathLst>
                <a:path h="127080" w="582029">
                  <a:moveTo>
                    <a:pt x="0" y="0"/>
                  </a:moveTo>
                  <a:lnTo>
                    <a:pt x="582029" y="0"/>
                  </a:lnTo>
                  <a:lnTo>
                    <a:pt x="582029" y="127080"/>
                  </a:lnTo>
                  <a:lnTo>
                    <a:pt x="0" y="127080"/>
                  </a:lnTo>
                  <a:close/>
                </a:path>
              </a:pathLst>
            </a:custGeom>
            <a:solidFill>
              <a:srgbClr val="000000"/>
            </a:solidFill>
          </p:spPr>
        </p:sp>
        <p:sp>
          <p:nvSpPr>
            <p:cNvPr name="TextBox 23" id="23"/>
            <p:cNvSpPr txBox="true"/>
            <p:nvPr/>
          </p:nvSpPr>
          <p:spPr>
            <a:xfrm>
              <a:off x="0" y="-38100"/>
              <a:ext cx="582029" cy="165180"/>
            </a:xfrm>
            <a:prstGeom prst="rect">
              <a:avLst/>
            </a:prstGeom>
          </p:spPr>
          <p:txBody>
            <a:bodyPr anchor="ctr" rtlCol="false" tIns="50800" lIns="50800" bIns="50800" rIns="50800"/>
            <a:lstStyle/>
            <a:p>
              <a:pPr algn="ctr">
                <a:lnSpc>
                  <a:spcPts val="1800"/>
                </a:lnSpc>
              </a:pP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7050" cy="147066"/>
            <a:chOff x="0" y="0"/>
            <a:chExt cx="24409400" cy="196088"/>
          </a:xfrm>
        </p:grpSpPr>
        <p:sp>
          <p:nvSpPr>
            <p:cNvPr name="Freeform 3" id="3"/>
            <p:cNvSpPr/>
            <p:nvPr/>
          </p:nvSpPr>
          <p:spPr>
            <a:xfrm flipH="false" flipV="false" rot="0">
              <a:off x="12700" y="12700"/>
              <a:ext cx="24384000" cy="170688"/>
            </a:xfrm>
            <a:custGeom>
              <a:avLst/>
              <a:gdLst/>
              <a:ahLst/>
              <a:cxnLst/>
              <a:rect r="r" b="b" t="t" l="l"/>
              <a:pathLst>
                <a:path h="170688" w="24384000">
                  <a:moveTo>
                    <a:pt x="0" y="0"/>
                  </a:moveTo>
                  <a:lnTo>
                    <a:pt x="24384000" y="0"/>
                  </a:lnTo>
                  <a:lnTo>
                    <a:pt x="24384000" y="170688"/>
                  </a:lnTo>
                  <a:lnTo>
                    <a:pt x="0" y="170688"/>
                  </a:lnTo>
                  <a:close/>
                </a:path>
              </a:pathLst>
            </a:custGeom>
            <a:solidFill>
              <a:srgbClr val="00B4D8"/>
            </a:solidFill>
          </p:spPr>
        </p:sp>
        <p:sp>
          <p:nvSpPr>
            <p:cNvPr name="Freeform 4" id="4"/>
            <p:cNvSpPr/>
            <p:nvPr/>
          </p:nvSpPr>
          <p:spPr>
            <a:xfrm flipH="false" flipV="false" rot="0">
              <a:off x="0" y="0"/>
              <a:ext cx="24409400" cy="196088"/>
            </a:xfrm>
            <a:custGeom>
              <a:avLst/>
              <a:gdLst/>
              <a:ahLst/>
              <a:cxnLst/>
              <a:rect r="r" b="b" t="t" l="l"/>
              <a:pathLst>
                <a:path h="196088" w="24409400">
                  <a:moveTo>
                    <a:pt x="12700" y="0"/>
                  </a:moveTo>
                  <a:lnTo>
                    <a:pt x="24396700" y="0"/>
                  </a:lnTo>
                  <a:cubicBezTo>
                    <a:pt x="24403686" y="0"/>
                    <a:pt x="24409400" y="5715"/>
                    <a:pt x="24409400" y="12700"/>
                  </a:cubicBezTo>
                  <a:lnTo>
                    <a:pt x="24409400" y="183388"/>
                  </a:lnTo>
                  <a:cubicBezTo>
                    <a:pt x="24409400" y="190373"/>
                    <a:pt x="24403686" y="196088"/>
                    <a:pt x="24396700" y="196088"/>
                  </a:cubicBezTo>
                  <a:lnTo>
                    <a:pt x="12700" y="196088"/>
                  </a:lnTo>
                  <a:cubicBezTo>
                    <a:pt x="5715" y="196088"/>
                    <a:pt x="0" y="190373"/>
                    <a:pt x="0" y="183388"/>
                  </a:cubicBezTo>
                  <a:lnTo>
                    <a:pt x="0" y="12700"/>
                  </a:lnTo>
                  <a:cubicBezTo>
                    <a:pt x="0" y="5715"/>
                    <a:pt x="5715" y="0"/>
                    <a:pt x="12700" y="0"/>
                  </a:cubicBezTo>
                  <a:moveTo>
                    <a:pt x="12700" y="25400"/>
                  </a:moveTo>
                  <a:lnTo>
                    <a:pt x="12700" y="12700"/>
                  </a:lnTo>
                  <a:lnTo>
                    <a:pt x="25400" y="12700"/>
                  </a:lnTo>
                  <a:lnTo>
                    <a:pt x="25400" y="183388"/>
                  </a:lnTo>
                  <a:lnTo>
                    <a:pt x="12700" y="183388"/>
                  </a:lnTo>
                  <a:lnTo>
                    <a:pt x="12700" y="170688"/>
                  </a:lnTo>
                  <a:lnTo>
                    <a:pt x="24396700" y="170688"/>
                  </a:lnTo>
                  <a:lnTo>
                    <a:pt x="24396700" y="183388"/>
                  </a:lnTo>
                  <a:lnTo>
                    <a:pt x="24384000" y="183388"/>
                  </a:lnTo>
                  <a:lnTo>
                    <a:pt x="24384000" y="12700"/>
                  </a:lnTo>
                  <a:lnTo>
                    <a:pt x="24396700" y="12700"/>
                  </a:lnTo>
                  <a:lnTo>
                    <a:pt x="24396700" y="25400"/>
                  </a:lnTo>
                  <a:lnTo>
                    <a:pt x="12700" y="25400"/>
                  </a:lnTo>
                  <a:close/>
                </a:path>
              </a:pathLst>
            </a:custGeom>
            <a:solidFill>
              <a:srgbClr val="00B4D8"/>
            </a:solidFill>
          </p:spPr>
        </p:sp>
      </p:grpSp>
      <p:grpSp>
        <p:nvGrpSpPr>
          <p:cNvPr name="Group 5" id="5"/>
          <p:cNvGrpSpPr/>
          <p:nvPr/>
        </p:nvGrpSpPr>
        <p:grpSpPr>
          <a:xfrm rot="0">
            <a:off x="904875" y="319659"/>
            <a:ext cx="2945130" cy="531114"/>
            <a:chOff x="0" y="0"/>
            <a:chExt cx="3926840" cy="708152"/>
          </a:xfrm>
        </p:grpSpPr>
        <p:sp>
          <p:nvSpPr>
            <p:cNvPr name="Freeform 6" id="6"/>
            <p:cNvSpPr/>
            <p:nvPr/>
          </p:nvSpPr>
          <p:spPr>
            <a:xfrm flipH="false" flipV="false" rot="0">
              <a:off x="12700" y="12700"/>
              <a:ext cx="3901440" cy="682752"/>
            </a:xfrm>
            <a:custGeom>
              <a:avLst/>
              <a:gdLst/>
              <a:ahLst/>
              <a:cxnLst/>
              <a:rect r="r" b="b" t="t" l="l"/>
              <a:pathLst>
                <a:path h="682752" w="3901440">
                  <a:moveTo>
                    <a:pt x="0" y="0"/>
                  </a:moveTo>
                  <a:lnTo>
                    <a:pt x="3901440" y="0"/>
                  </a:lnTo>
                  <a:lnTo>
                    <a:pt x="3901440" y="682752"/>
                  </a:lnTo>
                  <a:lnTo>
                    <a:pt x="0" y="682752"/>
                  </a:lnTo>
                  <a:close/>
                </a:path>
              </a:pathLst>
            </a:custGeom>
            <a:solidFill>
              <a:srgbClr val="0077A8"/>
            </a:solidFill>
          </p:spPr>
        </p:sp>
        <p:sp>
          <p:nvSpPr>
            <p:cNvPr name="Freeform 7" id="7"/>
            <p:cNvSpPr/>
            <p:nvPr/>
          </p:nvSpPr>
          <p:spPr>
            <a:xfrm flipH="false" flipV="false" rot="0">
              <a:off x="0" y="0"/>
              <a:ext cx="3926840" cy="708152"/>
            </a:xfrm>
            <a:custGeom>
              <a:avLst/>
              <a:gdLst/>
              <a:ahLst/>
              <a:cxnLst/>
              <a:rect r="r" b="b" t="t" l="l"/>
              <a:pathLst>
                <a:path h="708152" w="3926840">
                  <a:moveTo>
                    <a:pt x="12700" y="0"/>
                  </a:moveTo>
                  <a:lnTo>
                    <a:pt x="3914140" y="0"/>
                  </a:lnTo>
                  <a:cubicBezTo>
                    <a:pt x="3921125" y="0"/>
                    <a:pt x="3926840" y="5715"/>
                    <a:pt x="3926840" y="12700"/>
                  </a:cubicBezTo>
                  <a:lnTo>
                    <a:pt x="3926840" y="695452"/>
                  </a:lnTo>
                  <a:cubicBezTo>
                    <a:pt x="3926840" y="702437"/>
                    <a:pt x="3921125" y="708152"/>
                    <a:pt x="3914140" y="708152"/>
                  </a:cubicBezTo>
                  <a:lnTo>
                    <a:pt x="12700" y="708152"/>
                  </a:lnTo>
                  <a:cubicBezTo>
                    <a:pt x="5715" y="708152"/>
                    <a:pt x="0" y="702437"/>
                    <a:pt x="0" y="695452"/>
                  </a:cubicBezTo>
                  <a:lnTo>
                    <a:pt x="0" y="12700"/>
                  </a:lnTo>
                  <a:cubicBezTo>
                    <a:pt x="0" y="5715"/>
                    <a:pt x="5715" y="0"/>
                    <a:pt x="12700" y="0"/>
                  </a:cubicBezTo>
                  <a:moveTo>
                    <a:pt x="12700" y="25400"/>
                  </a:moveTo>
                  <a:lnTo>
                    <a:pt x="12700" y="12700"/>
                  </a:lnTo>
                  <a:lnTo>
                    <a:pt x="25400" y="12700"/>
                  </a:lnTo>
                  <a:lnTo>
                    <a:pt x="25400" y="695452"/>
                  </a:lnTo>
                  <a:lnTo>
                    <a:pt x="12700" y="695452"/>
                  </a:lnTo>
                  <a:lnTo>
                    <a:pt x="12700" y="682752"/>
                  </a:lnTo>
                  <a:lnTo>
                    <a:pt x="3914140" y="682752"/>
                  </a:lnTo>
                  <a:lnTo>
                    <a:pt x="3914140" y="695452"/>
                  </a:lnTo>
                  <a:lnTo>
                    <a:pt x="3901440" y="695452"/>
                  </a:lnTo>
                  <a:lnTo>
                    <a:pt x="3901440" y="12700"/>
                  </a:lnTo>
                  <a:lnTo>
                    <a:pt x="3914140" y="12700"/>
                  </a:lnTo>
                  <a:lnTo>
                    <a:pt x="3914140" y="25400"/>
                  </a:lnTo>
                  <a:lnTo>
                    <a:pt x="12700" y="25400"/>
                  </a:lnTo>
                  <a:close/>
                </a:path>
              </a:pathLst>
            </a:custGeom>
            <a:solidFill>
              <a:srgbClr val="0077A8"/>
            </a:solidFill>
          </p:spPr>
        </p:sp>
      </p:grpSp>
      <p:grpSp>
        <p:nvGrpSpPr>
          <p:cNvPr name="Group 8" id="8"/>
          <p:cNvGrpSpPr/>
          <p:nvPr/>
        </p:nvGrpSpPr>
        <p:grpSpPr>
          <a:xfrm rot="0">
            <a:off x="914400" y="329184"/>
            <a:ext cx="2926080" cy="512064"/>
            <a:chOff x="0" y="0"/>
            <a:chExt cx="3901440" cy="682752"/>
          </a:xfrm>
        </p:grpSpPr>
        <p:sp>
          <p:nvSpPr>
            <p:cNvPr name="Freeform 9" id="9"/>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2">
                <a:alphaModFix amt="0"/>
              </a:blip>
              <a:stretch>
                <a:fillRect l="0" t="-61343" r="0" b="-61343"/>
              </a:stretch>
            </a:blipFill>
          </p:spPr>
        </p:sp>
        <p:sp>
          <p:nvSpPr>
            <p:cNvPr name="TextBox 10" id="10"/>
            <p:cNvSpPr txBox="true"/>
            <p:nvPr/>
          </p:nvSpPr>
          <p:spPr>
            <a:xfrm>
              <a:off x="0" y="-38100"/>
              <a:ext cx="3901440" cy="720852"/>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Idea</a:t>
              </a:r>
            </a:p>
          </p:txBody>
        </p:sp>
      </p:grpSp>
      <p:grpSp>
        <p:nvGrpSpPr>
          <p:cNvPr name="Group 11" id="11"/>
          <p:cNvGrpSpPr/>
          <p:nvPr/>
        </p:nvGrpSpPr>
        <p:grpSpPr>
          <a:xfrm rot="0">
            <a:off x="914400" y="1005840"/>
            <a:ext cx="16459200" cy="1280160"/>
            <a:chOff x="0" y="0"/>
            <a:chExt cx="21945600" cy="1706880"/>
          </a:xfrm>
        </p:grpSpPr>
        <p:sp>
          <p:nvSpPr>
            <p:cNvPr name="Freeform 12" id="12"/>
            <p:cNvSpPr/>
            <p:nvPr/>
          </p:nvSpPr>
          <p:spPr>
            <a:xfrm flipH="false" flipV="false" rot="0">
              <a:off x="0" y="0"/>
              <a:ext cx="21945600" cy="1706880"/>
            </a:xfrm>
            <a:custGeom>
              <a:avLst/>
              <a:gdLst/>
              <a:ahLst/>
              <a:cxnLst/>
              <a:rect r="r" b="b" t="t" l="l"/>
              <a:pathLst>
                <a:path h="1706880" w="21945600">
                  <a:moveTo>
                    <a:pt x="0" y="0"/>
                  </a:moveTo>
                  <a:lnTo>
                    <a:pt x="21945600" y="0"/>
                  </a:lnTo>
                  <a:lnTo>
                    <a:pt x="21945600" y="1706880"/>
                  </a:lnTo>
                  <a:lnTo>
                    <a:pt x="0" y="1706880"/>
                  </a:lnTo>
                  <a:close/>
                </a:path>
              </a:pathLst>
            </a:custGeom>
            <a:blipFill>
              <a:blip r:embed="rId2">
                <a:alphaModFix amt="0"/>
              </a:blip>
              <a:stretch>
                <a:fillRect l="0" t="-200521" r="0" b="-200521"/>
              </a:stretch>
            </a:blipFill>
          </p:spPr>
        </p:sp>
        <p:sp>
          <p:nvSpPr>
            <p:cNvPr name="TextBox 13" id="13"/>
            <p:cNvSpPr txBox="true"/>
            <p:nvPr/>
          </p:nvSpPr>
          <p:spPr>
            <a:xfrm>
              <a:off x="0" y="-123825"/>
              <a:ext cx="21945600" cy="1830705"/>
            </a:xfrm>
            <a:prstGeom prst="rect">
              <a:avLst/>
            </a:prstGeom>
          </p:spPr>
          <p:txBody>
            <a:bodyPr anchor="ctr" rtlCol="false" tIns="0" lIns="0" bIns="0" rIns="0"/>
            <a:lstStyle/>
            <a:p>
              <a:pPr algn="l">
                <a:lnSpc>
                  <a:spcPts val="7680"/>
                </a:lnSpc>
              </a:pPr>
              <a:r>
                <a:rPr lang="en-US" sz="6400" b="true">
                  <a:solidFill>
                    <a:srgbClr val="000000"/>
                  </a:solidFill>
                  <a:latin typeface="Calibri (MS) Bold"/>
                  <a:ea typeface="Calibri (MS) Bold"/>
                  <a:cs typeface="Calibri (MS) Bold"/>
                  <a:sym typeface="Calibri (MS) Bold"/>
                </a:rPr>
                <a:t>Impact &amp; Use cases</a:t>
              </a:r>
            </a:p>
          </p:txBody>
        </p:sp>
      </p:grpSp>
      <p:grpSp>
        <p:nvGrpSpPr>
          <p:cNvPr name="Group 14" id="14"/>
          <p:cNvGrpSpPr/>
          <p:nvPr/>
        </p:nvGrpSpPr>
        <p:grpSpPr>
          <a:xfrm rot="0">
            <a:off x="1066800" y="481584"/>
            <a:ext cx="2926080" cy="512064"/>
            <a:chOff x="0" y="0"/>
            <a:chExt cx="3901440" cy="682752"/>
          </a:xfrm>
        </p:grpSpPr>
        <p:sp>
          <p:nvSpPr>
            <p:cNvPr name="Freeform 15" id="15"/>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3">
                <a:alphaModFix amt="0"/>
              </a:blip>
              <a:stretch>
                <a:fillRect l="-30433" t="-718402" r="-33200" b="-116648"/>
              </a:stretch>
            </a:blipFill>
          </p:spPr>
        </p:sp>
        <p:sp>
          <p:nvSpPr>
            <p:cNvPr name="TextBox 16" id="16"/>
            <p:cNvSpPr txBox="true"/>
            <p:nvPr/>
          </p:nvSpPr>
          <p:spPr>
            <a:xfrm>
              <a:off x="0" y="-38100"/>
              <a:ext cx="3901440" cy="720852"/>
            </a:xfrm>
            <a:prstGeom prst="rect">
              <a:avLst/>
            </a:prstGeom>
          </p:spPr>
          <p:txBody>
            <a:bodyPr anchor="ctr" rtlCol="false" tIns="0" lIns="0" bIns="0" rIns="0"/>
            <a:lstStyle/>
            <a:p>
              <a:pPr algn="ctr">
                <a:lnSpc>
                  <a:spcPts val="1800"/>
                </a:lnSpc>
              </a:pPr>
            </a:p>
          </p:txBody>
        </p:sp>
      </p:grpSp>
      <p:grpSp>
        <p:nvGrpSpPr>
          <p:cNvPr name="Group 17" id="17"/>
          <p:cNvGrpSpPr/>
          <p:nvPr/>
        </p:nvGrpSpPr>
        <p:grpSpPr>
          <a:xfrm rot="0">
            <a:off x="895350" y="329184"/>
            <a:ext cx="2945130" cy="531114"/>
            <a:chOff x="0" y="0"/>
            <a:chExt cx="3926840" cy="708152"/>
          </a:xfrm>
        </p:grpSpPr>
        <p:sp>
          <p:nvSpPr>
            <p:cNvPr name="Freeform 18" id="18"/>
            <p:cNvSpPr/>
            <p:nvPr/>
          </p:nvSpPr>
          <p:spPr>
            <a:xfrm flipH="false" flipV="false" rot="0">
              <a:off x="12700" y="1270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3"/>
              <a:stretch>
                <a:fillRect l="-30433" t="-718402" r="-33200" b="-116648"/>
              </a:stretch>
            </a:blipFill>
          </p:spPr>
        </p:sp>
        <p:sp>
          <p:nvSpPr>
            <p:cNvPr name="Freeform 19" id="19"/>
            <p:cNvSpPr/>
            <p:nvPr/>
          </p:nvSpPr>
          <p:spPr>
            <a:xfrm flipH="false" flipV="false" rot="0">
              <a:off x="0" y="0"/>
              <a:ext cx="3926840" cy="708152"/>
            </a:xfrm>
            <a:custGeom>
              <a:avLst/>
              <a:gdLst/>
              <a:ahLst/>
              <a:cxnLst/>
              <a:rect r="r" b="b" t="t" l="l"/>
              <a:pathLst>
                <a:path h="708152" w="3926840">
                  <a:moveTo>
                    <a:pt x="12700" y="0"/>
                  </a:moveTo>
                  <a:lnTo>
                    <a:pt x="3914140" y="0"/>
                  </a:lnTo>
                  <a:cubicBezTo>
                    <a:pt x="3921125" y="0"/>
                    <a:pt x="3926840" y="5715"/>
                    <a:pt x="3926840" y="12700"/>
                  </a:cubicBezTo>
                  <a:lnTo>
                    <a:pt x="3926840" y="695452"/>
                  </a:lnTo>
                  <a:cubicBezTo>
                    <a:pt x="3926840" y="702437"/>
                    <a:pt x="3921125" y="708152"/>
                    <a:pt x="3914140" y="708152"/>
                  </a:cubicBezTo>
                  <a:lnTo>
                    <a:pt x="12700" y="708152"/>
                  </a:lnTo>
                  <a:cubicBezTo>
                    <a:pt x="5715" y="708152"/>
                    <a:pt x="0" y="702437"/>
                    <a:pt x="0" y="695452"/>
                  </a:cubicBezTo>
                  <a:lnTo>
                    <a:pt x="0" y="12700"/>
                  </a:lnTo>
                  <a:cubicBezTo>
                    <a:pt x="0" y="5715"/>
                    <a:pt x="5715" y="0"/>
                    <a:pt x="12700" y="0"/>
                  </a:cubicBezTo>
                  <a:moveTo>
                    <a:pt x="12700" y="25400"/>
                  </a:moveTo>
                  <a:lnTo>
                    <a:pt x="12700" y="12700"/>
                  </a:lnTo>
                  <a:lnTo>
                    <a:pt x="25400" y="12700"/>
                  </a:lnTo>
                  <a:lnTo>
                    <a:pt x="25400" y="695452"/>
                  </a:lnTo>
                  <a:lnTo>
                    <a:pt x="12700" y="695452"/>
                  </a:lnTo>
                  <a:lnTo>
                    <a:pt x="12700" y="682752"/>
                  </a:lnTo>
                  <a:lnTo>
                    <a:pt x="3914140" y="682752"/>
                  </a:lnTo>
                  <a:lnTo>
                    <a:pt x="3914140" y="695452"/>
                  </a:lnTo>
                  <a:lnTo>
                    <a:pt x="3901440" y="695452"/>
                  </a:lnTo>
                  <a:lnTo>
                    <a:pt x="3901440" y="12700"/>
                  </a:lnTo>
                  <a:lnTo>
                    <a:pt x="3914140" y="12700"/>
                  </a:lnTo>
                  <a:lnTo>
                    <a:pt x="3914140" y="25400"/>
                  </a:lnTo>
                  <a:lnTo>
                    <a:pt x="12700" y="25400"/>
                  </a:lnTo>
                  <a:close/>
                </a:path>
              </a:pathLst>
            </a:custGeom>
            <a:solidFill>
              <a:srgbClr val="0077A8"/>
            </a:solidFill>
          </p:spPr>
        </p:sp>
      </p:grpSp>
      <p:sp>
        <p:nvSpPr>
          <p:cNvPr name="Freeform 20" id="20"/>
          <p:cNvSpPr/>
          <p:nvPr/>
        </p:nvSpPr>
        <p:spPr>
          <a:xfrm flipH="false" flipV="false" rot="0">
            <a:off x="1962793" y="2286000"/>
            <a:ext cx="14362415" cy="8437861"/>
          </a:xfrm>
          <a:custGeom>
            <a:avLst/>
            <a:gdLst/>
            <a:ahLst/>
            <a:cxnLst/>
            <a:rect r="r" b="b" t="t" l="l"/>
            <a:pathLst>
              <a:path h="8437861" w="14362415">
                <a:moveTo>
                  <a:pt x="0" y="0"/>
                </a:moveTo>
                <a:lnTo>
                  <a:pt x="14362414" y="0"/>
                </a:lnTo>
                <a:lnTo>
                  <a:pt x="14362414" y="8437861"/>
                </a:lnTo>
                <a:lnTo>
                  <a:pt x="0" y="8437861"/>
                </a:lnTo>
                <a:lnTo>
                  <a:pt x="0" y="0"/>
                </a:lnTo>
                <a:close/>
              </a:path>
            </a:pathLst>
          </a:custGeom>
          <a:blipFill>
            <a:blip r:embed="rId4"/>
            <a:stretch>
              <a:fillRect l="0" t="-13405"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7050" cy="147066"/>
            <a:chOff x="0" y="0"/>
            <a:chExt cx="24409400" cy="196088"/>
          </a:xfrm>
        </p:grpSpPr>
        <p:sp>
          <p:nvSpPr>
            <p:cNvPr name="Freeform 3" id="3"/>
            <p:cNvSpPr/>
            <p:nvPr/>
          </p:nvSpPr>
          <p:spPr>
            <a:xfrm flipH="false" flipV="false" rot="0">
              <a:off x="12700" y="12700"/>
              <a:ext cx="24384000" cy="170688"/>
            </a:xfrm>
            <a:custGeom>
              <a:avLst/>
              <a:gdLst/>
              <a:ahLst/>
              <a:cxnLst/>
              <a:rect r="r" b="b" t="t" l="l"/>
              <a:pathLst>
                <a:path h="170688" w="24384000">
                  <a:moveTo>
                    <a:pt x="0" y="0"/>
                  </a:moveTo>
                  <a:lnTo>
                    <a:pt x="24384000" y="0"/>
                  </a:lnTo>
                  <a:lnTo>
                    <a:pt x="24384000" y="170688"/>
                  </a:lnTo>
                  <a:lnTo>
                    <a:pt x="0" y="170688"/>
                  </a:lnTo>
                  <a:close/>
                </a:path>
              </a:pathLst>
            </a:custGeom>
            <a:solidFill>
              <a:srgbClr val="00B4D8"/>
            </a:solidFill>
          </p:spPr>
        </p:sp>
        <p:sp>
          <p:nvSpPr>
            <p:cNvPr name="Freeform 4" id="4"/>
            <p:cNvSpPr/>
            <p:nvPr/>
          </p:nvSpPr>
          <p:spPr>
            <a:xfrm flipH="false" flipV="false" rot="0">
              <a:off x="0" y="0"/>
              <a:ext cx="24409400" cy="196088"/>
            </a:xfrm>
            <a:custGeom>
              <a:avLst/>
              <a:gdLst/>
              <a:ahLst/>
              <a:cxnLst/>
              <a:rect r="r" b="b" t="t" l="l"/>
              <a:pathLst>
                <a:path h="196088" w="24409400">
                  <a:moveTo>
                    <a:pt x="12700" y="0"/>
                  </a:moveTo>
                  <a:lnTo>
                    <a:pt x="24396700" y="0"/>
                  </a:lnTo>
                  <a:cubicBezTo>
                    <a:pt x="24403686" y="0"/>
                    <a:pt x="24409400" y="5715"/>
                    <a:pt x="24409400" y="12700"/>
                  </a:cubicBezTo>
                  <a:lnTo>
                    <a:pt x="24409400" y="183388"/>
                  </a:lnTo>
                  <a:cubicBezTo>
                    <a:pt x="24409400" y="190373"/>
                    <a:pt x="24403686" y="196088"/>
                    <a:pt x="24396700" y="196088"/>
                  </a:cubicBezTo>
                  <a:lnTo>
                    <a:pt x="12700" y="196088"/>
                  </a:lnTo>
                  <a:cubicBezTo>
                    <a:pt x="5715" y="196088"/>
                    <a:pt x="0" y="190373"/>
                    <a:pt x="0" y="183388"/>
                  </a:cubicBezTo>
                  <a:lnTo>
                    <a:pt x="0" y="12700"/>
                  </a:lnTo>
                  <a:cubicBezTo>
                    <a:pt x="0" y="5715"/>
                    <a:pt x="5715" y="0"/>
                    <a:pt x="12700" y="0"/>
                  </a:cubicBezTo>
                  <a:moveTo>
                    <a:pt x="12700" y="25400"/>
                  </a:moveTo>
                  <a:lnTo>
                    <a:pt x="12700" y="12700"/>
                  </a:lnTo>
                  <a:lnTo>
                    <a:pt x="25400" y="12700"/>
                  </a:lnTo>
                  <a:lnTo>
                    <a:pt x="25400" y="183388"/>
                  </a:lnTo>
                  <a:lnTo>
                    <a:pt x="12700" y="183388"/>
                  </a:lnTo>
                  <a:lnTo>
                    <a:pt x="12700" y="170688"/>
                  </a:lnTo>
                  <a:lnTo>
                    <a:pt x="24396700" y="170688"/>
                  </a:lnTo>
                  <a:lnTo>
                    <a:pt x="24396700" y="183388"/>
                  </a:lnTo>
                  <a:lnTo>
                    <a:pt x="24384000" y="183388"/>
                  </a:lnTo>
                  <a:lnTo>
                    <a:pt x="24384000" y="12700"/>
                  </a:lnTo>
                  <a:lnTo>
                    <a:pt x="24396700" y="12700"/>
                  </a:lnTo>
                  <a:lnTo>
                    <a:pt x="24396700" y="25400"/>
                  </a:lnTo>
                  <a:lnTo>
                    <a:pt x="12700" y="25400"/>
                  </a:lnTo>
                  <a:close/>
                </a:path>
              </a:pathLst>
            </a:custGeom>
            <a:solidFill>
              <a:srgbClr val="00B4D8"/>
            </a:solidFill>
          </p:spPr>
        </p:sp>
      </p:grpSp>
      <p:grpSp>
        <p:nvGrpSpPr>
          <p:cNvPr name="Group 5" id="5"/>
          <p:cNvGrpSpPr/>
          <p:nvPr/>
        </p:nvGrpSpPr>
        <p:grpSpPr>
          <a:xfrm rot="0">
            <a:off x="904875" y="319659"/>
            <a:ext cx="2945130" cy="531114"/>
            <a:chOff x="0" y="0"/>
            <a:chExt cx="3926840" cy="708152"/>
          </a:xfrm>
        </p:grpSpPr>
        <p:sp>
          <p:nvSpPr>
            <p:cNvPr name="Freeform 6" id="6"/>
            <p:cNvSpPr/>
            <p:nvPr/>
          </p:nvSpPr>
          <p:spPr>
            <a:xfrm flipH="false" flipV="false" rot="0">
              <a:off x="12700" y="12700"/>
              <a:ext cx="3901440" cy="682752"/>
            </a:xfrm>
            <a:custGeom>
              <a:avLst/>
              <a:gdLst/>
              <a:ahLst/>
              <a:cxnLst/>
              <a:rect r="r" b="b" t="t" l="l"/>
              <a:pathLst>
                <a:path h="682752" w="3901440">
                  <a:moveTo>
                    <a:pt x="0" y="0"/>
                  </a:moveTo>
                  <a:lnTo>
                    <a:pt x="3901440" y="0"/>
                  </a:lnTo>
                  <a:lnTo>
                    <a:pt x="3901440" y="682752"/>
                  </a:lnTo>
                  <a:lnTo>
                    <a:pt x="0" y="682752"/>
                  </a:lnTo>
                  <a:close/>
                </a:path>
              </a:pathLst>
            </a:custGeom>
            <a:solidFill>
              <a:srgbClr val="0077A8"/>
            </a:solidFill>
          </p:spPr>
        </p:sp>
        <p:sp>
          <p:nvSpPr>
            <p:cNvPr name="Freeform 7" id="7"/>
            <p:cNvSpPr/>
            <p:nvPr/>
          </p:nvSpPr>
          <p:spPr>
            <a:xfrm flipH="false" flipV="false" rot="0">
              <a:off x="0" y="0"/>
              <a:ext cx="3926840" cy="708152"/>
            </a:xfrm>
            <a:custGeom>
              <a:avLst/>
              <a:gdLst/>
              <a:ahLst/>
              <a:cxnLst/>
              <a:rect r="r" b="b" t="t" l="l"/>
              <a:pathLst>
                <a:path h="708152" w="3926840">
                  <a:moveTo>
                    <a:pt x="12700" y="0"/>
                  </a:moveTo>
                  <a:lnTo>
                    <a:pt x="3914140" y="0"/>
                  </a:lnTo>
                  <a:cubicBezTo>
                    <a:pt x="3921125" y="0"/>
                    <a:pt x="3926840" y="5715"/>
                    <a:pt x="3926840" y="12700"/>
                  </a:cubicBezTo>
                  <a:lnTo>
                    <a:pt x="3926840" y="695452"/>
                  </a:lnTo>
                  <a:cubicBezTo>
                    <a:pt x="3926840" y="702437"/>
                    <a:pt x="3921125" y="708152"/>
                    <a:pt x="3914140" y="708152"/>
                  </a:cubicBezTo>
                  <a:lnTo>
                    <a:pt x="12700" y="708152"/>
                  </a:lnTo>
                  <a:cubicBezTo>
                    <a:pt x="5715" y="708152"/>
                    <a:pt x="0" y="702437"/>
                    <a:pt x="0" y="695452"/>
                  </a:cubicBezTo>
                  <a:lnTo>
                    <a:pt x="0" y="12700"/>
                  </a:lnTo>
                  <a:cubicBezTo>
                    <a:pt x="0" y="5715"/>
                    <a:pt x="5715" y="0"/>
                    <a:pt x="12700" y="0"/>
                  </a:cubicBezTo>
                  <a:moveTo>
                    <a:pt x="12700" y="25400"/>
                  </a:moveTo>
                  <a:lnTo>
                    <a:pt x="12700" y="12700"/>
                  </a:lnTo>
                  <a:lnTo>
                    <a:pt x="25400" y="12700"/>
                  </a:lnTo>
                  <a:lnTo>
                    <a:pt x="25400" y="695452"/>
                  </a:lnTo>
                  <a:lnTo>
                    <a:pt x="12700" y="695452"/>
                  </a:lnTo>
                  <a:lnTo>
                    <a:pt x="12700" y="682752"/>
                  </a:lnTo>
                  <a:lnTo>
                    <a:pt x="3914140" y="682752"/>
                  </a:lnTo>
                  <a:lnTo>
                    <a:pt x="3914140" y="695452"/>
                  </a:lnTo>
                  <a:lnTo>
                    <a:pt x="3901440" y="695452"/>
                  </a:lnTo>
                  <a:lnTo>
                    <a:pt x="3901440" y="12700"/>
                  </a:lnTo>
                  <a:lnTo>
                    <a:pt x="3914140" y="12700"/>
                  </a:lnTo>
                  <a:lnTo>
                    <a:pt x="3914140" y="25400"/>
                  </a:lnTo>
                  <a:lnTo>
                    <a:pt x="12700" y="25400"/>
                  </a:lnTo>
                  <a:close/>
                </a:path>
              </a:pathLst>
            </a:custGeom>
            <a:solidFill>
              <a:srgbClr val="0077A8"/>
            </a:solidFill>
          </p:spPr>
        </p:sp>
      </p:grpSp>
      <p:grpSp>
        <p:nvGrpSpPr>
          <p:cNvPr name="Group 8" id="8"/>
          <p:cNvGrpSpPr/>
          <p:nvPr/>
        </p:nvGrpSpPr>
        <p:grpSpPr>
          <a:xfrm rot="0">
            <a:off x="914400" y="329184"/>
            <a:ext cx="2926080" cy="512064"/>
            <a:chOff x="0" y="0"/>
            <a:chExt cx="3901440" cy="682752"/>
          </a:xfrm>
        </p:grpSpPr>
        <p:sp>
          <p:nvSpPr>
            <p:cNvPr name="Freeform 9" id="9"/>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2">
                <a:alphaModFix amt="0"/>
              </a:blip>
              <a:stretch>
                <a:fillRect l="0" t="-61343" r="0" b="-61343"/>
              </a:stretch>
            </a:blipFill>
          </p:spPr>
        </p:sp>
        <p:sp>
          <p:nvSpPr>
            <p:cNvPr name="TextBox 10" id="10"/>
            <p:cNvSpPr txBox="true"/>
            <p:nvPr/>
          </p:nvSpPr>
          <p:spPr>
            <a:xfrm>
              <a:off x="0" y="-38100"/>
              <a:ext cx="3901440" cy="720852"/>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Idea</a:t>
              </a:r>
            </a:p>
          </p:txBody>
        </p:sp>
      </p:grpSp>
      <p:grpSp>
        <p:nvGrpSpPr>
          <p:cNvPr name="Group 11" id="11"/>
          <p:cNvGrpSpPr/>
          <p:nvPr/>
        </p:nvGrpSpPr>
        <p:grpSpPr>
          <a:xfrm rot="0">
            <a:off x="914400" y="1005840"/>
            <a:ext cx="16459200" cy="1287090"/>
            <a:chOff x="0" y="0"/>
            <a:chExt cx="21945600" cy="1716120"/>
          </a:xfrm>
        </p:grpSpPr>
        <p:sp>
          <p:nvSpPr>
            <p:cNvPr name="Freeform 12" id="12"/>
            <p:cNvSpPr/>
            <p:nvPr/>
          </p:nvSpPr>
          <p:spPr>
            <a:xfrm flipH="false" flipV="false" rot="0">
              <a:off x="0" y="0"/>
              <a:ext cx="21945600" cy="1716120"/>
            </a:xfrm>
            <a:custGeom>
              <a:avLst/>
              <a:gdLst/>
              <a:ahLst/>
              <a:cxnLst/>
              <a:rect r="r" b="b" t="t" l="l"/>
              <a:pathLst>
                <a:path h="1716120" w="21945600">
                  <a:moveTo>
                    <a:pt x="0" y="0"/>
                  </a:moveTo>
                  <a:lnTo>
                    <a:pt x="21945600" y="0"/>
                  </a:lnTo>
                  <a:lnTo>
                    <a:pt x="21945600" y="1716120"/>
                  </a:lnTo>
                  <a:lnTo>
                    <a:pt x="0" y="1716120"/>
                  </a:lnTo>
                  <a:close/>
                </a:path>
              </a:pathLst>
            </a:custGeom>
            <a:blipFill>
              <a:blip r:embed="rId2">
                <a:alphaModFix amt="0"/>
              </a:blip>
              <a:stretch>
                <a:fillRect l="0" t="-199442" r="0" b="-198903"/>
              </a:stretch>
            </a:blipFill>
          </p:spPr>
        </p:sp>
        <p:sp>
          <p:nvSpPr>
            <p:cNvPr name="TextBox 13" id="13"/>
            <p:cNvSpPr txBox="true"/>
            <p:nvPr/>
          </p:nvSpPr>
          <p:spPr>
            <a:xfrm>
              <a:off x="0" y="-123825"/>
              <a:ext cx="21945600" cy="1839945"/>
            </a:xfrm>
            <a:prstGeom prst="rect">
              <a:avLst/>
            </a:prstGeom>
          </p:spPr>
          <p:txBody>
            <a:bodyPr anchor="ctr" rtlCol="false" tIns="0" lIns="0" bIns="0" rIns="0"/>
            <a:lstStyle/>
            <a:p>
              <a:pPr algn="l">
                <a:lnSpc>
                  <a:spcPts val="7680"/>
                </a:lnSpc>
              </a:pPr>
              <a:r>
                <a:rPr lang="en-US" sz="6400" b="true">
                  <a:solidFill>
                    <a:srgbClr val="000000"/>
                  </a:solidFill>
                  <a:latin typeface="Calibri (MS) Bold"/>
                  <a:ea typeface="Calibri (MS) Bold"/>
                  <a:cs typeface="Calibri (MS) Bold"/>
                  <a:sym typeface="Calibri (MS) Bold"/>
                </a:rPr>
                <a:t>Differentiation</a:t>
              </a:r>
            </a:p>
          </p:txBody>
        </p:sp>
      </p:grpSp>
      <p:grpSp>
        <p:nvGrpSpPr>
          <p:cNvPr name="Group 14" id="14"/>
          <p:cNvGrpSpPr/>
          <p:nvPr/>
        </p:nvGrpSpPr>
        <p:grpSpPr>
          <a:xfrm rot="0">
            <a:off x="1066800" y="481584"/>
            <a:ext cx="2926080" cy="512064"/>
            <a:chOff x="0" y="0"/>
            <a:chExt cx="3901440" cy="682752"/>
          </a:xfrm>
        </p:grpSpPr>
        <p:sp>
          <p:nvSpPr>
            <p:cNvPr name="Freeform 15" id="15"/>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3">
                <a:alphaModFix amt="0"/>
              </a:blip>
              <a:stretch>
                <a:fillRect l="-30433" t="-718402" r="-33200" b="-116648"/>
              </a:stretch>
            </a:blipFill>
          </p:spPr>
        </p:sp>
        <p:sp>
          <p:nvSpPr>
            <p:cNvPr name="TextBox 16" id="16"/>
            <p:cNvSpPr txBox="true"/>
            <p:nvPr/>
          </p:nvSpPr>
          <p:spPr>
            <a:xfrm>
              <a:off x="0" y="-38100"/>
              <a:ext cx="3901440" cy="720852"/>
            </a:xfrm>
            <a:prstGeom prst="rect">
              <a:avLst/>
            </a:prstGeom>
          </p:spPr>
          <p:txBody>
            <a:bodyPr anchor="ctr" rtlCol="false" tIns="0" lIns="0" bIns="0" rIns="0"/>
            <a:lstStyle/>
            <a:p>
              <a:pPr algn="ctr">
                <a:lnSpc>
                  <a:spcPts val="1800"/>
                </a:lnSpc>
              </a:pPr>
            </a:p>
          </p:txBody>
        </p:sp>
      </p:grpSp>
      <p:grpSp>
        <p:nvGrpSpPr>
          <p:cNvPr name="Group 17" id="17"/>
          <p:cNvGrpSpPr/>
          <p:nvPr/>
        </p:nvGrpSpPr>
        <p:grpSpPr>
          <a:xfrm rot="0">
            <a:off x="914400" y="310134"/>
            <a:ext cx="2945130" cy="531114"/>
            <a:chOff x="0" y="0"/>
            <a:chExt cx="3926840" cy="708152"/>
          </a:xfrm>
        </p:grpSpPr>
        <p:sp>
          <p:nvSpPr>
            <p:cNvPr name="Freeform 18" id="18"/>
            <p:cNvSpPr/>
            <p:nvPr/>
          </p:nvSpPr>
          <p:spPr>
            <a:xfrm flipH="false" flipV="false" rot="0">
              <a:off x="12700" y="1270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3"/>
              <a:stretch>
                <a:fillRect l="-30433" t="-718402" r="-33200" b="-116648"/>
              </a:stretch>
            </a:blipFill>
          </p:spPr>
        </p:sp>
        <p:sp>
          <p:nvSpPr>
            <p:cNvPr name="Freeform 19" id="19"/>
            <p:cNvSpPr/>
            <p:nvPr/>
          </p:nvSpPr>
          <p:spPr>
            <a:xfrm flipH="false" flipV="false" rot="0">
              <a:off x="0" y="0"/>
              <a:ext cx="3926840" cy="708152"/>
            </a:xfrm>
            <a:custGeom>
              <a:avLst/>
              <a:gdLst/>
              <a:ahLst/>
              <a:cxnLst/>
              <a:rect r="r" b="b" t="t" l="l"/>
              <a:pathLst>
                <a:path h="708152" w="3926840">
                  <a:moveTo>
                    <a:pt x="12700" y="0"/>
                  </a:moveTo>
                  <a:lnTo>
                    <a:pt x="3914140" y="0"/>
                  </a:lnTo>
                  <a:cubicBezTo>
                    <a:pt x="3921125" y="0"/>
                    <a:pt x="3926840" y="5715"/>
                    <a:pt x="3926840" y="12700"/>
                  </a:cubicBezTo>
                  <a:lnTo>
                    <a:pt x="3926840" y="695452"/>
                  </a:lnTo>
                  <a:cubicBezTo>
                    <a:pt x="3926840" y="702437"/>
                    <a:pt x="3921125" y="708152"/>
                    <a:pt x="3914140" y="708152"/>
                  </a:cubicBezTo>
                  <a:lnTo>
                    <a:pt x="12700" y="708152"/>
                  </a:lnTo>
                  <a:cubicBezTo>
                    <a:pt x="5715" y="708152"/>
                    <a:pt x="0" y="702437"/>
                    <a:pt x="0" y="695452"/>
                  </a:cubicBezTo>
                  <a:lnTo>
                    <a:pt x="0" y="12700"/>
                  </a:lnTo>
                  <a:cubicBezTo>
                    <a:pt x="0" y="5715"/>
                    <a:pt x="5715" y="0"/>
                    <a:pt x="12700" y="0"/>
                  </a:cubicBezTo>
                  <a:moveTo>
                    <a:pt x="12700" y="25400"/>
                  </a:moveTo>
                  <a:lnTo>
                    <a:pt x="12700" y="12700"/>
                  </a:lnTo>
                  <a:lnTo>
                    <a:pt x="25400" y="12700"/>
                  </a:lnTo>
                  <a:lnTo>
                    <a:pt x="25400" y="695452"/>
                  </a:lnTo>
                  <a:lnTo>
                    <a:pt x="12700" y="695452"/>
                  </a:lnTo>
                  <a:lnTo>
                    <a:pt x="12700" y="682752"/>
                  </a:lnTo>
                  <a:lnTo>
                    <a:pt x="3914140" y="682752"/>
                  </a:lnTo>
                  <a:lnTo>
                    <a:pt x="3914140" y="695452"/>
                  </a:lnTo>
                  <a:lnTo>
                    <a:pt x="3901440" y="695452"/>
                  </a:lnTo>
                  <a:lnTo>
                    <a:pt x="3901440" y="12700"/>
                  </a:lnTo>
                  <a:lnTo>
                    <a:pt x="3914140" y="12700"/>
                  </a:lnTo>
                  <a:lnTo>
                    <a:pt x="3914140" y="25400"/>
                  </a:lnTo>
                  <a:lnTo>
                    <a:pt x="12700" y="25400"/>
                  </a:lnTo>
                  <a:close/>
                </a:path>
              </a:pathLst>
            </a:custGeom>
            <a:solidFill>
              <a:srgbClr val="0077A8"/>
            </a:solidFill>
          </p:spPr>
        </p:sp>
      </p:grpSp>
      <p:sp>
        <p:nvSpPr>
          <p:cNvPr name="Freeform 20" id="20"/>
          <p:cNvSpPr/>
          <p:nvPr/>
        </p:nvSpPr>
        <p:spPr>
          <a:xfrm flipH="false" flipV="false" rot="0">
            <a:off x="8259507" y="2497325"/>
            <a:ext cx="8999793" cy="5918057"/>
          </a:xfrm>
          <a:custGeom>
            <a:avLst/>
            <a:gdLst/>
            <a:ahLst/>
            <a:cxnLst/>
            <a:rect r="r" b="b" t="t" l="l"/>
            <a:pathLst>
              <a:path h="5918057" w="8999793">
                <a:moveTo>
                  <a:pt x="0" y="0"/>
                </a:moveTo>
                <a:lnTo>
                  <a:pt x="8999793" y="0"/>
                </a:lnTo>
                <a:lnTo>
                  <a:pt x="8999793" y="5918057"/>
                </a:lnTo>
                <a:lnTo>
                  <a:pt x="0" y="5918057"/>
                </a:lnTo>
                <a:lnTo>
                  <a:pt x="0" y="0"/>
                </a:lnTo>
                <a:close/>
              </a:path>
            </a:pathLst>
          </a:custGeom>
          <a:blipFill>
            <a:blip r:embed="rId4"/>
            <a:stretch>
              <a:fillRect l="0" t="0" r="0" b="-14055"/>
            </a:stretch>
          </a:blipFill>
        </p:spPr>
      </p:sp>
      <p:sp>
        <p:nvSpPr>
          <p:cNvPr name="Freeform 21" id="21"/>
          <p:cNvSpPr/>
          <p:nvPr/>
        </p:nvSpPr>
        <p:spPr>
          <a:xfrm flipH="false" flipV="false" rot="0">
            <a:off x="450332" y="2483430"/>
            <a:ext cx="7502419" cy="6067581"/>
          </a:xfrm>
          <a:custGeom>
            <a:avLst/>
            <a:gdLst/>
            <a:ahLst/>
            <a:cxnLst/>
            <a:rect r="r" b="b" t="t" l="l"/>
            <a:pathLst>
              <a:path h="6067581" w="7502419">
                <a:moveTo>
                  <a:pt x="0" y="0"/>
                </a:moveTo>
                <a:lnTo>
                  <a:pt x="7502419" y="0"/>
                </a:lnTo>
                <a:lnTo>
                  <a:pt x="7502419" y="6067582"/>
                </a:lnTo>
                <a:lnTo>
                  <a:pt x="0" y="6067582"/>
                </a:lnTo>
                <a:lnTo>
                  <a:pt x="0" y="0"/>
                </a:lnTo>
                <a:close/>
              </a:path>
            </a:pathLst>
          </a:custGeom>
          <a:blipFill>
            <a:blip r:embed="rId5"/>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7050" cy="147066"/>
            <a:chOff x="0" y="0"/>
            <a:chExt cx="24409400" cy="196088"/>
          </a:xfrm>
        </p:grpSpPr>
        <p:sp>
          <p:nvSpPr>
            <p:cNvPr name="Freeform 3" id="3"/>
            <p:cNvSpPr/>
            <p:nvPr/>
          </p:nvSpPr>
          <p:spPr>
            <a:xfrm flipH="false" flipV="false" rot="0">
              <a:off x="12700" y="12700"/>
              <a:ext cx="24384000" cy="170688"/>
            </a:xfrm>
            <a:custGeom>
              <a:avLst/>
              <a:gdLst/>
              <a:ahLst/>
              <a:cxnLst/>
              <a:rect r="r" b="b" t="t" l="l"/>
              <a:pathLst>
                <a:path h="170688" w="24384000">
                  <a:moveTo>
                    <a:pt x="0" y="0"/>
                  </a:moveTo>
                  <a:lnTo>
                    <a:pt x="24384000" y="0"/>
                  </a:lnTo>
                  <a:lnTo>
                    <a:pt x="24384000" y="170688"/>
                  </a:lnTo>
                  <a:lnTo>
                    <a:pt x="0" y="170688"/>
                  </a:lnTo>
                  <a:close/>
                </a:path>
              </a:pathLst>
            </a:custGeom>
            <a:solidFill>
              <a:srgbClr val="00B4D8"/>
            </a:solidFill>
          </p:spPr>
        </p:sp>
        <p:sp>
          <p:nvSpPr>
            <p:cNvPr name="Freeform 4" id="4"/>
            <p:cNvSpPr/>
            <p:nvPr/>
          </p:nvSpPr>
          <p:spPr>
            <a:xfrm flipH="false" flipV="false" rot="0">
              <a:off x="0" y="0"/>
              <a:ext cx="24409400" cy="196088"/>
            </a:xfrm>
            <a:custGeom>
              <a:avLst/>
              <a:gdLst/>
              <a:ahLst/>
              <a:cxnLst/>
              <a:rect r="r" b="b" t="t" l="l"/>
              <a:pathLst>
                <a:path h="196088" w="24409400">
                  <a:moveTo>
                    <a:pt x="12700" y="0"/>
                  </a:moveTo>
                  <a:lnTo>
                    <a:pt x="24396700" y="0"/>
                  </a:lnTo>
                  <a:cubicBezTo>
                    <a:pt x="24403686" y="0"/>
                    <a:pt x="24409400" y="5715"/>
                    <a:pt x="24409400" y="12700"/>
                  </a:cubicBezTo>
                  <a:lnTo>
                    <a:pt x="24409400" y="183388"/>
                  </a:lnTo>
                  <a:cubicBezTo>
                    <a:pt x="24409400" y="190373"/>
                    <a:pt x="24403686" y="196088"/>
                    <a:pt x="24396700" y="196088"/>
                  </a:cubicBezTo>
                  <a:lnTo>
                    <a:pt x="12700" y="196088"/>
                  </a:lnTo>
                  <a:cubicBezTo>
                    <a:pt x="5715" y="196088"/>
                    <a:pt x="0" y="190373"/>
                    <a:pt x="0" y="183388"/>
                  </a:cubicBezTo>
                  <a:lnTo>
                    <a:pt x="0" y="12700"/>
                  </a:lnTo>
                  <a:cubicBezTo>
                    <a:pt x="0" y="5715"/>
                    <a:pt x="5715" y="0"/>
                    <a:pt x="12700" y="0"/>
                  </a:cubicBezTo>
                  <a:moveTo>
                    <a:pt x="12700" y="25400"/>
                  </a:moveTo>
                  <a:lnTo>
                    <a:pt x="12700" y="12700"/>
                  </a:lnTo>
                  <a:lnTo>
                    <a:pt x="25400" y="12700"/>
                  </a:lnTo>
                  <a:lnTo>
                    <a:pt x="25400" y="183388"/>
                  </a:lnTo>
                  <a:lnTo>
                    <a:pt x="12700" y="183388"/>
                  </a:lnTo>
                  <a:lnTo>
                    <a:pt x="12700" y="170688"/>
                  </a:lnTo>
                  <a:lnTo>
                    <a:pt x="24396700" y="170688"/>
                  </a:lnTo>
                  <a:lnTo>
                    <a:pt x="24396700" y="183388"/>
                  </a:lnTo>
                  <a:lnTo>
                    <a:pt x="24384000" y="183388"/>
                  </a:lnTo>
                  <a:lnTo>
                    <a:pt x="24384000" y="12700"/>
                  </a:lnTo>
                  <a:lnTo>
                    <a:pt x="24396700" y="12700"/>
                  </a:lnTo>
                  <a:lnTo>
                    <a:pt x="24396700" y="25400"/>
                  </a:lnTo>
                  <a:lnTo>
                    <a:pt x="12700" y="25400"/>
                  </a:lnTo>
                  <a:close/>
                </a:path>
              </a:pathLst>
            </a:custGeom>
            <a:solidFill>
              <a:srgbClr val="00B4D8"/>
            </a:solidFill>
          </p:spPr>
        </p:sp>
      </p:grpSp>
      <p:grpSp>
        <p:nvGrpSpPr>
          <p:cNvPr name="Group 5" id="5"/>
          <p:cNvGrpSpPr/>
          <p:nvPr/>
        </p:nvGrpSpPr>
        <p:grpSpPr>
          <a:xfrm rot="0">
            <a:off x="904875" y="319659"/>
            <a:ext cx="2945130" cy="531114"/>
            <a:chOff x="0" y="0"/>
            <a:chExt cx="3926840" cy="708152"/>
          </a:xfrm>
        </p:grpSpPr>
        <p:sp>
          <p:nvSpPr>
            <p:cNvPr name="Freeform 6" id="6"/>
            <p:cNvSpPr/>
            <p:nvPr/>
          </p:nvSpPr>
          <p:spPr>
            <a:xfrm flipH="false" flipV="false" rot="0">
              <a:off x="12700" y="12700"/>
              <a:ext cx="3901440" cy="682752"/>
            </a:xfrm>
            <a:custGeom>
              <a:avLst/>
              <a:gdLst/>
              <a:ahLst/>
              <a:cxnLst/>
              <a:rect r="r" b="b" t="t" l="l"/>
              <a:pathLst>
                <a:path h="682752" w="3901440">
                  <a:moveTo>
                    <a:pt x="0" y="0"/>
                  </a:moveTo>
                  <a:lnTo>
                    <a:pt x="3901440" y="0"/>
                  </a:lnTo>
                  <a:lnTo>
                    <a:pt x="3901440" y="682752"/>
                  </a:lnTo>
                  <a:lnTo>
                    <a:pt x="0" y="682752"/>
                  </a:lnTo>
                  <a:close/>
                </a:path>
              </a:pathLst>
            </a:custGeom>
            <a:solidFill>
              <a:srgbClr val="0077A8"/>
            </a:solidFill>
          </p:spPr>
        </p:sp>
        <p:sp>
          <p:nvSpPr>
            <p:cNvPr name="Freeform 7" id="7"/>
            <p:cNvSpPr/>
            <p:nvPr/>
          </p:nvSpPr>
          <p:spPr>
            <a:xfrm flipH="false" flipV="false" rot="0">
              <a:off x="0" y="0"/>
              <a:ext cx="3926840" cy="708152"/>
            </a:xfrm>
            <a:custGeom>
              <a:avLst/>
              <a:gdLst/>
              <a:ahLst/>
              <a:cxnLst/>
              <a:rect r="r" b="b" t="t" l="l"/>
              <a:pathLst>
                <a:path h="708152" w="3926840">
                  <a:moveTo>
                    <a:pt x="12700" y="0"/>
                  </a:moveTo>
                  <a:lnTo>
                    <a:pt x="3914140" y="0"/>
                  </a:lnTo>
                  <a:cubicBezTo>
                    <a:pt x="3921125" y="0"/>
                    <a:pt x="3926840" y="5715"/>
                    <a:pt x="3926840" y="12700"/>
                  </a:cubicBezTo>
                  <a:lnTo>
                    <a:pt x="3926840" y="695452"/>
                  </a:lnTo>
                  <a:cubicBezTo>
                    <a:pt x="3926840" y="702437"/>
                    <a:pt x="3921125" y="708152"/>
                    <a:pt x="3914140" y="708152"/>
                  </a:cubicBezTo>
                  <a:lnTo>
                    <a:pt x="12700" y="708152"/>
                  </a:lnTo>
                  <a:cubicBezTo>
                    <a:pt x="5715" y="708152"/>
                    <a:pt x="0" y="702437"/>
                    <a:pt x="0" y="695452"/>
                  </a:cubicBezTo>
                  <a:lnTo>
                    <a:pt x="0" y="12700"/>
                  </a:lnTo>
                  <a:cubicBezTo>
                    <a:pt x="0" y="5715"/>
                    <a:pt x="5715" y="0"/>
                    <a:pt x="12700" y="0"/>
                  </a:cubicBezTo>
                  <a:moveTo>
                    <a:pt x="12700" y="25400"/>
                  </a:moveTo>
                  <a:lnTo>
                    <a:pt x="12700" y="12700"/>
                  </a:lnTo>
                  <a:lnTo>
                    <a:pt x="25400" y="12700"/>
                  </a:lnTo>
                  <a:lnTo>
                    <a:pt x="25400" y="695452"/>
                  </a:lnTo>
                  <a:lnTo>
                    <a:pt x="12700" y="695452"/>
                  </a:lnTo>
                  <a:lnTo>
                    <a:pt x="12700" y="682752"/>
                  </a:lnTo>
                  <a:lnTo>
                    <a:pt x="3914140" y="682752"/>
                  </a:lnTo>
                  <a:lnTo>
                    <a:pt x="3914140" y="695452"/>
                  </a:lnTo>
                  <a:lnTo>
                    <a:pt x="3901440" y="695452"/>
                  </a:lnTo>
                  <a:lnTo>
                    <a:pt x="3901440" y="12700"/>
                  </a:lnTo>
                  <a:lnTo>
                    <a:pt x="3914140" y="12700"/>
                  </a:lnTo>
                  <a:lnTo>
                    <a:pt x="3914140" y="25400"/>
                  </a:lnTo>
                  <a:lnTo>
                    <a:pt x="12700" y="25400"/>
                  </a:lnTo>
                  <a:close/>
                </a:path>
              </a:pathLst>
            </a:custGeom>
            <a:solidFill>
              <a:srgbClr val="0077A8"/>
            </a:solidFill>
          </p:spPr>
        </p:sp>
      </p:grpSp>
      <p:grpSp>
        <p:nvGrpSpPr>
          <p:cNvPr name="Group 8" id="8"/>
          <p:cNvGrpSpPr/>
          <p:nvPr/>
        </p:nvGrpSpPr>
        <p:grpSpPr>
          <a:xfrm rot="0">
            <a:off x="914400" y="329184"/>
            <a:ext cx="2926080" cy="512064"/>
            <a:chOff x="0" y="0"/>
            <a:chExt cx="3901440" cy="682752"/>
          </a:xfrm>
        </p:grpSpPr>
        <p:sp>
          <p:nvSpPr>
            <p:cNvPr name="Freeform 9" id="9"/>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2">
                <a:alphaModFix amt="0"/>
              </a:blip>
              <a:stretch>
                <a:fillRect l="0" t="-61343" r="0" b="-61343"/>
              </a:stretch>
            </a:blipFill>
          </p:spPr>
        </p:sp>
        <p:sp>
          <p:nvSpPr>
            <p:cNvPr name="TextBox 10" id="10"/>
            <p:cNvSpPr txBox="true"/>
            <p:nvPr/>
          </p:nvSpPr>
          <p:spPr>
            <a:xfrm>
              <a:off x="0" y="-38100"/>
              <a:ext cx="3901440" cy="720852"/>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Idea</a:t>
              </a:r>
            </a:p>
          </p:txBody>
        </p:sp>
      </p:grpSp>
      <p:grpSp>
        <p:nvGrpSpPr>
          <p:cNvPr name="Group 11" id="11"/>
          <p:cNvGrpSpPr/>
          <p:nvPr/>
        </p:nvGrpSpPr>
        <p:grpSpPr>
          <a:xfrm rot="0">
            <a:off x="914400" y="1005840"/>
            <a:ext cx="16459200" cy="1280160"/>
            <a:chOff x="0" y="0"/>
            <a:chExt cx="21945600" cy="1706880"/>
          </a:xfrm>
        </p:grpSpPr>
        <p:sp>
          <p:nvSpPr>
            <p:cNvPr name="Freeform 12" id="12"/>
            <p:cNvSpPr/>
            <p:nvPr/>
          </p:nvSpPr>
          <p:spPr>
            <a:xfrm flipH="false" flipV="false" rot="0">
              <a:off x="0" y="0"/>
              <a:ext cx="21945600" cy="1706880"/>
            </a:xfrm>
            <a:custGeom>
              <a:avLst/>
              <a:gdLst/>
              <a:ahLst/>
              <a:cxnLst/>
              <a:rect r="r" b="b" t="t" l="l"/>
              <a:pathLst>
                <a:path h="1706880" w="21945600">
                  <a:moveTo>
                    <a:pt x="0" y="0"/>
                  </a:moveTo>
                  <a:lnTo>
                    <a:pt x="21945600" y="0"/>
                  </a:lnTo>
                  <a:lnTo>
                    <a:pt x="21945600" y="1706880"/>
                  </a:lnTo>
                  <a:lnTo>
                    <a:pt x="0" y="1706880"/>
                  </a:lnTo>
                  <a:close/>
                </a:path>
              </a:pathLst>
            </a:custGeom>
            <a:blipFill>
              <a:blip r:embed="rId2">
                <a:alphaModFix amt="0"/>
              </a:blip>
              <a:stretch>
                <a:fillRect l="0" t="-200521" r="0" b="-200521"/>
              </a:stretch>
            </a:blipFill>
          </p:spPr>
        </p:sp>
        <p:sp>
          <p:nvSpPr>
            <p:cNvPr name="TextBox 13" id="13"/>
            <p:cNvSpPr txBox="true"/>
            <p:nvPr/>
          </p:nvSpPr>
          <p:spPr>
            <a:xfrm>
              <a:off x="0" y="-123825"/>
              <a:ext cx="21945600" cy="1830705"/>
            </a:xfrm>
            <a:prstGeom prst="rect">
              <a:avLst/>
            </a:prstGeom>
          </p:spPr>
          <p:txBody>
            <a:bodyPr anchor="ctr" rtlCol="false" tIns="0" lIns="0" bIns="0" rIns="0"/>
            <a:lstStyle/>
            <a:p>
              <a:pPr algn="l">
                <a:lnSpc>
                  <a:spcPts val="7680"/>
                </a:lnSpc>
              </a:pPr>
              <a:r>
                <a:rPr lang="en-US" sz="6400" b="true">
                  <a:solidFill>
                    <a:srgbClr val="000000"/>
                  </a:solidFill>
                  <a:latin typeface="Calibri (MS) Bold"/>
                  <a:ea typeface="Calibri (MS) Bold"/>
                  <a:cs typeface="Calibri (MS) Bold"/>
                  <a:sym typeface="Calibri (MS) Bold"/>
                </a:rPr>
                <a:t>Demo Link</a:t>
              </a:r>
            </a:p>
          </p:txBody>
        </p:sp>
      </p:grpSp>
      <p:sp>
        <p:nvSpPr>
          <p:cNvPr name="TextBox 14" id="14"/>
          <p:cNvSpPr txBox="true"/>
          <p:nvPr/>
        </p:nvSpPr>
        <p:spPr>
          <a:xfrm rot="0">
            <a:off x="1618291" y="3477262"/>
            <a:ext cx="8172936" cy="2924175"/>
          </a:xfrm>
          <a:prstGeom prst="rect">
            <a:avLst/>
          </a:prstGeom>
        </p:spPr>
        <p:txBody>
          <a:bodyPr anchor="t" rtlCol="false" tIns="0" lIns="0" bIns="0" rIns="0">
            <a:spAutoFit/>
          </a:bodyPr>
          <a:lstStyle/>
          <a:p>
            <a:pPr algn="l">
              <a:lnSpc>
                <a:spcPts val="3240"/>
              </a:lnSpc>
            </a:pPr>
            <a:r>
              <a:rPr lang="en-US" sz="2700" b="true">
                <a:solidFill>
                  <a:srgbClr val="000000"/>
                </a:solidFill>
                <a:latin typeface="Calibri (MS) Bold"/>
                <a:ea typeface="Calibri (MS) Bold"/>
                <a:cs typeface="Calibri (MS) Bold"/>
                <a:sym typeface="Calibri (MS) Bold"/>
              </a:rPr>
              <a:t>Project link</a:t>
            </a:r>
          </a:p>
          <a:p>
            <a:pPr algn="l">
              <a:lnSpc>
                <a:spcPts val="3240"/>
              </a:lnSpc>
            </a:pPr>
            <a:r>
              <a:rPr lang="en-US" sz="2700" u="sng">
                <a:solidFill>
                  <a:srgbClr val="00B4D8"/>
                </a:solidFill>
                <a:latin typeface="Calibri (MS)"/>
                <a:ea typeface="Calibri (MS)"/>
                <a:cs typeface="Calibri (MS)"/>
                <a:sym typeface="Calibri (MS)"/>
                <a:hlinkClick r:id="rId3" tooltip="https://github.com/Shreya5619/Pulse"/>
              </a:rPr>
              <a:t>https://github.com/Shreya5619/Pulse</a:t>
            </a:r>
          </a:p>
          <a:p>
            <a:pPr algn="l">
              <a:lnSpc>
                <a:spcPts val="3240"/>
              </a:lnSpc>
            </a:pPr>
          </a:p>
          <a:p>
            <a:pPr algn="l">
              <a:lnSpc>
                <a:spcPts val="3240"/>
              </a:lnSpc>
            </a:pPr>
            <a:r>
              <a:rPr lang="en-US" sz="2700" b="true">
                <a:solidFill>
                  <a:srgbClr val="000000"/>
                </a:solidFill>
                <a:latin typeface="Calibri (MS) Bold"/>
                <a:ea typeface="Calibri (MS) Bold"/>
                <a:cs typeface="Calibri (MS) Bold"/>
                <a:sym typeface="Calibri (MS) Bold"/>
              </a:rPr>
              <a:t>Demo Video link</a:t>
            </a:r>
          </a:p>
          <a:p>
            <a:pPr algn="l">
              <a:lnSpc>
                <a:spcPts val="3240"/>
              </a:lnSpc>
            </a:pPr>
            <a:r>
              <a:rPr lang="en-US" sz="2700" u="sng">
                <a:solidFill>
                  <a:srgbClr val="00B4D8"/>
                </a:solidFill>
                <a:latin typeface="Calibri (MS)"/>
                <a:ea typeface="Calibri (MS)"/>
                <a:cs typeface="Calibri (MS)"/>
                <a:sym typeface="Calibri (MS)"/>
                <a:hlinkClick r:id="rId4" tooltip="https://github.com/Shreya5619/Pulse/blob/main/Video%20Project%203.mp4"/>
              </a:rPr>
              <a:t>https://github.com/Shreya5619/Pulse/blob/main/Video%20Project%203.mp4</a:t>
            </a:r>
          </a:p>
          <a:p>
            <a:pPr algn="l">
              <a:lnSpc>
                <a:spcPts val="3240"/>
              </a:lnSpc>
            </a:pPr>
          </a:p>
        </p:txBody>
      </p:sp>
      <p:grpSp>
        <p:nvGrpSpPr>
          <p:cNvPr name="Group 15" id="15"/>
          <p:cNvGrpSpPr/>
          <p:nvPr/>
        </p:nvGrpSpPr>
        <p:grpSpPr>
          <a:xfrm rot="0">
            <a:off x="1066800" y="481584"/>
            <a:ext cx="2926080" cy="512064"/>
            <a:chOff x="0" y="0"/>
            <a:chExt cx="3901440" cy="682752"/>
          </a:xfrm>
        </p:grpSpPr>
        <p:sp>
          <p:nvSpPr>
            <p:cNvPr name="Freeform 16" id="16"/>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5">
                <a:alphaModFix amt="0"/>
              </a:blip>
              <a:stretch>
                <a:fillRect l="-30433" t="-718402" r="-33200" b="-116648"/>
              </a:stretch>
            </a:blipFill>
          </p:spPr>
        </p:sp>
        <p:sp>
          <p:nvSpPr>
            <p:cNvPr name="TextBox 17" id="17"/>
            <p:cNvSpPr txBox="true"/>
            <p:nvPr/>
          </p:nvSpPr>
          <p:spPr>
            <a:xfrm>
              <a:off x="0" y="-38100"/>
              <a:ext cx="3901440" cy="720852"/>
            </a:xfrm>
            <a:prstGeom prst="rect">
              <a:avLst/>
            </a:prstGeom>
          </p:spPr>
          <p:txBody>
            <a:bodyPr anchor="ctr" rtlCol="false" tIns="0" lIns="0" bIns="0" rIns="0"/>
            <a:lstStyle/>
            <a:p>
              <a:pPr algn="ctr">
                <a:lnSpc>
                  <a:spcPts val="1800"/>
                </a:lnSpc>
              </a:pPr>
            </a:p>
          </p:txBody>
        </p:sp>
      </p:grpSp>
      <p:grpSp>
        <p:nvGrpSpPr>
          <p:cNvPr name="Group 18" id="18"/>
          <p:cNvGrpSpPr/>
          <p:nvPr/>
        </p:nvGrpSpPr>
        <p:grpSpPr>
          <a:xfrm rot="0">
            <a:off x="914400" y="329184"/>
            <a:ext cx="2945130" cy="531114"/>
            <a:chOff x="0" y="0"/>
            <a:chExt cx="3926840" cy="708152"/>
          </a:xfrm>
        </p:grpSpPr>
        <p:sp>
          <p:nvSpPr>
            <p:cNvPr name="Freeform 19" id="19"/>
            <p:cNvSpPr/>
            <p:nvPr/>
          </p:nvSpPr>
          <p:spPr>
            <a:xfrm flipH="false" flipV="false" rot="0">
              <a:off x="12700" y="1270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5"/>
              <a:stretch>
                <a:fillRect l="-30433" t="-718402" r="-33200" b="-116648"/>
              </a:stretch>
            </a:blipFill>
          </p:spPr>
        </p:sp>
        <p:sp>
          <p:nvSpPr>
            <p:cNvPr name="Freeform 20" id="20"/>
            <p:cNvSpPr/>
            <p:nvPr/>
          </p:nvSpPr>
          <p:spPr>
            <a:xfrm flipH="false" flipV="false" rot="0">
              <a:off x="0" y="0"/>
              <a:ext cx="3926840" cy="708152"/>
            </a:xfrm>
            <a:custGeom>
              <a:avLst/>
              <a:gdLst/>
              <a:ahLst/>
              <a:cxnLst/>
              <a:rect r="r" b="b" t="t" l="l"/>
              <a:pathLst>
                <a:path h="708152" w="3926840">
                  <a:moveTo>
                    <a:pt x="12700" y="0"/>
                  </a:moveTo>
                  <a:lnTo>
                    <a:pt x="3914140" y="0"/>
                  </a:lnTo>
                  <a:cubicBezTo>
                    <a:pt x="3921125" y="0"/>
                    <a:pt x="3926840" y="5715"/>
                    <a:pt x="3926840" y="12700"/>
                  </a:cubicBezTo>
                  <a:lnTo>
                    <a:pt x="3926840" y="695452"/>
                  </a:lnTo>
                  <a:cubicBezTo>
                    <a:pt x="3926840" y="702437"/>
                    <a:pt x="3921125" y="708152"/>
                    <a:pt x="3914140" y="708152"/>
                  </a:cubicBezTo>
                  <a:lnTo>
                    <a:pt x="12700" y="708152"/>
                  </a:lnTo>
                  <a:cubicBezTo>
                    <a:pt x="5715" y="708152"/>
                    <a:pt x="0" y="702437"/>
                    <a:pt x="0" y="695452"/>
                  </a:cubicBezTo>
                  <a:lnTo>
                    <a:pt x="0" y="12700"/>
                  </a:lnTo>
                  <a:cubicBezTo>
                    <a:pt x="0" y="5715"/>
                    <a:pt x="5715" y="0"/>
                    <a:pt x="12700" y="0"/>
                  </a:cubicBezTo>
                  <a:moveTo>
                    <a:pt x="12700" y="25400"/>
                  </a:moveTo>
                  <a:lnTo>
                    <a:pt x="12700" y="12700"/>
                  </a:lnTo>
                  <a:lnTo>
                    <a:pt x="25400" y="12700"/>
                  </a:lnTo>
                  <a:lnTo>
                    <a:pt x="25400" y="695452"/>
                  </a:lnTo>
                  <a:lnTo>
                    <a:pt x="12700" y="695452"/>
                  </a:lnTo>
                  <a:lnTo>
                    <a:pt x="12700" y="682752"/>
                  </a:lnTo>
                  <a:lnTo>
                    <a:pt x="3914140" y="682752"/>
                  </a:lnTo>
                  <a:lnTo>
                    <a:pt x="3914140" y="695452"/>
                  </a:lnTo>
                  <a:lnTo>
                    <a:pt x="3901440" y="695452"/>
                  </a:lnTo>
                  <a:lnTo>
                    <a:pt x="3901440" y="12700"/>
                  </a:lnTo>
                  <a:lnTo>
                    <a:pt x="3914140" y="12700"/>
                  </a:lnTo>
                  <a:lnTo>
                    <a:pt x="3914140" y="25400"/>
                  </a:lnTo>
                  <a:lnTo>
                    <a:pt x="12700" y="25400"/>
                  </a:lnTo>
                  <a:close/>
                </a:path>
              </a:pathLst>
            </a:custGeom>
            <a:solidFill>
              <a:srgbClr val="0077A8"/>
            </a:solid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7050" cy="147066"/>
            <a:chOff x="0" y="0"/>
            <a:chExt cx="24409400" cy="196088"/>
          </a:xfrm>
        </p:grpSpPr>
        <p:sp>
          <p:nvSpPr>
            <p:cNvPr name="Freeform 3" id="3"/>
            <p:cNvSpPr/>
            <p:nvPr/>
          </p:nvSpPr>
          <p:spPr>
            <a:xfrm flipH="false" flipV="false" rot="0">
              <a:off x="12700" y="12700"/>
              <a:ext cx="24384000" cy="170688"/>
            </a:xfrm>
            <a:custGeom>
              <a:avLst/>
              <a:gdLst/>
              <a:ahLst/>
              <a:cxnLst/>
              <a:rect r="r" b="b" t="t" l="l"/>
              <a:pathLst>
                <a:path h="170688" w="24384000">
                  <a:moveTo>
                    <a:pt x="0" y="0"/>
                  </a:moveTo>
                  <a:lnTo>
                    <a:pt x="24384000" y="0"/>
                  </a:lnTo>
                  <a:lnTo>
                    <a:pt x="24384000" y="170688"/>
                  </a:lnTo>
                  <a:lnTo>
                    <a:pt x="0" y="170688"/>
                  </a:lnTo>
                  <a:close/>
                </a:path>
              </a:pathLst>
            </a:custGeom>
            <a:solidFill>
              <a:srgbClr val="00B4D8"/>
            </a:solidFill>
          </p:spPr>
        </p:sp>
        <p:sp>
          <p:nvSpPr>
            <p:cNvPr name="Freeform 4" id="4"/>
            <p:cNvSpPr/>
            <p:nvPr/>
          </p:nvSpPr>
          <p:spPr>
            <a:xfrm flipH="false" flipV="false" rot="0">
              <a:off x="0" y="0"/>
              <a:ext cx="24409400" cy="196088"/>
            </a:xfrm>
            <a:custGeom>
              <a:avLst/>
              <a:gdLst/>
              <a:ahLst/>
              <a:cxnLst/>
              <a:rect r="r" b="b" t="t" l="l"/>
              <a:pathLst>
                <a:path h="196088" w="24409400">
                  <a:moveTo>
                    <a:pt x="12700" y="0"/>
                  </a:moveTo>
                  <a:lnTo>
                    <a:pt x="24396700" y="0"/>
                  </a:lnTo>
                  <a:cubicBezTo>
                    <a:pt x="24403686" y="0"/>
                    <a:pt x="24409400" y="5715"/>
                    <a:pt x="24409400" y="12700"/>
                  </a:cubicBezTo>
                  <a:lnTo>
                    <a:pt x="24409400" y="183388"/>
                  </a:lnTo>
                  <a:cubicBezTo>
                    <a:pt x="24409400" y="190373"/>
                    <a:pt x="24403686" y="196088"/>
                    <a:pt x="24396700" y="196088"/>
                  </a:cubicBezTo>
                  <a:lnTo>
                    <a:pt x="12700" y="196088"/>
                  </a:lnTo>
                  <a:cubicBezTo>
                    <a:pt x="5715" y="196088"/>
                    <a:pt x="0" y="190373"/>
                    <a:pt x="0" y="183388"/>
                  </a:cubicBezTo>
                  <a:lnTo>
                    <a:pt x="0" y="12700"/>
                  </a:lnTo>
                  <a:cubicBezTo>
                    <a:pt x="0" y="5715"/>
                    <a:pt x="5715" y="0"/>
                    <a:pt x="12700" y="0"/>
                  </a:cubicBezTo>
                  <a:moveTo>
                    <a:pt x="12700" y="25400"/>
                  </a:moveTo>
                  <a:lnTo>
                    <a:pt x="12700" y="12700"/>
                  </a:lnTo>
                  <a:lnTo>
                    <a:pt x="25400" y="12700"/>
                  </a:lnTo>
                  <a:lnTo>
                    <a:pt x="25400" y="183388"/>
                  </a:lnTo>
                  <a:lnTo>
                    <a:pt x="12700" y="183388"/>
                  </a:lnTo>
                  <a:lnTo>
                    <a:pt x="12700" y="170688"/>
                  </a:lnTo>
                  <a:lnTo>
                    <a:pt x="24396700" y="170688"/>
                  </a:lnTo>
                  <a:lnTo>
                    <a:pt x="24396700" y="183388"/>
                  </a:lnTo>
                  <a:lnTo>
                    <a:pt x="24384000" y="183388"/>
                  </a:lnTo>
                  <a:lnTo>
                    <a:pt x="24384000" y="12700"/>
                  </a:lnTo>
                  <a:lnTo>
                    <a:pt x="24396700" y="12700"/>
                  </a:lnTo>
                  <a:lnTo>
                    <a:pt x="24396700" y="25400"/>
                  </a:lnTo>
                  <a:lnTo>
                    <a:pt x="12700" y="25400"/>
                  </a:lnTo>
                  <a:close/>
                </a:path>
              </a:pathLst>
            </a:custGeom>
            <a:solidFill>
              <a:srgbClr val="00B4D8"/>
            </a:solidFill>
          </p:spPr>
        </p:sp>
      </p:grpSp>
      <p:grpSp>
        <p:nvGrpSpPr>
          <p:cNvPr name="Group 5" id="5"/>
          <p:cNvGrpSpPr/>
          <p:nvPr/>
        </p:nvGrpSpPr>
        <p:grpSpPr>
          <a:xfrm rot="0">
            <a:off x="904875" y="319659"/>
            <a:ext cx="2945130" cy="531114"/>
            <a:chOff x="0" y="0"/>
            <a:chExt cx="3926840" cy="708152"/>
          </a:xfrm>
        </p:grpSpPr>
        <p:sp>
          <p:nvSpPr>
            <p:cNvPr name="Freeform 6" id="6"/>
            <p:cNvSpPr/>
            <p:nvPr/>
          </p:nvSpPr>
          <p:spPr>
            <a:xfrm flipH="false" flipV="false" rot="0">
              <a:off x="12700" y="12700"/>
              <a:ext cx="3901440" cy="682752"/>
            </a:xfrm>
            <a:custGeom>
              <a:avLst/>
              <a:gdLst/>
              <a:ahLst/>
              <a:cxnLst/>
              <a:rect r="r" b="b" t="t" l="l"/>
              <a:pathLst>
                <a:path h="682752" w="3901440">
                  <a:moveTo>
                    <a:pt x="0" y="0"/>
                  </a:moveTo>
                  <a:lnTo>
                    <a:pt x="3901440" y="0"/>
                  </a:lnTo>
                  <a:lnTo>
                    <a:pt x="3901440" y="682752"/>
                  </a:lnTo>
                  <a:lnTo>
                    <a:pt x="0" y="682752"/>
                  </a:lnTo>
                  <a:close/>
                </a:path>
              </a:pathLst>
            </a:custGeom>
            <a:solidFill>
              <a:srgbClr val="0077A8"/>
            </a:solidFill>
          </p:spPr>
        </p:sp>
        <p:sp>
          <p:nvSpPr>
            <p:cNvPr name="Freeform 7" id="7"/>
            <p:cNvSpPr/>
            <p:nvPr/>
          </p:nvSpPr>
          <p:spPr>
            <a:xfrm flipH="false" flipV="false" rot="0">
              <a:off x="0" y="0"/>
              <a:ext cx="3926840" cy="708152"/>
            </a:xfrm>
            <a:custGeom>
              <a:avLst/>
              <a:gdLst/>
              <a:ahLst/>
              <a:cxnLst/>
              <a:rect r="r" b="b" t="t" l="l"/>
              <a:pathLst>
                <a:path h="708152" w="3926840">
                  <a:moveTo>
                    <a:pt x="12700" y="0"/>
                  </a:moveTo>
                  <a:lnTo>
                    <a:pt x="3914140" y="0"/>
                  </a:lnTo>
                  <a:cubicBezTo>
                    <a:pt x="3921125" y="0"/>
                    <a:pt x="3926840" y="5715"/>
                    <a:pt x="3926840" y="12700"/>
                  </a:cubicBezTo>
                  <a:lnTo>
                    <a:pt x="3926840" y="695452"/>
                  </a:lnTo>
                  <a:cubicBezTo>
                    <a:pt x="3926840" y="702437"/>
                    <a:pt x="3921125" y="708152"/>
                    <a:pt x="3914140" y="708152"/>
                  </a:cubicBezTo>
                  <a:lnTo>
                    <a:pt x="12700" y="708152"/>
                  </a:lnTo>
                  <a:cubicBezTo>
                    <a:pt x="5715" y="708152"/>
                    <a:pt x="0" y="702437"/>
                    <a:pt x="0" y="695452"/>
                  </a:cubicBezTo>
                  <a:lnTo>
                    <a:pt x="0" y="12700"/>
                  </a:lnTo>
                  <a:cubicBezTo>
                    <a:pt x="0" y="5715"/>
                    <a:pt x="5715" y="0"/>
                    <a:pt x="12700" y="0"/>
                  </a:cubicBezTo>
                  <a:moveTo>
                    <a:pt x="12700" y="25400"/>
                  </a:moveTo>
                  <a:lnTo>
                    <a:pt x="12700" y="12700"/>
                  </a:lnTo>
                  <a:lnTo>
                    <a:pt x="25400" y="12700"/>
                  </a:lnTo>
                  <a:lnTo>
                    <a:pt x="25400" y="695452"/>
                  </a:lnTo>
                  <a:lnTo>
                    <a:pt x="12700" y="695452"/>
                  </a:lnTo>
                  <a:lnTo>
                    <a:pt x="12700" y="682752"/>
                  </a:lnTo>
                  <a:lnTo>
                    <a:pt x="3914140" y="682752"/>
                  </a:lnTo>
                  <a:lnTo>
                    <a:pt x="3914140" y="695452"/>
                  </a:lnTo>
                  <a:lnTo>
                    <a:pt x="3901440" y="695452"/>
                  </a:lnTo>
                  <a:lnTo>
                    <a:pt x="3901440" y="12700"/>
                  </a:lnTo>
                  <a:lnTo>
                    <a:pt x="3914140" y="12700"/>
                  </a:lnTo>
                  <a:lnTo>
                    <a:pt x="3914140" y="25400"/>
                  </a:lnTo>
                  <a:lnTo>
                    <a:pt x="12700" y="25400"/>
                  </a:lnTo>
                  <a:close/>
                </a:path>
              </a:pathLst>
            </a:custGeom>
            <a:solidFill>
              <a:srgbClr val="0077A8"/>
            </a:solidFill>
          </p:spPr>
        </p:sp>
      </p:grpSp>
      <p:grpSp>
        <p:nvGrpSpPr>
          <p:cNvPr name="Group 8" id="8"/>
          <p:cNvGrpSpPr/>
          <p:nvPr/>
        </p:nvGrpSpPr>
        <p:grpSpPr>
          <a:xfrm rot="0">
            <a:off x="914400" y="329184"/>
            <a:ext cx="2926080" cy="512064"/>
            <a:chOff x="0" y="0"/>
            <a:chExt cx="3901440" cy="682752"/>
          </a:xfrm>
        </p:grpSpPr>
        <p:sp>
          <p:nvSpPr>
            <p:cNvPr name="Freeform 9" id="9"/>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2">
                <a:alphaModFix amt="0"/>
              </a:blip>
              <a:stretch>
                <a:fillRect l="0" t="-61343" r="0" b="-61343"/>
              </a:stretch>
            </a:blipFill>
          </p:spPr>
        </p:sp>
        <p:sp>
          <p:nvSpPr>
            <p:cNvPr name="TextBox 10" id="10"/>
            <p:cNvSpPr txBox="true"/>
            <p:nvPr/>
          </p:nvSpPr>
          <p:spPr>
            <a:xfrm>
              <a:off x="0" y="-38100"/>
              <a:ext cx="3901440" cy="720852"/>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Idea</a:t>
              </a:r>
            </a:p>
          </p:txBody>
        </p:sp>
      </p:grpSp>
      <p:grpSp>
        <p:nvGrpSpPr>
          <p:cNvPr name="Group 11" id="11"/>
          <p:cNvGrpSpPr/>
          <p:nvPr/>
        </p:nvGrpSpPr>
        <p:grpSpPr>
          <a:xfrm rot="0">
            <a:off x="1066800" y="481584"/>
            <a:ext cx="2926080" cy="512064"/>
            <a:chOff x="0" y="0"/>
            <a:chExt cx="3901440" cy="682752"/>
          </a:xfrm>
        </p:grpSpPr>
        <p:sp>
          <p:nvSpPr>
            <p:cNvPr name="Freeform 12" id="12"/>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3">
                <a:alphaModFix amt="0"/>
              </a:blip>
              <a:stretch>
                <a:fillRect l="-30433" t="-718402" r="-33200" b="-116648"/>
              </a:stretch>
            </a:blipFill>
          </p:spPr>
        </p:sp>
        <p:sp>
          <p:nvSpPr>
            <p:cNvPr name="TextBox 13" id="13"/>
            <p:cNvSpPr txBox="true"/>
            <p:nvPr/>
          </p:nvSpPr>
          <p:spPr>
            <a:xfrm>
              <a:off x="0" y="-38100"/>
              <a:ext cx="3901440" cy="720852"/>
            </a:xfrm>
            <a:prstGeom prst="rect">
              <a:avLst/>
            </a:prstGeom>
          </p:spPr>
          <p:txBody>
            <a:bodyPr anchor="ctr" rtlCol="false" tIns="0" lIns="0" bIns="0" rIns="0"/>
            <a:lstStyle/>
            <a:p>
              <a:pPr algn="ctr">
                <a:lnSpc>
                  <a:spcPts val="1800"/>
                </a:lnSpc>
              </a:pPr>
            </a:p>
          </p:txBody>
        </p:sp>
      </p:grpSp>
      <p:grpSp>
        <p:nvGrpSpPr>
          <p:cNvPr name="Group 14" id="14"/>
          <p:cNvGrpSpPr/>
          <p:nvPr/>
        </p:nvGrpSpPr>
        <p:grpSpPr>
          <a:xfrm rot="0">
            <a:off x="914400" y="329184"/>
            <a:ext cx="2945130" cy="531114"/>
            <a:chOff x="0" y="0"/>
            <a:chExt cx="3926840" cy="708152"/>
          </a:xfrm>
        </p:grpSpPr>
        <p:sp>
          <p:nvSpPr>
            <p:cNvPr name="Freeform 15" id="15"/>
            <p:cNvSpPr/>
            <p:nvPr/>
          </p:nvSpPr>
          <p:spPr>
            <a:xfrm flipH="false" flipV="false" rot="0">
              <a:off x="12700" y="1270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3"/>
              <a:stretch>
                <a:fillRect l="-30433" t="-718402" r="-33200" b="-116648"/>
              </a:stretch>
            </a:blipFill>
          </p:spPr>
        </p:sp>
        <p:sp>
          <p:nvSpPr>
            <p:cNvPr name="Freeform 16" id="16"/>
            <p:cNvSpPr/>
            <p:nvPr/>
          </p:nvSpPr>
          <p:spPr>
            <a:xfrm flipH="false" flipV="false" rot="0">
              <a:off x="0" y="0"/>
              <a:ext cx="3926840" cy="708152"/>
            </a:xfrm>
            <a:custGeom>
              <a:avLst/>
              <a:gdLst/>
              <a:ahLst/>
              <a:cxnLst/>
              <a:rect r="r" b="b" t="t" l="l"/>
              <a:pathLst>
                <a:path h="708152" w="3926840">
                  <a:moveTo>
                    <a:pt x="12700" y="0"/>
                  </a:moveTo>
                  <a:lnTo>
                    <a:pt x="3914140" y="0"/>
                  </a:lnTo>
                  <a:cubicBezTo>
                    <a:pt x="3921125" y="0"/>
                    <a:pt x="3926840" y="5715"/>
                    <a:pt x="3926840" y="12700"/>
                  </a:cubicBezTo>
                  <a:lnTo>
                    <a:pt x="3926840" y="695452"/>
                  </a:lnTo>
                  <a:cubicBezTo>
                    <a:pt x="3926840" y="702437"/>
                    <a:pt x="3921125" y="708152"/>
                    <a:pt x="3914140" y="708152"/>
                  </a:cubicBezTo>
                  <a:lnTo>
                    <a:pt x="12700" y="708152"/>
                  </a:lnTo>
                  <a:cubicBezTo>
                    <a:pt x="5715" y="708152"/>
                    <a:pt x="0" y="702437"/>
                    <a:pt x="0" y="695452"/>
                  </a:cubicBezTo>
                  <a:lnTo>
                    <a:pt x="0" y="12700"/>
                  </a:lnTo>
                  <a:cubicBezTo>
                    <a:pt x="0" y="5715"/>
                    <a:pt x="5715" y="0"/>
                    <a:pt x="12700" y="0"/>
                  </a:cubicBezTo>
                  <a:moveTo>
                    <a:pt x="12700" y="25400"/>
                  </a:moveTo>
                  <a:lnTo>
                    <a:pt x="12700" y="12700"/>
                  </a:lnTo>
                  <a:lnTo>
                    <a:pt x="25400" y="12700"/>
                  </a:lnTo>
                  <a:lnTo>
                    <a:pt x="25400" y="695452"/>
                  </a:lnTo>
                  <a:lnTo>
                    <a:pt x="12700" y="695452"/>
                  </a:lnTo>
                  <a:lnTo>
                    <a:pt x="12700" y="682752"/>
                  </a:lnTo>
                  <a:lnTo>
                    <a:pt x="3914140" y="682752"/>
                  </a:lnTo>
                  <a:lnTo>
                    <a:pt x="3914140" y="695452"/>
                  </a:lnTo>
                  <a:lnTo>
                    <a:pt x="3901440" y="695452"/>
                  </a:lnTo>
                  <a:lnTo>
                    <a:pt x="3901440" y="12700"/>
                  </a:lnTo>
                  <a:lnTo>
                    <a:pt x="3914140" y="12700"/>
                  </a:lnTo>
                  <a:lnTo>
                    <a:pt x="3914140" y="25400"/>
                  </a:lnTo>
                  <a:lnTo>
                    <a:pt x="12700" y="25400"/>
                  </a:lnTo>
                  <a:close/>
                </a:path>
              </a:pathLst>
            </a:custGeom>
            <a:solidFill>
              <a:srgbClr val="0077A8"/>
            </a:solidFill>
          </p:spPr>
        </p:sp>
      </p:grpSp>
      <p:sp>
        <p:nvSpPr>
          <p:cNvPr name="Freeform 17" id="17"/>
          <p:cNvSpPr/>
          <p:nvPr/>
        </p:nvSpPr>
        <p:spPr>
          <a:xfrm flipH="false" flipV="false" rot="0">
            <a:off x="-156050" y="1184148"/>
            <a:ext cx="18600100" cy="9293352"/>
          </a:xfrm>
          <a:custGeom>
            <a:avLst/>
            <a:gdLst/>
            <a:ahLst/>
            <a:cxnLst/>
            <a:rect r="r" b="b" t="t" l="l"/>
            <a:pathLst>
              <a:path h="9293352" w="18600100">
                <a:moveTo>
                  <a:pt x="0" y="0"/>
                </a:moveTo>
                <a:lnTo>
                  <a:pt x="18600100" y="0"/>
                </a:lnTo>
                <a:lnTo>
                  <a:pt x="18600100" y="9293352"/>
                </a:lnTo>
                <a:lnTo>
                  <a:pt x="0" y="9293352"/>
                </a:lnTo>
                <a:lnTo>
                  <a:pt x="0" y="0"/>
                </a:lnTo>
                <a:close/>
              </a:path>
            </a:pathLst>
          </a:custGeom>
          <a:blipFill>
            <a:blip r:embed="rId4"/>
            <a:stretch>
              <a:fillRect l="0" t="-12581" r="0" b="0"/>
            </a:stretch>
          </a:blipFill>
        </p:spPr>
      </p:sp>
      <p:sp>
        <p:nvSpPr>
          <p:cNvPr name="Freeform 18" id="18"/>
          <p:cNvSpPr/>
          <p:nvPr/>
        </p:nvSpPr>
        <p:spPr>
          <a:xfrm flipH="false" flipV="false" rot="0">
            <a:off x="6208694" y="9739380"/>
            <a:ext cx="6416983" cy="547620"/>
          </a:xfrm>
          <a:custGeom>
            <a:avLst/>
            <a:gdLst/>
            <a:ahLst/>
            <a:cxnLst/>
            <a:rect r="r" b="b" t="t" l="l"/>
            <a:pathLst>
              <a:path h="547620" w="6416983">
                <a:moveTo>
                  <a:pt x="0" y="0"/>
                </a:moveTo>
                <a:lnTo>
                  <a:pt x="6416983" y="0"/>
                </a:lnTo>
                <a:lnTo>
                  <a:pt x="6416983" y="547620"/>
                </a:lnTo>
                <a:lnTo>
                  <a:pt x="0" y="547620"/>
                </a:lnTo>
                <a:lnTo>
                  <a:pt x="0" y="0"/>
                </a:lnTo>
                <a:close/>
              </a:path>
            </a:pathLst>
          </a:custGeom>
          <a:blipFill>
            <a:blip r:embed="rId5"/>
            <a:stretch>
              <a:fillRect l="0" t="-18504" r="0" b="-18504"/>
            </a:stretch>
          </a:blipFill>
        </p:spPr>
      </p:sp>
      <p:sp>
        <p:nvSpPr>
          <p:cNvPr name="Freeform 19" id="19"/>
          <p:cNvSpPr/>
          <p:nvPr/>
        </p:nvSpPr>
        <p:spPr>
          <a:xfrm flipH="false" flipV="false" rot="0">
            <a:off x="7212916" y="9583625"/>
            <a:ext cx="3396342" cy="575651"/>
          </a:xfrm>
          <a:custGeom>
            <a:avLst/>
            <a:gdLst/>
            <a:ahLst/>
            <a:cxnLst/>
            <a:rect r="r" b="b" t="t" l="l"/>
            <a:pathLst>
              <a:path h="575651" w="3396342">
                <a:moveTo>
                  <a:pt x="0" y="0"/>
                </a:moveTo>
                <a:lnTo>
                  <a:pt x="3396341" y="0"/>
                </a:lnTo>
                <a:lnTo>
                  <a:pt x="3396341" y="575651"/>
                </a:lnTo>
                <a:lnTo>
                  <a:pt x="0" y="575651"/>
                </a:lnTo>
                <a:lnTo>
                  <a:pt x="0" y="0"/>
                </a:lnTo>
                <a:close/>
              </a:path>
            </a:pathLst>
          </a:custGeom>
          <a:blipFill>
            <a:blip r:embed="rId6"/>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DAHJAIWN06g</dc:identifier>
  <dcterms:modified xsi:type="dcterms:W3CDTF">2011-08-01T06:04:30Z</dcterms:modified>
  <cp:revision>1</cp:revision>
  <dc:title>RVCE_lifecanvastudios</dc:title>
</cp:coreProperties>
</file>